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FE8E7-570B-4A5C-AE81-4369216DAB3A}" v="1" dt="2026-10-05T09:02:28.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sham Mohamed Ahmed" userId="e29acc93-65b1-4b33-80c8-d632df28580f" providerId="ADAL" clId="{9741A459-0F71-4A5F-9168-5674C230F167}"/>
    <pc:docChg chg="undo custSel modSld">
      <pc:chgData name="Hisham Mohamed Ahmed" userId="e29acc93-65b1-4b33-80c8-d632df28580f" providerId="ADAL" clId="{9741A459-0F71-4A5F-9168-5674C230F167}" dt="2026-10-05T09:04:03.920" v="47" actId="20577"/>
      <pc:docMkLst>
        <pc:docMk/>
      </pc:docMkLst>
      <pc:sldChg chg="modSp mod">
        <pc:chgData name="Hisham Mohamed Ahmed" userId="e29acc93-65b1-4b33-80c8-d632df28580f" providerId="ADAL" clId="{9741A459-0F71-4A5F-9168-5674C230F167}" dt="2026-10-05T09:02:28.466" v="45"/>
        <pc:sldMkLst>
          <pc:docMk/>
          <pc:sldMk cId="0" sldId="256"/>
        </pc:sldMkLst>
        <pc:spChg chg="mod">
          <ac:chgData name="Hisham Mohamed Ahmed" userId="e29acc93-65b1-4b33-80c8-d632df28580f" providerId="ADAL" clId="{9741A459-0F71-4A5F-9168-5674C230F167}" dt="2026-10-05T09:02:28.466" v="45"/>
          <ac:spMkLst>
            <pc:docMk/>
            <pc:sldMk cId="0" sldId="256"/>
            <ac:spMk id="10" creationId="{00000000-0000-0000-0000-000000000000}"/>
          </ac:spMkLst>
        </pc:spChg>
      </pc:sldChg>
      <pc:sldChg chg="modSp mod">
        <pc:chgData name="Hisham Mohamed Ahmed" userId="e29acc93-65b1-4b33-80c8-d632df28580f" providerId="ADAL" clId="{9741A459-0F71-4A5F-9168-5674C230F167}" dt="2026-10-05T09:04:03.920" v="47" actId="20577"/>
        <pc:sldMkLst>
          <pc:docMk/>
          <pc:sldMk cId="0" sldId="274"/>
        </pc:sldMkLst>
        <pc:spChg chg="mod">
          <ac:chgData name="Hisham Mohamed Ahmed" userId="e29acc93-65b1-4b33-80c8-d632df28580f" providerId="ADAL" clId="{9741A459-0F71-4A5F-9168-5674C230F167}" dt="2026-10-05T09:04:03.920" v="47" actId="20577"/>
          <ac:spMkLst>
            <pc:docMk/>
            <pc:sldMk cId="0" sldId="274"/>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Passengers</c:v>
                </c:pt>
              </c:strCache>
            </c:strRef>
          </c:tx>
          <c:dPt>
            <c:idx val="0"/>
            <c:bubble3D val="0"/>
            <c:spPr>
              <a:solidFill>
                <a:srgbClr val="2A78D6"/>
              </a:solidFill>
              <a:ln>
                <a:solidFill>
                  <a:srgbClr val="FFFFFF"/>
                </a:solidFill>
              </a:ln>
            </c:spPr>
            <c:extLst>
              <c:ext xmlns:c16="http://schemas.microsoft.com/office/drawing/2014/chart" uri="{C3380CC4-5D6E-409C-BE32-E72D297353CC}">
                <c16:uniqueId val="{00000001-C086-4E79-A9FE-482C70F7F337}"/>
              </c:ext>
            </c:extLst>
          </c:dPt>
          <c:dPt>
            <c:idx val="1"/>
            <c:bubble3D val="0"/>
            <c:spPr>
              <a:solidFill>
                <a:srgbClr val="EB6834"/>
              </a:solidFill>
              <a:ln>
                <a:solidFill>
                  <a:srgbClr val="FFFFFF"/>
                </a:solidFill>
              </a:ln>
            </c:spPr>
            <c:extLst>
              <c:ext xmlns:c16="http://schemas.microsoft.com/office/drawing/2014/chart" uri="{C3380CC4-5D6E-409C-BE32-E72D297353CC}">
                <c16:uniqueId val="{00000003-C086-4E79-A9FE-482C70F7F337}"/>
              </c:ext>
            </c:extLst>
          </c:dPt>
          <c:dLbls>
            <c:numFmt formatCode="0.0%" sourceLinked="0"/>
            <c:spPr>
              <a:noFill/>
              <a:ln>
                <a:noFill/>
              </a:ln>
              <a:effectLst/>
            </c:spPr>
            <c:txPr>
              <a:bodyPr/>
              <a:lstStyle/>
              <a:p>
                <a:pPr>
                  <a:defRPr sz="1600" b="1">
                    <a:solidFill>
                      <a:srgbClr val="FFFFFF"/>
                    </a:solidFill>
                  </a:defRPr>
                </a:pPr>
                <a:endParaRPr lang="en-US"/>
              </a:p>
            </c:txPr>
            <c:showLegendKey val="0"/>
            <c:showVal val="0"/>
            <c:showCatName val="0"/>
            <c:showSerName val="0"/>
            <c:showPercent val="1"/>
            <c:showBubbleSize val="0"/>
            <c:showLeaderLines val="1"/>
            <c:extLst>
              <c:ext xmlns:c15="http://schemas.microsoft.com/office/drawing/2012/chart" uri="{CE6537A1-D6FC-4f65-9D91-7224C49458BB}"/>
            </c:extLst>
          </c:dLbls>
          <c:cat>
            <c:strRef>
              <c:f>Sheet1!$A$2:$A$3</c:f>
              <c:strCache>
                <c:ptCount val="2"/>
                <c:pt idx="0">
                  <c:v>Satisfied</c:v>
                </c:pt>
                <c:pt idx="1">
                  <c:v>Neutral or Dissatisfied</c:v>
                </c:pt>
              </c:strCache>
            </c:strRef>
          </c:cat>
          <c:val>
            <c:numRef>
              <c:f>Sheet1!$B$2:$B$3</c:f>
              <c:numCache>
                <c:formatCode>General</c:formatCode>
                <c:ptCount val="2"/>
                <c:pt idx="0">
                  <c:v>11403</c:v>
                </c:pt>
                <c:pt idx="1">
                  <c:v>14573</c:v>
                </c:pt>
              </c:numCache>
            </c:numRef>
          </c:val>
          <c:extLst>
            <c:ext xmlns:c16="http://schemas.microsoft.com/office/drawing/2014/chart" uri="{C3380CC4-5D6E-409C-BE32-E72D297353CC}">
              <c16:uniqueId val="{00000004-C086-4E79-A9FE-482C70F7F337}"/>
            </c:ext>
          </c:extLst>
        </c:ser>
        <c:dLbls>
          <c:showLegendKey val="0"/>
          <c:showVal val="0"/>
          <c:showCatName val="0"/>
          <c:showSerName val="0"/>
          <c:showPercent val="1"/>
          <c:showBubbleSize val="0"/>
          <c:showLeaderLines val="1"/>
        </c:dLbls>
        <c:firstSliceAng val="0"/>
        <c:holeSize val="50"/>
      </c:doughnutChart>
    </c:plotArea>
    <c:legend>
      <c:legendPos val="b"/>
      <c:overlay val="0"/>
      <c:txPr>
        <a:bodyPr/>
        <a:lstStyle/>
        <a:p>
          <a:pPr>
            <a:defRPr sz="1400"/>
          </a:pPr>
          <a:endParaRPr lang="en-US"/>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Satisfied (%)</c:v>
                </c:pt>
              </c:strCache>
            </c:strRef>
          </c:tx>
          <c:spPr>
            <a:solidFill>
              <a:srgbClr val="2A78D6"/>
            </a:solidFill>
            <a:ln w="19050">
              <a:solidFill>
                <a:srgbClr val="FFFFFF"/>
              </a:solidFill>
            </a:ln>
          </c:spPr>
          <c:invertIfNegative val="1"/>
          <c:dPt>
            <c:idx val="0"/>
            <c:invertIfNegative val="1"/>
            <c:bubble3D val="0"/>
            <c:spPr>
              <a:solidFill>
                <a:srgbClr val="2A78D6"/>
              </a:solidFill>
            </c:spPr>
            <c:extLst>
              <c:ext xmlns:c16="http://schemas.microsoft.com/office/drawing/2014/chart" uri="{C3380CC4-5D6E-409C-BE32-E72D297353CC}">
                <c16:uniqueId val="{00000001-B2ED-4B67-B79F-E2668D4D46D5}"/>
              </c:ext>
            </c:extLst>
          </c:dPt>
          <c:dPt>
            <c:idx val="1"/>
            <c:invertIfNegative val="1"/>
            <c:bubble3D val="0"/>
            <c:spPr>
              <a:solidFill>
                <a:srgbClr val="EB6834"/>
              </a:solidFill>
            </c:spPr>
            <c:extLst>
              <c:ext xmlns:c16="http://schemas.microsoft.com/office/drawing/2014/chart" uri="{C3380CC4-5D6E-409C-BE32-E72D297353CC}">
                <c16:uniqueId val="{00000003-B2ED-4B67-B79F-E2668D4D46D5}"/>
              </c:ext>
            </c:extLst>
          </c:dPt>
          <c:dPt>
            <c:idx val="2"/>
            <c:invertIfNegative val="1"/>
            <c:bubble3D val="0"/>
            <c:spPr>
              <a:solidFill>
                <a:srgbClr val="EB6834"/>
              </a:solidFill>
            </c:spPr>
            <c:extLst>
              <c:ext xmlns:c16="http://schemas.microsoft.com/office/drawing/2014/chart" uri="{C3380CC4-5D6E-409C-BE32-E72D297353CC}">
                <c16:uniqueId val="{00000005-B2ED-4B67-B79F-E2668D4D46D5}"/>
              </c:ext>
            </c:extLst>
          </c:dPt>
          <c:dPt>
            <c:idx val="3"/>
            <c:invertIfNegative val="1"/>
            <c:bubble3D val="0"/>
            <c:spPr>
              <a:solidFill>
                <a:srgbClr val="2A78D6"/>
              </a:solidFill>
            </c:spPr>
            <c:extLst>
              <c:ext xmlns:c16="http://schemas.microsoft.com/office/drawing/2014/chart" uri="{C3380CC4-5D6E-409C-BE32-E72D297353CC}">
                <c16:uniqueId val="{00000007-B2ED-4B67-B79F-E2668D4D46D5}"/>
              </c:ext>
            </c:extLst>
          </c:dPt>
          <c:dPt>
            <c:idx val="4"/>
            <c:invertIfNegative val="1"/>
            <c:bubble3D val="0"/>
            <c:spPr>
              <a:solidFill>
                <a:srgbClr val="EB6834"/>
              </a:solidFill>
            </c:spPr>
            <c:extLst>
              <c:ext xmlns:c16="http://schemas.microsoft.com/office/drawing/2014/chart" uri="{C3380CC4-5D6E-409C-BE32-E72D297353CC}">
                <c16:uniqueId val="{00000009-B2ED-4B67-B79F-E2668D4D46D5}"/>
              </c:ext>
            </c:extLst>
          </c:dPt>
          <c:dPt>
            <c:idx val="5"/>
            <c:invertIfNegative val="1"/>
            <c:bubble3D val="0"/>
            <c:spPr>
              <a:solidFill>
                <a:srgbClr val="2A78D6"/>
              </a:solidFill>
            </c:spPr>
            <c:extLst>
              <c:ext xmlns:c16="http://schemas.microsoft.com/office/drawing/2014/chart" uri="{C3380CC4-5D6E-409C-BE32-E72D297353CC}">
                <c16:uniqueId val="{0000000B-B2ED-4B67-B79F-E2668D4D46D5}"/>
              </c:ext>
            </c:extLst>
          </c:dPt>
          <c:dPt>
            <c:idx val="6"/>
            <c:invertIfNegative val="1"/>
            <c:bubble3D val="0"/>
            <c:spPr>
              <a:solidFill>
                <a:srgbClr val="EB6834"/>
              </a:solidFill>
            </c:spPr>
            <c:extLst>
              <c:ext xmlns:c16="http://schemas.microsoft.com/office/drawing/2014/chart" uri="{C3380CC4-5D6E-409C-BE32-E72D297353CC}">
                <c16:uniqueId val="{0000000D-B2ED-4B67-B79F-E2668D4D46D5}"/>
              </c:ext>
            </c:extLst>
          </c:dPt>
          <c:dPt>
            <c:idx val="7"/>
            <c:invertIfNegative val="1"/>
            <c:bubble3D val="0"/>
            <c:spPr>
              <a:solidFill>
                <a:srgbClr val="EB6834"/>
              </a:solidFill>
            </c:spPr>
            <c:extLst>
              <c:ext xmlns:c16="http://schemas.microsoft.com/office/drawing/2014/chart" uri="{C3380CC4-5D6E-409C-BE32-E72D297353CC}">
                <c16:uniqueId val="{0000000F-B2ED-4B67-B79F-E2668D4D46D5}"/>
              </c:ext>
            </c:extLst>
          </c:dPt>
          <c:dPt>
            <c:idx val="8"/>
            <c:invertIfNegative val="1"/>
            <c:bubble3D val="0"/>
            <c:spPr>
              <a:solidFill>
                <a:srgbClr val="2A78D6"/>
              </a:solidFill>
            </c:spPr>
            <c:extLst>
              <c:ext xmlns:c16="http://schemas.microsoft.com/office/drawing/2014/chart" uri="{C3380CC4-5D6E-409C-BE32-E72D297353CC}">
                <c16:uniqueId val="{00000011-B2ED-4B67-B79F-E2668D4D46D5}"/>
              </c:ext>
            </c:extLst>
          </c:dPt>
          <c:dLbls>
            <c:numFmt formatCode="0.0&quot;%&quot;" sourceLinked="0"/>
            <c:spPr>
              <a:noFill/>
              <a:ln>
                <a:noFill/>
              </a:ln>
              <a:effectLst/>
            </c:spPr>
            <c:txPr>
              <a:bodyPr/>
              <a:lstStyle/>
              <a:p>
                <a:pPr>
                  <a:defRPr sz="12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Business class</c:v>
                </c:pt>
                <c:pt idx="1">
                  <c:v>Economy Plus</c:v>
                </c:pt>
                <c:pt idx="2">
                  <c:v>Economy</c:v>
                </c:pt>
                <c:pt idx="3">
                  <c:v>Business travel</c:v>
                </c:pt>
                <c:pt idx="4">
                  <c:v>Personal travel</c:v>
                </c:pt>
                <c:pt idx="5">
                  <c:v>Loyal customer</c:v>
                </c:pt>
                <c:pt idx="6">
                  <c:v>Disloyal customer</c:v>
                </c:pt>
                <c:pt idx="7">
                  <c:v>Female</c:v>
                </c:pt>
                <c:pt idx="8">
                  <c:v>Male</c:v>
                </c:pt>
              </c:strCache>
            </c:strRef>
          </c:cat>
          <c:val>
            <c:numRef>
              <c:f>Sheet1!$B$2:$B$10</c:f>
              <c:numCache>
                <c:formatCode>General</c:formatCode>
                <c:ptCount val="9"/>
                <c:pt idx="0">
                  <c:v>69.5</c:v>
                </c:pt>
                <c:pt idx="1">
                  <c:v>24.8</c:v>
                </c:pt>
                <c:pt idx="2">
                  <c:v>19.399999999999999</c:v>
                </c:pt>
                <c:pt idx="3">
                  <c:v>58.8</c:v>
                </c:pt>
                <c:pt idx="4">
                  <c:v>10</c:v>
                </c:pt>
                <c:pt idx="5">
                  <c:v>48.1</c:v>
                </c:pt>
                <c:pt idx="6">
                  <c:v>25.2</c:v>
                </c:pt>
                <c:pt idx="7">
                  <c:v>43.5</c:v>
                </c:pt>
                <c:pt idx="8">
                  <c:v>44.3</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12-B2ED-4B67-B79F-E2668D4D46D5}"/>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3EA"/>
            </a:solidFill>
          </a:ln>
        </c:spPr>
        <c:txPr>
          <a:bodyPr/>
          <a:lstStyle/>
          <a:p>
            <a:pPr>
              <a:defRPr sz="1100">
                <a:solidFill>
                  <a:srgbClr val="1B1F24"/>
                </a:solidFill>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DDE3EA"/>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200">
          <a:solidFill>
            <a:srgbClr val="5B636E"/>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Satisfied (%)</c:v>
                </c:pt>
              </c:strCache>
            </c:strRef>
          </c:tx>
          <c:spPr>
            <a:ln w="44450">
              <a:solidFill>
                <a:srgbClr val="2A78D6"/>
              </a:solidFill>
            </a:ln>
          </c:spPr>
          <c:marker>
            <c:symbol val="diamond"/>
            <c:size val="12"/>
            <c:spPr>
              <a:solidFill>
                <a:srgbClr val="2A78D6"/>
              </a:solidFill>
              <a:ln>
                <a:solidFill>
                  <a:srgbClr val="FFFFFF"/>
                </a:solidFill>
              </a:ln>
            </c:spPr>
          </c:marker>
          <c:dLbls>
            <c:numFmt formatCode="0.0&quot;%&quot;" sourceLinked="0"/>
            <c:spPr>
              <a:noFill/>
              <a:ln>
                <a:noFill/>
              </a:ln>
              <a:effectLst/>
            </c:spPr>
            <c:txPr>
              <a:bodyPr/>
              <a:lstStyle/>
              <a:p>
                <a:pPr>
                  <a:defRPr sz="1200" b="1">
                    <a:solidFill>
                      <a:srgbClr val="1B1F24"/>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Child
&lt;18</c:v>
                </c:pt>
                <c:pt idx="1">
                  <c:v>Young adult
18-29</c:v>
                </c:pt>
                <c:pt idx="2">
                  <c:v>Adult
30-44</c:v>
                </c:pt>
                <c:pt idx="3">
                  <c:v>Middle-aged
45-59</c:v>
                </c:pt>
                <c:pt idx="4">
                  <c:v>Senior
60+</c:v>
                </c:pt>
              </c:strCache>
            </c:strRef>
          </c:cat>
          <c:val>
            <c:numRef>
              <c:f>Sheet1!$B$2:$B$6</c:f>
              <c:numCache>
                <c:formatCode>General</c:formatCode>
                <c:ptCount val="5"/>
                <c:pt idx="0">
                  <c:v>18.100000000000001</c:v>
                </c:pt>
                <c:pt idx="1">
                  <c:v>36</c:v>
                </c:pt>
                <c:pt idx="2">
                  <c:v>47.7</c:v>
                </c:pt>
                <c:pt idx="3">
                  <c:v>57.7</c:v>
                </c:pt>
                <c:pt idx="4">
                  <c:v>26.8</c:v>
                </c:pt>
              </c:numCache>
            </c:numRef>
          </c:val>
          <c:smooth val="0"/>
          <c:extLst>
            <c:ext xmlns:c16="http://schemas.microsoft.com/office/drawing/2014/chart" uri="{C3380CC4-5D6E-409C-BE32-E72D297353CC}">
              <c16:uniqueId val="{00000000-ECA8-40C5-886E-E85AA4087971}"/>
            </c:ext>
          </c:extLst>
        </c:ser>
        <c:dLbls>
          <c:dLblPos val="t"/>
          <c:showLegendKey val="0"/>
          <c:showVal val="1"/>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DE3EA"/>
            </a:solidFill>
          </a:ln>
        </c:spPr>
        <c:txPr>
          <a:bodyPr/>
          <a:lstStyle/>
          <a:p>
            <a:pPr>
              <a:defRPr sz="1200">
                <a:solidFill>
                  <a:srgbClr val="1B1F24"/>
                </a:solidFill>
              </a:defRPr>
            </a:pPr>
            <a:endParaRPr lang="en-US"/>
          </a:p>
        </c:txPr>
        <c:crossAx val="2140495176"/>
        <c:crosses val="autoZero"/>
        <c:auto val="1"/>
        <c:lblAlgn val="ctr"/>
        <c:lblOffset val="100"/>
        <c:noMultiLvlLbl val="0"/>
      </c:catAx>
      <c:valAx>
        <c:axId val="2140495176"/>
        <c:scaling>
          <c:orientation val="minMax"/>
          <c:max val="80"/>
          <c:min val="0"/>
        </c:scaling>
        <c:delete val="0"/>
        <c:axPos val="l"/>
        <c:majorGridlines>
          <c:spPr>
            <a:ln>
              <a:solidFill>
                <a:srgbClr val="DDE3EA"/>
              </a:solidFill>
            </a:ln>
          </c:spPr>
        </c:majorGridlines>
        <c:numFmt formatCode="0&quot;%&quot;" sourceLinked="0"/>
        <c:majorTickMark val="out"/>
        <c:minorTickMark val="none"/>
        <c:tickLblPos val="nextTo"/>
        <c:spPr>
          <a:ln>
            <a:noFill/>
          </a:ln>
        </c:spPr>
        <c:txPr>
          <a:bodyPr/>
          <a:lstStyle/>
          <a:p>
            <a:pPr>
              <a:defRPr sz="1100"/>
            </a:pPr>
            <a:endParaRPr lang="en-US"/>
          </a:p>
        </c:txPr>
        <c:crossAx val="2118791784"/>
        <c:crosses val="autoZero"/>
        <c:crossBetween val="between"/>
      </c:valAx>
    </c:plotArea>
    <c:plotVisOnly val="1"/>
    <c:dispBlanksAs val="gap"/>
    <c:showDLblsOverMax val="0"/>
  </c:chart>
  <c:txPr>
    <a:bodyPr/>
    <a:lstStyle/>
    <a:p>
      <a:pPr>
        <a:defRPr sz="1200">
          <a:solidFill>
            <a:srgbClr val="5B636E"/>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Dissatisfied</c:v>
                </c:pt>
              </c:strCache>
            </c:strRef>
          </c:tx>
          <c:spPr>
            <a:solidFill>
              <a:srgbClr val="EB6834"/>
            </a:solidFill>
            <a:ln w="19050">
              <a:solidFill>
                <a:srgbClr val="FFFFFF"/>
              </a:solidFill>
            </a:ln>
          </c:spPr>
          <c:invertIfNegative val="1"/>
          <c:cat>
            <c:strRef>
              <c:f>Sheet1!$A$2:$A$15</c:f>
              <c:strCache>
                <c:ptCount val="14"/>
                <c:pt idx="0">
                  <c:v>Time convenience</c:v>
                </c:pt>
                <c:pt idx="1">
                  <c:v>Gate location</c:v>
                </c:pt>
                <c:pt idx="2">
                  <c:v>Food and drink</c:v>
                </c:pt>
                <c:pt idx="3">
                  <c:v>Inflight service</c:v>
                </c:pt>
                <c:pt idx="4">
                  <c:v>Baggage handling</c:v>
                </c:pt>
                <c:pt idx="5">
                  <c:v>Online booking</c:v>
                </c:pt>
                <c:pt idx="6">
                  <c:v>Check-in</c:v>
                </c:pt>
                <c:pt idx="7">
                  <c:v>Leg room</c:v>
                </c:pt>
                <c:pt idx="8">
                  <c:v>On-board service</c:v>
                </c:pt>
                <c:pt idx="9">
                  <c:v>Cleanliness</c:v>
                </c:pt>
                <c:pt idx="10">
                  <c:v>Seat comfort</c:v>
                </c:pt>
                <c:pt idx="11">
                  <c:v>Inflight wifi</c:v>
                </c:pt>
                <c:pt idx="12">
                  <c:v>Inflight entertainment</c:v>
                </c:pt>
                <c:pt idx="13">
                  <c:v>Online boarding</c:v>
                </c:pt>
              </c:strCache>
            </c:strRef>
          </c:cat>
          <c:val>
            <c:numRef>
              <c:f>Sheet1!$B$2:$B$15</c:f>
              <c:numCache>
                <c:formatCode>General</c:formatCode>
                <c:ptCount val="14"/>
                <c:pt idx="0">
                  <c:v>3.29</c:v>
                </c:pt>
                <c:pt idx="1">
                  <c:v>3</c:v>
                </c:pt>
                <c:pt idx="2">
                  <c:v>2.96</c:v>
                </c:pt>
                <c:pt idx="3">
                  <c:v>3.39</c:v>
                </c:pt>
                <c:pt idx="4">
                  <c:v>3.37</c:v>
                </c:pt>
                <c:pt idx="5">
                  <c:v>2.63</c:v>
                </c:pt>
                <c:pt idx="6">
                  <c:v>3.04</c:v>
                </c:pt>
                <c:pt idx="7">
                  <c:v>3.01</c:v>
                </c:pt>
                <c:pt idx="8">
                  <c:v>3.02</c:v>
                </c:pt>
                <c:pt idx="9">
                  <c:v>2.92</c:v>
                </c:pt>
                <c:pt idx="10">
                  <c:v>3.04</c:v>
                </c:pt>
                <c:pt idx="11">
                  <c:v>2.39</c:v>
                </c:pt>
                <c:pt idx="12">
                  <c:v>2.89</c:v>
                </c:pt>
                <c:pt idx="13">
                  <c:v>2.72</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0-953A-437F-8B7A-EBB7446B74E8}"/>
            </c:ext>
          </c:extLst>
        </c:ser>
        <c:ser>
          <c:idx val="1"/>
          <c:order val="1"/>
          <c:tx>
            <c:strRef>
              <c:f>Sheet1!$C$1</c:f>
              <c:strCache>
                <c:ptCount val="1"/>
                <c:pt idx="0">
                  <c:v>Satisfied</c:v>
                </c:pt>
              </c:strCache>
            </c:strRef>
          </c:tx>
          <c:spPr>
            <a:solidFill>
              <a:srgbClr val="2A78D6"/>
            </a:solidFill>
            <a:ln w="19050">
              <a:solidFill>
                <a:srgbClr val="FFFFFF"/>
              </a:solidFill>
            </a:ln>
          </c:spPr>
          <c:invertIfNegative val="1"/>
          <c:cat>
            <c:strRef>
              <c:f>Sheet1!$A$2:$A$15</c:f>
              <c:strCache>
                <c:ptCount val="14"/>
                <c:pt idx="0">
                  <c:v>Time convenience</c:v>
                </c:pt>
                <c:pt idx="1">
                  <c:v>Gate location</c:v>
                </c:pt>
                <c:pt idx="2">
                  <c:v>Food and drink</c:v>
                </c:pt>
                <c:pt idx="3">
                  <c:v>Inflight service</c:v>
                </c:pt>
                <c:pt idx="4">
                  <c:v>Baggage handling</c:v>
                </c:pt>
                <c:pt idx="5">
                  <c:v>Online booking</c:v>
                </c:pt>
                <c:pt idx="6">
                  <c:v>Check-in</c:v>
                </c:pt>
                <c:pt idx="7">
                  <c:v>Leg room</c:v>
                </c:pt>
                <c:pt idx="8">
                  <c:v>On-board service</c:v>
                </c:pt>
                <c:pt idx="9">
                  <c:v>Cleanliness</c:v>
                </c:pt>
                <c:pt idx="10">
                  <c:v>Seat comfort</c:v>
                </c:pt>
                <c:pt idx="11">
                  <c:v>Inflight wifi</c:v>
                </c:pt>
                <c:pt idx="12">
                  <c:v>Inflight entertainment</c:v>
                </c:pt>
                <c:pt idx="13">
                  <c:v>Online boarding</c:v>
                </c:pt>
              </c:strCache>
            </c:strRef>
          </c:cat>
          <c:val>
            <c:numRef>
              <c:f>Sheet1!$C$2:$C$15</c:f>
              <c:numCache>
                <c:formatCode>General</c:formatCode>
                <c:ptCount val="14"/>
                <c:pt idx="0">
                  <c:v>3.12</c:v>
                </c:pt>
                <c:pt idx="1">
                  <c:v>2.95</c:v>
                </c:pt>
                <c:pt idx="2">
                  <c:v>3.54</c:v>
                </c:pt>
                <c:pt idx="3">
                  <c:v>3.98</c:v>
                </c:pt>
                <c:pt idx="4">
                  <c:v>3.97</c:v>
                </c:pt>
                <c:pt idx="5">
                  <c:v>3.24</c:v>
                </c:pt>
                <c:pt idx="6">
                  <c:v>3.66</c:v>
                </c:pt>
                <c:pt idx="7">
                  <c:v>3.83</c:v>
                </c:pt>
                <c:pt idx="8">
                  <c:v>3.85</c:v>
                </c:pt>
                <c:pt idx="9">
                  <c:v>3.76</c:v>
                </c:pt>
                <c:pt idx="10">
                  <c:v>3.97</c:v>
                </c:pt>
                <c:pt idx="11">
                  <c:v>3.39</c:v>
                </c:pt>
                <c:pt idx="12">
                  <c:v>3.96</c:v>
                </c:pt>
                <c:pt idx="13">
                  <c:v>4.16</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1-953A-437F-8B7A-EBB7446B74E8}"/>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E3EA"/>
            </a:solidFill>
          </a:ln>
        </c:spPr>
        <c:txPr>
          <a:bodyPr/>
          <a:lstStyle/>
          <a:p>
            <a:pPr>
              <a:defRPr sz="1100">
                <a:solidFill>
                  <a:srgbClr val="1B1F24"/>
                </a:solidFill>
              </a:defRPr>
            </a:pPr>
            <a:endParaRPr lang="en-US"/>
          </a:p>
        </c:txPr>
        <c:crossAx val="-2113994440"/>
        <c:crosses val="autoZero"/>
        <c:auto val="1"/>
        <c:lblAlgn val="ctr"/>
        <c:lblOffset val="100"/>
        <c:noMultiLvlLbl val="0"/>
      </c:catAx>
      <c:valAx>
        <c:axId val="-2113994440"/>
        <c:scaling>
          <c:orientation val="minMax"/>
          <c:max val="5"/>
          <c:min val="0"/>
        </c:scaling>
        <c:delete val="0"/>
        <c:axPos val="b"/>
        <c:majorGridlines>
          <c:spPr>
            <a:ln>
              <a:solidFill>
                <a:srgbClr val="DDE3EA"/>
              </a:solidFill>
            </a:ln>
          </c:spPr>
        </c:majorGridlines>
        <c:numFmt formatCode="0" sourceLinked="0"/>
        <c:majorTickMark val="out"/>
        <c:minorTickMark val="none"/>
        <c:tickLblPos val="nextTo"/>
        <c:spPr>
          <a:ln>
            <a:noFill/>
          </a:ln>
        </c:spPr>
        <c:txPr>
          <a:bodyPr/>
          <a:lstStyle/>
          <a:p>
            <a:pPr>
              <a:defRPr sz="1100"/>
            </a:pPr>
            <a:endParaRPr lang="en-US"/>
          </a:p>
        </c:txPr>
        <c:crossAx val="-2068027336"/>
        <c:crosses val="autoZero"/>
        <c:crossBetween val="between"/>
        <c:majorUnit val="1"/>
      </c:valAx>
    </c:plotArea>
    <c:legend>
      <c:legendPos val="t"/>
      <c:overlay val="0"/>
      <c:txPr>
        <a:bodyPr/>
        <a:lstStyle/>
        <a:p>
          <a:pPr>
            <a:defRPr sz="1200">
              <a:solidFill>
                <a:srgbClr val="1B1F24"/>
              </a:solidFill>
            </a:defRPr>
          </a:pPr>
          <a:endParaRPr lang="en-US"/>
        </a:p>
      </c:txPr>
    </c:legend>
    <c:plotVisOnly val="1"/>
    <c:dispBlanksAs val="gap"/>
    <c:showDLblsOverMax val="1"/>
  </c:chart>
  <c:txPr>
    <a:bodyPr/>
    <a:lstStyle/>
    <a:p>
      <a:pPr>
        <a:defRPr sz="1100">
          <a:solidFill>
            <a:srgbClr val="5B636E"/>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Satisfied (%)</c:v>
                </c:pt>
              </c:strCache>
            </c:strRef>
          </c:tx>
          <c:spPr>
            <a:solidFill>
              <a:srgbClr val="2A78D6"/>
            </a:solidFill>
            <a:ln w="19050">
              <a:solidFill>
                <a:srgbClr val="FFFFFF"/>
              </a:solidFill>
            </a:ln>
          </c:spPr>
          <c:invertIfNegative val="1"/>
          <c:dLbls>
            <c:numFmt formatCode="0.0&quot;%&quot;" sourceLinked="0"/>
            <c:spPr>
              <a:noFill/>
              <a:ln>
                <a:noFill/>
              </a:ln>
              <a:effectLst/>
            </c:spPr>
            <c:txPr>
              <a:bodyPr/>
              <a:lstStyle/>
              <a:p>
                <a:pPr>
                  <a:defRPr sz="12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On time</c:v>
                </c:pt>
                <c:pt idx="1">
                  <c:v>1–15 min</c:v>
                </c:pt>
                <c:pt idx="2">
                  <c:v>16–60 min</c:v>
                </c:pt>
                <c:pt idx="3">
                  <c:v>&gt; 60 min</c:v>
                </c:pt>
              </c:strCache>
            </c:strRef>
          </c:cat>
          <c:val>
            <c:numRef>
              <c:f>Sheet1!$B$2:$B$5</c:f>
              <c:numCache>
                <c:formatCode>General</c:formatCode>
                <c:ptCount val="4"/>
                <c:pt idx="0">
                  <c:v>47.9</c:v>
                </c:pt>
                <c:pt idx="1">
                  <c:v>40.700000000000003</c:v>
                </c:pt>
                <c:pt idx="2">
                  <c:v>37.700000000000003</c:v>
                </c:pt>
                <c:pt idx="3">
                  <c:v>35.200000000000003</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0-E31B-4818-B218-FDF132DE26CB}"/>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title>
          <c:tx>
            <c:rich>
              <a:bodyPr/>
              <a:lstStyle/>
              <a:p>
                <a:r>
                  <a:rPr sz="1200"/>
                  <a:t>Arrival delay</a:t>
                </a:r>
              </a:p>
            </c:rich>
          </c:tx>
          <c:overlay val="0"/>
        </c:title>
        <c:numFmt formatCode="General" sourceLinked="0"/>
        <c:majorTickMark val="out"/>
        <c:minorTickMark val="none"/>
        <c:tickLblPos val="nextTo"/>
        <c:spPr>
          <a:ln>
            <a:solidFill>
              <a:srgbClr val="DDE3EA"/>
            </a:solidFill>
          </a:ln>
        </c:spPr>
        <c:txPr>
          <a:bodyPr/>
          <a:lstStyle/>
          <a:p>
            <a:pPr>
              <a:defRPr sz="1200">
                <a:solidFill>
                  <a:srgbClr val="1B1F24"/>
                </a:solidFill>
              </a:defRPr>
            </a:pPr>
            <a:endParaRPr lang="en-US"/>
          </a:p>
        </c:txPr>
        <c:crossAx val="-2113994440"/>
        <c:crosses val="autoZero"/>
        <c:auto val="1"/>
        <c:lblAlgn val="ctr"/>
        <c:lblOffset val="100"/>
        <c:noMultiLvlLbl val="0"/>
      </c:catAx>
      <c:valAx>
        <c:axId val="-2113994440"/>
        <c:scaling>
          <c:orientation val="minMax"/>
          <c:max val="60"/>
          <c:min val="0"/>
        </c:scaling>
        <c:delete val="0"/>
        <c:axPos val="l"/>
        <c:majorGridlines>
          <c:spPr>
            <a:ln>
              <a:solidFill>
                <a:srgbClr val="DDE3EA"/>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200">
          <a:solidFill>
            <a:srgbClr val="5B636E"/>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Economy</c:v>
                </c:pt>
              </c:strCache>
            </c:strRef>
          </c:tx>
          <c:spPr>
            <a:solidFill>
              <a:srgbClr val="EB6834"/>
            </a:solidFill>
            <a:ln w="19050">
              <a:solidFill>
                <a:srgbClr val="FFFFFF"/>
              </a:solidFill>
            </a:ln>
          </c:spPr>
          <c:invertIfNegative val="1"/>
          <c:dLbls>
            <c:numFmt formatCode="0&quot;%&quot;" sourceLinked="0"/>
            <c:spPr>
              <a:noFill/>
              <a:ln>
                <a:noFill/>
              </a:ln>
              <a:effectLst/>
            </c:spPr>
            <c:txPr>
              <a:bodyPr/>
              <a:lstStyle/>
              <a:p>
                <a:pPr>
                  <a:defRPr sz="11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Short-haul
&lt; 800 mi</c:v>
                </c:pt>
                <c:pt idx="1">
                  <c:v>Medium-haul
800–2,000 mi</c:v>
                </c:pt>
                <c:pt idx="2">
                  <c:v>Long-haul
&gt; 2,000 mi</c:v>
                </c:pt>
              </c:strCache>
            </c:strRef>
          </c:cat>
          <c:val>
            <c:numRef>
              <c:f>Sheet1!$B$2:$B$4</c:f>
              <c:numCache>
                <c:formatCode>General</c:formatCode>
                <c:ptCount val="3"/>
                <c:pt idx="0">
                  <c:v>20.8</c:v>
                </c:pt>
                <c:pt idx="1">
                  <c:v>16.899999999999999</c:v>
                </c:pt>
                <c:pt idx="2">
                  <c:v>18</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0-9EFB-4E4A-8803-D8C9E0B9F698}"/>
            </c:ext>
          </c:extLst>
        </c:ser>
        <c:ser>
          <c:idx val="1"/>
          <c:order val="1"/>
          <c:tx>
            <c:strRef>
              <c:f>Sheet1!$C$1</c:f>
              <c:strCache>
                <c:ptCount val="1"/>
                <c:pt idx="0">
                  <c:v>Economy Plus</c:v>
                </c:pt>
              </c:strCache>
            </c:strRef>
          </c:tx>
          <c:spPr>
            <a:solidFill>
              <a:srgbClr val="EDA100"/>
            </a:solidFill>
            <a:ln w="19050">
              <a:solidFill>
                <a:srgbClr val="FFFFFF"/>
              </a:solidFill>
            </a:ln>
          </c:spPr>
          <c:invertIfNegative val="1"/>
          <c:dLbls>
            <c:numFmt formatCode="0&quot;%&quot;" sourceLinked="0"/>
            <c:spPr>
              <a:noFill/>
              <a:ln>
                <a:noFill/>
              </a:ln>
              <a:effectLst/>
            </c:spPr>
            <c:txPr>
              <a:bodyPr/>
              <a:lstStyle/>
              <a:p>
                <a:pPr>
                  <a:defRPr sz="11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Short-haul
&lt; 800 mi</c:v>
                </c:pt>
                <c:pt idx="1">
                  <c:v>Medium-haul
800–2,000 mi</c:v>
                </c:pt>
                <c:pt idx="2">
                  <c:v>Long-haul
&gt; 2,000 mi</c:v>
                </c:pt>
              </c:strCache>
            </c:strRef>
          </c:cat>
          <c:val>
            <c:numRef>
              <c:f>Sheet1!$C$2:$C$4</c:f>
              <c:numCache>
                <c:formatCode>General</c:formatCode>
                <c:ptCount val="3"/>
                <c:pt idx="0">
                  <c:v>25.4</c:v>
                </c:pt>
                <c:pt idx="1">
                  <c:v>23.7</c:v>
                </c:pt>
                <c:pt idx="2">
                  <c:v>23.3</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1-9EFB-4E4A-8803-D8C9E0B9F698}"/>
            </c:ext>
          </c:extLst>
        </c:ser>
        <c:ser>
          <c:idx val="2"/>
          <c:order val="2"/>
          <c:tx>
            <c:strRef>
              <c:f>Sheet1!$D$1</c:f>
              <c:strCache>
                <c:ptCount val="1"/>
                <c:pt idx="0">
                  <c:v>Business</c:v>
                </c:pt>
              </c:strCache>
            </c:strRef>
          </c:tx>
          <c:spPr>
            <a:solidFill>
              <a:srgbClr val="2A78D6"/>
            </a:solidFill>
            <a:ln w="19050">
              <a:solidFill>
                <a:srgbClr val="FFFFFF"/>
              </a:solidFill>
            </a:ln>
          </c:spPr>
          <c:invertIfNegative val="1"/>
          <c:dLbls>
            <c:numFmt formatCode="0&quot;%&quot;" sourceLinked="0"/>
            <c:spPr>
              <a:noFill/>
              <a:ln>
                <a:noFill/>
              </a:ln>
              <a:effectLst/>
            </c:spPr>
            <c:txPr>
              <a:bodyPr/>
              <a:lstStyle/>
              <a:p>
                <a:pPr>
                  <a:defRPr sz="11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Short-haul
&lt; 800 mi</c:v>
                </c:pt>
                <c:pt idx="1">
                  <c:v>Medium-haul
800–2,000 mi</c:v>
                </c:pt>
                <c:pt idx="2">
                  <c:v>Long-haul
&gt; 2,000 mi</c:v>
                </c:pt>
              </c:strCache>
            </c:strRef>
          </c:cat>
          <c:val>
            <c:numRef>
              <c:f>Sheet1!$D$2:$D$4</c:f>
              <c:numCache>
                <c:formatCode>General</c:formatCode>
                <c:ptCount val="3"/>
                <c:pt idx="0">
                  <c:v>60.3</c:v>
                </c:pt>
                <c:pt idx="1">
                  <c:v>70</c:v>
                </c:pt>
                <c:pt idx="2">
                  <c:v>76.599999999999994</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2-9EFB-4E4A-8803-D8C9E0B9F698}"/>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E3EA"/>
            </a:solidFill>
          </a:ln>
        </c:spPr>
        <c:txPr>
          <a:bodyPr/>
          <a:lstStyle/>
          <a:p>
            <a:pPr>
              <a:defRPr sz="1200">
                <a:solidFill>
                  <a:srgbClr val="1B1F24"/>
                </a:solidFill>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DDE3EA"/>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valAx>
    </c:plotArea>
    <c:legend>
      <c:legendPos val="t"/>
      <c:overlay val="0"/>
      <c:txPr>
        <a:bodyPr/>
        <a:lstStyle/>
        <a:p>
          <a:pPr>
            <a:defRPr sz="1200">
              <a:solidFill>
                <a:srgbClr val="1B1F24"/>
              </a:solidFill>
            </a:defRPr>
          </a:pPr>
          <a:endParaRPr lang="en-US"/>
        </a:p>
      </c:txPr>
    </c:legend>
    <c:plotVisOnly val="1"/>
    <c:dispBlanksAs val="gap"/>
    <c:showDLblsOverMax val="1"/>
  </c:chart>
  <c:txPr>
    <a:bodyPr/>
    <a:lstStyle/>
    <a:p>
      <a:pPr>
        <a:defRPr sz="1200">
          <a:solidFill>
            <a:srgbClr val="5B636E"/>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Cramér's V</c:v>
                </c:pt>
              </c:strCache>
            </c:strRef>
          </c:tx>
          <c:spPr>
            <a:solidFill>
              <a:srgbClr val="2A78D6"/>
            </a:solidFill>
            <a:ln w="19050">
              <a:solidFill>
                <a:srgbClr val="FFFFFF"/>
              </a:solidFill>
            </a:ln>
          </c:spPr>
          <c:invertIfNegative val="1"/>
          <c:dLbls>
            <c:numFmt formatCode="0.00" sourceLinked="0"/>
            <c:spPr>
              <a:noFill/>
              <a:ln>
                <a:noFill/>
              </a:ln>
              <a:effectLst/>
            </c:spPr>
            <c:txPr>
              <a:bodyPr/>
              <a:lstStyle/>
              <a:p>
                <a:pPr>
                  <a:defRPr sz="1200" b="1">
                    <a:solidFill>
                      <a:srgbClr val="1B1F24"/>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Gender</c:v>
                </c:pt>
                <c:pt idx="1">
                  <c:v>Arrival delay</c:v>
                </c:pt>
                <c:pt idx="2">
                  <c:v>Customer type</c:v>
                </c:pt>
                <c:pt idx="3">
                  <c:v>Age group</c:v>
                </c:pt>
                <c:pt idx="4">
                  <c:v>Type of travel</c:v>
                </c:pt>
                <c:pt idx="5">
                  <c:v>Class</c:v>
                </c:pt>
              </c:strCache>
            </c:strRef>
          </c:cat>
          <c:val>
            <c:numRef>
              <c:f>Sheet1!$B$2:$B$7</c:f>
              <c:numCache>
                <c:formatCode>General</c:formatCode>
                <c:ptCount val="6"/>
                <c:pt idx="0">
                  <c:v>0.01</c:v>
                </c:pt>
                <c:pt idx="1">
                  <c:v>0.1</c:v>
                </c:pt>
                <c:pt idx="2">
                  <c:v>0.18</c:v>
                </c:pt>
                <c:pt idx="3">
                  <c:v>0.25</c:v>
                </c:pt>
                <c:pt idx="4">
                  <c:v>0.45</c:v>
                </c:pt>
                <c:pt idx="5">
                  <c:v>0.5</c:v>
                </c:pt>
              </c:numCache>
            </c:numRef>
          </c:val>
          <c:extLst>
            <c:ext xmlns:c14="http://schemas.microsoft.com/office/drawing/2007/8/2/chart" uri="{6F2FDCE9-48DA-4B69-8628-5D25D57E5C99}">
              <c14:invertSolidFillFmt>
                <c14:spPr xmlns:c14="http://schemas.microsoft.com/office/drawing/2007/8/2/chart">
                  <a:solidFill>
                    <a:srgbClr val="FFFFFF"/>
                  </a:solidFill>
                  <a:ln w="19050">
                    <a:solidFill>
                      <a:srgbClr val="FFFFFF"/>
                    </a:solidFill>
                  </a:ln>
                </c14:spPr>
              </c14:invertSolidFillFmt>
            </c:ext>
            <c:ext xmlns:c16="http://schemas.microsoft.com/office/drawing/2014/chart" uri="{C3380CC4-5D6E-409C-BE32-E72D297353CC}">
              <c16:uniqueId val="{00000000-D45B-4D13-9B27-4F43FF2DC410}"/>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E3EA"/>
            </a:solidFill>
          </a:ln>
        </c:spPr>
        <c:txPr>
          <a:bodyPr/>
          <a:lstStyle/>
          <a:p>
            <a:pPr>
              <a:defRPr sz="1300">
                <a:solidFill>
                  <a:srgbClr val="1B1F24"/>
                </a:solidFill>
              </a:defRPr>
            </a:pPr>
            <a:endParaRPr lang="en-US"/>
          </a:p>
        </c:txPr>
        <c:crossAx val="-2113994440"/>
        <c:crosses val="autoZero"/>
        <c:auto val="1"/>
        <c:lblAlgn val="ctr"/>
        <c:lblOffset val="100"/>
        <c:noMultiLvlLbl val="0"/>
      </c:catAx>
      <c:valAx>
        <c:axId val="-2113994440"/>
        <c:scaling>
          <c:orientation val="minMax"/>
          <c:max val="0.6"/>
          <c:min val="0"/>
        </c:scaling>
        <c:delete val="0"/>
        <c:axPos val="b"/>
        <c:majorGridlines>
          <c:spPr>
            <a:ln>
              <a:solidFill>
                <a:srgbClr val="DDE3EA"/>
              </a:solidFill>
            </a:ln>
          </c:spPr>
        </c:majorGridlines>
        <c:numFmt formatCode="0.0" sourceLinked="0"/>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200">
          <a:solidFill>
            <a:srgbClr val="5B636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18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project analyses an airline passenger satisfaction survey of about 26,000 passengers to find out who is satisfied, who is not, and which parts of the journey make the difference.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overview of the five parts of the talk.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is the Airline Passenger Satisfaction survey. Each row is one passenger: their profile, trip details, 14 service ratings and whether they were satisfied overall.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groups of columns: profile, trip details, the 14 service ratings and the target. Important: a rating of 0 is not a bad score — it means the question did not apply to the passenger.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 is not clean. The most important hidden problem is the 4,202 zero ratings: they look like the worst score but actually mean not applicable. There are also 83 missing arrival delays, inconsistent labels, a useless index column and extreme delay values, which I checked and found to be genuine.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problem was handled with Define, Code, Test. Instead of the median, missing arrival delays were filled with the passenger's own departure delay because the two are almost perfectly correlated. Nothing was deleted: the final data has 25,976 rows and 30 columns.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six questions structure the analysis in the notebook and in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to Q1: only 43.9 percent are satisfied. The majority are not happy.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Satisfaction rate per segment. Class and travel type have the strongest association (Cramer's V 0.50 and 0.45). Gender has no significant effect.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Satisfaction rises with age until about 60, then drops again.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Average rating of each service for satisfied vs dissatisfied passengers. The largest gaps show which services separate happy from unhappy passengers. Online boarding has the strongest correlation, 0.59.</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Satisfaction drops steadily from 47.9 percent on time to 35.2 percent for delays over an hour. Significant, but much weaker than class or service quality.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good example of why multivariate analysis matters: the distance effect disappears when we control for class.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business segment is well served. Leisure travellers are the big problem, regardless of class.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of all the factors by strength of association with satisfaction.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actions, ordered by expected impact.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the three numbers to remember.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Oval 1"/>
          <p:cNvSpPr/>
          <p:nvPr/>
        </p:nvSpPr>
        <p:spPr>
          <a:xfrm>
            <a:off x="7863840" y="-1097280"/>
            <a:ext cx="5852160" cy="5852160"/>
          </a:xfrm>
          <a:prstGeom prst="ellipse">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509760" y="3566160"/>
            <a:ext cx="3291840" cy="32918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509760" y="4617720"/>
            <a:ext cx="3291840" cy="548640"/>
          </a:xfrm>
          <a:prstGeom prst="rect">
            <a:avLst/>
          </a:prstGeom>
          <a:noFill/>
        </p:spPr>
        <p:txBody>
          <a:bodyPr wrap="square" lIns="0" tIns="0" rIns="0" bIns="0" anchor="t">
            <a:spAutoFit/>
          </a:bodyPr>
          <a:lstStyle/>
          <a:p>
            <a:pPr algn="ctr">
              <a:spcAft>
                <a:spcPts val="0"/>
              </a:spcAft>
            </a:pPr>
            <a:r>
              <a:rPr sz="4000" b="1" i="0">
                <a:solidFill>
                  <a:srgbClr val="FFFFFF"/>
                </a:solidFill>
                <a:latin typeface="Cambria"/>
              </a:rPr>
              <a:t>43.9%</a:t>
            </a:r>
          </a:p>
        </p:txBody>
      </p:sp>
      <p:sp>
        <p:nvSpPr>
          <p:cNvPr id="5" name="TextBox 4"/>
          <p:cNvSpPr txBox="1"/>
          <p:nvPr/>
        </p:nvSpPr>
        <p:spPr>
          <a:xfrm>
            <a:off x="9509760" y="5303520"/>
            <a:ext cx="3291840" cy="365760"/>
          </a:xfrm>
          <a:prstGeom prst="rect">
            <a:avLst/>
          </a:prstGeom>
          <a:noFill/>
        </p:spPr>
        <p:txBody>
          <a:bodyPr wrap="square" lIns="0" tIns="0" rIns="0" bIns="0" anchor="t">
            <a:spAutoFit/>
          </a:bodyPr>
          <a:lstStyle/>
          <a:p>
            <a:pPr algn="ctr">
              <a:spcAft>
                <a:spcPts val="0"/>
              </a:spcAft>
            </a:pPr>
            <a:r>
              <a:rPr sz="1400" b="0" i="0">
                <a:solidFill>
                  <a:srgbClr val="FFFFFF"/>
                </a:solidFill>
                <a:latin typeface="Calibri"/>
              </a:rPr>
              <a:t>of passengers satisfied</a:t>
            </a:r>
          </a:p>
        </p:txBody>
      </p:sp>
      <p:sp>
        <p:nvSpPr>
          <p:cNvPr id="6" name="TextBox 5"/>
          <p:cNvSpPr txBox="1"/>
          <p:nvPr/>
        </p:nvSpPr>
        <p:spPr>
          <a:xfrm>
            <a:off x="731520" y="1188720"/>
            <a:ext cx="7315200" cy="365760"/>
          </a:xfrm>
          <a:prstGeom prst="rect">
            <a:avLst/>
          </a:prstGeom>
          <a:noFill/>
        </p:spPr>
        <p:txBody>
          <a:bodyPr wrap="square" lIns="0" tIns="0" rIns="0" bIns="0" anchor="t">
            <a:spAutoFit/>
          </a:bodyPr>
          <a:lstStyle/>
          <a:p>
            <a:pPr algn="l">
              <a:spcAft>
                <a:spcPts val="0"/>
              </a:spcAft>
            </a:pPr>
            <a:r>
              <a:rPr sz="1400" b="1" i="0">
                <a:solidFill>
                  <a:srgbClr val="B8C7DB"/>
                </a:solidFill>
                <a:latin typeface="Calibri"/>
              </a:rPr>
              <a:t>MID PROJECT  ·  DATA ANALYSIS</a:t>
            </a:r>
          </a:p>
        </p:txBody>
      </p:sp>
      <p:sp>
        <p:nvSpPr>
          <p:cNvPr id="7" name="TextBox 6"/>
          <p:cNvSpPr txBox="1"/>
          <p:nvPr/>
        </p:nvSpPr>
        <p:spPr>
          <a:xfrm>
            <a:off x="731520" y="1737360"/>
            <a:ext cx="7863840" cy="1828800"/>
          </a:xfrm>
          <a:prstGeom prst="rect">
            <a:avLst/>
          </a:prstGeom>
          <a:noFill/>
        </p:spPr>
        <p:txBody>
          <a:bodyPr wrap="square" lIns="0" tIns="0" rIns="0" bIns="0" anchor="t">
            <a:spAutoFit/>
          </a:bodyPr>
          <a:lstStyle/>
          <a:p>
            <a:pPr algn="l">
              <a:spcAft>
                <a:spcPts val="0"/>
              </a:spcAft>
            </a:pPr>
            <a:r>
              <a:rPr sz="5400" b="1" i="0">
                <a:solidFill>
                  <a:srgbClr val="FFFFFF"/>
                </a:solidFill>
                <a:latin typeface="Cambria"/>
              </a:rPr>
              <a:t>Airline Passenger Satisfaction</a:t>
            </a:r>
          </a:p>
        </p:txBody>
      </p:sp>
      <p:sp>
        <p:nvSpPr>
          <p:cNvPr id="8" name="TextBox 7"/>
          <p:cNvSpPr txBox="1"/>
          <p:nvPr/>
        </p:nvSpPr>
        <p:spPr>
          <a:xfrm>
            <a:off x="731520" y="3657600"/>
            <a:ext cx="7315200" cy="822960"/>
          </a:xfrm>
          <a:prstGeom prst="rect">
            <a:avLst/>
          </a:prstGeom>
          <a:noFill/>
        </p:spPr>
        <p:txBody>
          <a:bodyPr wrap="square" lIns="0" tIns="0" rIns="0" bIns="0" anchor="t">
            <a:spAutoFit/>
          </a:bodyPr>
          <a:lstStyle/>
          <a:p>
            <a:pPr algn="l">
              <a:spcAft>
                <a:spcPts val="0"/>
              </a:spcAft>
            </a:pPr>
            <a:r>
              <a:rPr sz="2200" b="0" i="1">
                <a:solidFill>
                  <a:srgbClr val="B8C7DB"/>
                </a:solidFill>
                <a:latin typeface="Calibri"/>
              </a:rPr>
              <a:t>What makes passengers happy — and what drives them away?</a:t>
            </a:r>
          </a:p>
        </p:txBody>
      </p:sp>
      <p:sp>
        <p:nvSpPr>
          <p:cNvPr id="9" name="TextBox 8"/>
          <p:cNvSpPr txBox="1"/>
          <p:nvPr/>
        </p:nvSpPr>
        <p:spPr>
          <a:xfrm>
            <a:off x="731520" y="5120640"/>
            <a:ext cx="7315200" cy="365760"/>
          </a:xfrm>
          <a:prstGeom prst="rect">
            <a:avLst/>
          </a:prstGeom>
          <a:noFill/>
        </p:spPr>
        <p:txBody>
          <a:bodyPr wrap="square" lIns="0" tIns="0" rIns="0" bIns="0" anchor="t">
            <a:spAutoFit/>
          </a:bodyPr>
          <a:lstStyle/>
          <a:p>
            <a:pPr algn="l">
              <a:spcAft>
                <a:spcPts val="0"/>
              </a:spcAft>
            </a:pPr>
            <a:r>
              <a:rPr sz="1800" b="1" i="0">
                <a:solidFill>
                  <a:srgbClr val="FFFFFF"/>
                </a:solidFill>
                <a:latin typeface="Calibri"/>
              </a:rPr>
              <a:t>Hisham Mohamed</a:t>
            </a:r>
          </a:p>
        </p:txBody>
      </p:sp>
      <p:sp>
        <p:nvSpPr>
          <p:cNvPr id="10" name="TextBox 9"/>
          <p:cNvSpPr txBox="1"/>
          <p:nvPr/>
        </p:nvSpPr>
        <p:spPr>
          <a:xfrm>
            <a:off x="731520" y="5532120"/>
            <a:ext cx="7315200" cy="215444"/>
          </a:xfrm>
          <a:prstGeom prst="rect">
            <a:avLst/>
          </a:prstGeom>
          <a:noFill/>
        </p:spPr>
        <p:txBody>
          <a:bodyPr wrap="square" lIns="0" tIns="0" rIns="0" bIns="0" anchor="t">
            <a:spAutoFit/>
          </a:bodyPr>
          <a:lstStyle/>
          <a:p>
            <a:r>
              <a:rPr sz="1400" b="0" i="0" dirty="0">
                <a:solidFill>
                  <a:srgbClr val="B8C7DB"/>
                </a:solidFill>
                <a:latin typeface="Calibri"/>
              </a:rPr>
              <a:t>Epsilon AI  ·  Data Science</a:t>
            </a:r>
            <a:r>
              <a:rPr lang="en-US" sz="1400" b="0" i="0" dirty="0">
                <a:solidFill>
                  <a:srgbClr val="B8C7DB"/>
                </a:solidFill>
                <a:latin typeface="Calibri"/>
              </a:rPr>
              <a:t> </a:t>
            </a:r>
            <a:r>
              <a:rPr lang="en-US" sz="1400" dirty="0">
                <a:solidFill>
                  <a:srgbClr val="B8C7DB"/>
                </a:solidFill>
              </a:rPr>
              <a:t>&amp; Machine learning</a:t>
            </a:r>
            <a:endParaRPr sz="1400" b="0" i="0" dirty="0">
              <a:solidFill>
                <a:srgbClr val="B8C7DB"/>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ROADMAP</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Agenda</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2</a:t>
            </a:r>
          </a:p>
        </p:txBody>
      </p:sp>
      <p:sp>
        <p:nvSpPr>
          <p:cNvPr id="6" name="Oval 5"/>
          <p:cNvSpPr/>
          <p:nvPr/>
        </p:nvSpPr>
        <p:spPr>
          <a:xfrm>
            <a:off x="822960" y="16002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7" name="TextBox 6"/>
          <p:cNvSpPr txBox="1"/>
          <p:nvPr/>
        </p:nvSpPr>
        <p:spPr>
          <a:xfrm>
            <a:off x="1600200" y="1581912"/>
            <a:ext cx="8229600" cy="365760"/>
          </a:xfrm>
          <a:prstGeom prst="rect">
            <a:avLst/>
          </a:prstGeom>
          <a:noFill/>
        </p:spPr>
        <p:txBody>
          <a:bodyPr wrap="square" lIns="0" tIns="0" rIns="0" bIns="0" anchor="t">
            <a:spAutoFit/>
          </a:bodyPr>
          <a:lstStyle/>
          <a:p>
            <a:pPr algn="l">
              <a:spcAft>
                <a:spcPts val="0"/>
              </a:spcAft>
            </a:pPr>
            <a:r>
              <a:rPr sz="2200" b="1" i="0">
                <a:solidFill>
                  <a:srgbClr val="0B1F3A"/>
                </a:solidFill>
                <a:latin typeface="Calibri"/>
              </a:rPr>
              <a:t>The domain &amp; the data</a:t>
            </a:r>
          </a:p>
        </p:txBody>
      </p:sp>
      <p:sp>
        <p:nvSpPr>
          <p:cNvPr id="8" name="TextBox 7"/>
          <p:cNvSpPr txBox="1"/>
          <p:nvPr/>
        </p:nvSpPr>
        <p:spPr>
          <a:xfrm>
            <a:off x="1600200" y="1965960"/>
            <a:ext cx="8229600" cy="32004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What the survey measures and what each column means</a:t>
            </a:r>
          </a:p>
        </p:txBody>
      </p:sp>
      <p:sp>
        <p:nvSpPr>
          <p:cNvPr id="9" name="Oval 8"/>
          <p:cNvSpPr/>
          <p:nvPr/>
        </p:nvSpPr>
        <p:spPr>
          <a:xfrm>
            <a:off x="822960" y="2514600"/>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0" name="TextBox 9"/>
          <p:cNvSpPr txBox="1"/>
          <p:nvPr/>
        </p:nvSpPr>
        <p:spPr>
          <a:xfrm>
            <a:off x="1600200" y="2496312"/>
            <a:ext cx="8229600" cy="365760"/>
          </a:xfrm>
          <a:prstGeom prst="rect">
            <a:avLst/>
          </a:prstGeom>
          <a:noFill/>
        </p:spPr>
        <p:txBody>
          <a:bodyPr wrap="square" lIns="0" tIns="0" rIns="0" bIns="0" anchor="t">
            <a:spAutoFit/>
          </a:bodyPr>
          <a:lstStyle/>
          <a:p>
            <a:pPr algn="l">
              <a:spcAft>
                <a:spcPts val="0"/>
              </a:spcAft>
            </a:pPr>
            <a:r>
              <a:rPr sz="2200" b="1" i="0">
                <a:solidFill>
                  <a:srgbClr val="0B1F3A"/>
                </a:solidFill>
                <a:latin typeface="Calibri"/>
              </a:rPr>
              <a:t>Data problems &amp; cleaning</a:t>
            </a:r>
          </a:p>
        </p:txBody>
      </p:sp>
      <p:sp>
        <p:nvSpPr>
          <p:cNvPr id="11" name="TextBox 10"/>
          <p:cNvSpPr txBox="1"/>
          <p:nvPr/>
        </p:nvSpPr>
        <p:spPr>
          <a:xfrm>
            <a:off x="1600200" y="2880360"/>
            <a:ext cx="8229600" cy="32004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What was wrong with the raw data and how it was fixed</a:t>
            </a:r>
          </a:p>
        </p:txBody>
      </p:sp>
      <p:sp>
        <p:nvSpPr>
          <p:cNvPr id="12" name="Oval 11"/>
          <p:cNvSpPr/>
          <p:nvPr/>
        </p:nvSpPr>
        <p:spPr>
          <a:xfrm>
            <a:off x="822960" y="34290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3" name="TextBox 12"/>
          <p:cNvSpPr txBox="1"/>
          <p:nvPr/>
        </p:nvSpPr>
        <p:spPr>
          <a:xfrm>
            <a:off x="1600200" y="3410712"/>
            <a:ext cx="8229600" cy="365760"/>
          </a:xfrm>
          <a:prstGeom prst="rect">
            <a:avLst/>
          </a:prstGeom>
          <a:noFill/>
        </p:spPr>
        <p:txBody>
          <a:bodyPr wrap="square" lIns="0" tIns="0" rIns="0" bIns="0" anchor="t">
            <a:spAutoFit/>
          </a:bodyPr>
          <a:lstStyle/>
          <a:p>
            <a:pPr algn="l">
              <a:spcAft>
                <a:spcPts val="0"/>
              </a:spcAft>
            </a:pPr>
            <a:r>
              <a:rPr sz="2200" b="1" i="0">
                <a:solidFill>
                  <a:srgbClr val="0B1F3A"/>
                </a:solidFill>
                <a:latin typeface="Calibri"/>
              </a:rPr>
              <a:t>Research questions</a:t>
            </a:r>
          </a:p>
        </p:txBody>
      </p:sp>
      <p:sp>
        <p:nvSpPr>
          <p:cNvPr id="14" name="TextBox 13"/>
          <p:cNvSpPr txBox="1"/>
          <p:nvPr/>
        </p:nvSpPr>
        <p:spPr>
          <a:xfrm>
            <a:off x="1600200" y="3794760"/>
            <a:ext cx="8229600" cy="32004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Six questions that guide the analysis</a:t>
            </a:r>
          </a:p>
        </p:txBody>
      </p:sp>
      <p:sp>
        <p:nvSpPr>
          <p:cNvPr id="15" name="Oval 14"/>
          <p:cNvSpPr/>
          <p:nvPr/>
        </p:nvSpPr>
        <p:spPr>
          <a:xfrm>
            <a:off x="822960" y="4343400"/>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16" name="TextBox 15"/>
          <p:cNvSpPr txBox="1"/>
          <p:nvPr/>
        </p:nvSpPr>
        <p:spPr>
          <a:xfrm>
            <a:off x="1600200" y="4325112"/>
            <a:ext cx="8229600" cy="365760"/>
          </a:xfrm>
          <a:prstGeom prst="rect">
            <a:avLst/>
          </a:prstGeom>
          <a:noFill/>
        </p:spPr>
        <p:txBody>
          <a:bodyPr wrap="square" lIns="0" tIns="0" rIns="0" bIns="0" anchor="t">
            <a:spAutoFit/>
          </a:bodyPr>
          <a:lstStyle/>
          <a:p>
            <a:pPr algn="l">
              <a:spcAft>
                <a:spcPts val="0"/>
              </a:spcAft>
            </a:pPr>
            <a:r>
              <a:rPr sz="2200" b="1" i="0">
                <a:solidFill>
                  <a:srgbClr val="0B1F3A"/>
                </a:solidFill>
                <a:latin typeface="Calibri"/>
              </a:rPr>
              <a:t>Insights</a:t>
            </a:r>
          </a:p>
        </p:txBody>
      </p:sp>
      <p:sp>
        <p:nvSpPr>
          <p:cNvPr id="17" name="TextBox 16"/>
          <p:cNvSpPr txBox="1"/>
          <p:nvPr/>
        </p:nvSpPr>
        <p:spPr>
          <a:xfrm>
            <a:off x="1600200" y="4709160"/>
            <a:ext cx="8229600" cy="32004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Who is satisfied, which services matter, delays and distance</a:t>
            </a:r>
          </a:p>
        </p:txBody>
      </p:sp>
      <p:sp>
        <p:nvSpPr>
          <p:cNvPr id="18" name="Oval 17"/>
          <p:cNvSpPr/>
          <p:nvPr/>
        </p:nvSpPr>
        <p:spPr>
          <a:xfrm>
            <a:off x="822960" y="525780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19" name="TextBox 18"/>
          <p:cNvSpPr txBox="1"/>
          <p:nvPr/>
        </p:nvSpPr>
        <p:spPr>
          <a:xfrm>
            <a:off x="1600200" y="5239512"/>
            <a:ext cx="8229600" cy="365760"/>
          </a:xfrm>
          <a:prstGeom prst="rect">
            <a:avLst/>
          </a:prstGeom>
          <a:noFill/>
        </p:spPr>
        <p:txBody>
          <a:bodyPr wrap="square" lIns="0" tIns="0" rIns="0" bIns="0" anchor="t">
            <a:spAutoFit/>
          </a:bodyPr>
          <a:lstStyle/>
          <a:p>
            <a:pPr algn="l">
              <a:spcAft>
                <a:spcPts val="0"/>
              </a:spcAft>
            </a:pPr>
            <a:r>
              <a:rPr sz="2200" b="1" i="0">
                <a:solidFill>
                  <a:srgbClr val="0B1F3A"/>
                </a:solidFill>
                <a:latin typeface="Calibri"/>
              </a:rPr>
              <a:t>Recommendations &amp; conclusion</a:t>
            </a:r>
          </a:p>
        </p:txBody>
      </p:sp>
      <p:sp>
        <p:nvSpPr>
          <p:cNvPr id="20" name="TextBox 19"/>
          <p:cNvSpPr txBox="1"/>
          <p:nvPr/>
        </p:nvSpPr>
        <p:spPr>
          <a:xfrm>
            <a:off x="1600200" y="5623560"/>
            <a:ext cx="8229600" cy="32004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What the airline should do next</a:t>
            </a:r>
          </a:p>
        </p:txBody>
      </p:sp>
      <p:sp>
        <p:nvSpPr>
          <p:cNvPr id="21" name="Oval 20"/>
          <p:cNvSpPr/>
          <p:nvPr/>
        </p:nvSpPr>
        <p:spPr>
          <a:xfrm>
            <a:off x="9144000" y="1828800"/>
            <a:ext cx="2560320" cy="2560320"/>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0" y="2606040"/>
            <a:ext cx="2560320" cy="548640"/>
          </a:xfrm>
          <a:prstGeom prst="rect">
            <a:avLst/>
          </a:prstGeom>
          <a:noFill/>
        </p:spPr>
        <p:txBody>
          <a:bodyPr wrap="square" lIns="0" tIns="0" rIns="0" bIns="0" anchor="t">
            <a:spAutoFit/>
          </a:bodyPr>
          <a:lstStyle/>
          <a:p>
            <a:pPr algn="ctr">
              <a:spcAft>
                <a:spcPts val="0"/>
              </a:spcAft>
            </a:pPr>
            <a:r>
              <a:rPr sz="4800" b="1" i="0">
                <a:solidFill>
                  <a:srgbClr val="2A78D6"/>
                </a:solidFill>
                <a:latin typeface="Cambria"/>
              </a:rPr>
              <a:t>6</a:t>
            </a:r>
          </a:p>
        </p:txBody>
      </p:sp>
      <p:sp>
        <p:nvSpPr>
          <p:cNvPr id="23" name="TextBox 22"/>
          <p:cNvSpPr txBox="1"/>
          <p:nvPr/>
        </p:nvSpPr>
        <p:spPr>
          <a:xfrm>
            <a:off x="9144000" y="3291840"/>
            <a:ext cx="2560320" cy="365760"/>
          </a:xfrm>
          <a:prstGeom prst="rect">
            <a:avLst/>
          </a:prstGeom>
          <a:noFill/>
        </p:spPr>
        <p:txBody>
          <a:bodyPr wrap="square" lIns="0" tIns="0" rIns="0" bIns="0" anchor="t">
            <a:spAutoFit/>
          </a:bodyPr>
          <a:lstStyle/>
          <a:p>
            <a:pPr algn="ctr">
              <a:spcAft>
                <a:spcPts val="0"/>
              </a:spcAft>
            </a:pPr>
            <a:r>
              <a:rPr sz="1400" b="0" i="0">
                <a:solidFill>
                  <a:srgbClr val="0B1F3A"/>
                </a:solidFill>
                <a:latin typeface="Calibri"/>
              </a:rPr>
              <a:t>questions answered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THE DOMAIN &amp; THE DATA</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The domain: airline customer experience</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3</a:t>
            </a:r>
          </a:p>
        </p:txBody>
      </p:sp>
      <p:sp>
        <p:nvSpPr>
          <p:cNvPr id="6" name="TextBox 5"/>
          <p:cNvSpPr txBox="1"/>
          <p:nvPr/>
        </p:nvSpPr>
        <p:spPr>
          <a:xfrm>
            <a:off x="548640" y="1508760"/>
            <a:ext cx="5120640" cy="3200400"/>
          </a:xfrm>
          <a:prstGeom prst="rect">
            <a:avLst/>
          </a:prstGeom>
          <a:noFill/>
        </p:spPr>
        <p:txBody>
          <a:bodyPr wrap="square" lIns="0" tIns="0" rIns="0" bIns="0" anchor="t">
            <a:spAutoFit/>
          </a:bodyPr>
          <a:lstStyle/>
          <a:p>
            <a:pPr algn="l">
              <a:spcAft>
                <a:spcPts val="1400"/>
              </a:spcAft>
            </a:pPr>
            <a:r>
              <a:rPr sz="1600" b="0" i="0">
                <a:solidFill>
                  <a:srgbClr val="1B1F24"/>
                </a:solidFill>
                <a:latin typeface="Calibri"/>
              </a:rPr>
              <a:t>Airlines compete on experience. A dissatisfied passenger is likely to book with a competitor next time.</a:t>
            </a:r>
          </a:p>
          <a:p>
            <a:pPr algn="l">
              <a:spcAft>
                <a:spcPts val="800"/>
              </a:spcAft>
            </a:pPr>
            <a:r>
              <a:rPr sz="1600" b="0" i="0">
                <a:solidFill>
                  <a:srgbClr val="1B1F24"/>
                </a:solidFill>
                <a:latin typeface="Calibri"/>
              </a:rPr>
              <a:t>This survey records, for each passenger:</a:t>
            </a:r>
          </a:p>
          <a:p>
            <a:pPr algn="l">
              <a:spcAft>
                <a:spcPts val="600"/>
              </a:spcAft>
            </a:pPr>
            <a:r>
              <a:rPr sz="1600" b="1" i="0">
                <a:solidFill>
                  <a:srgbClr val="2A78D6"/>
                </a:solidFill>
                <a:latin typeface="Calibri"/>
              </a:rPr>
              <a:t>Who </a:t>
            </a:r>
            <a:r>
              <a:rPr sz="1600" b="0" i="0">
                <a:solidFill>
                  <a:srgbClr val="1B1F24"/>
                </a:solidFill>
                <a:latin typeface="Calibri"/>
              </a:rPr>
              <a:t>they are — gender, age, loyalty</a:t>
            </a:r>
          </a:p>
          <a:p>
            <a:pPr algn="l">
              <a:spcAft>
                <a:spcPts val="600"/>
              </a:spcAft>
            </a:pPr>
            <a:r>
              <a:rPr sz="1600" b="1" i="0">
                <a:solidFill>
                  <a:srgbClr val="2A78D6"/>
                </a:solidFill>
                <a:latin typeface="Calibri"/>
              </a:rPr>
              <a:t>How </a:t>
            </a:r>
            <a:r>
              <a:rPr sz="1600" b="0" i="0">
                <a:solidFill>
                  <a:srgbClr val="1B1F24"/>
                </a:solidFill>
                <a:latin typeface="Calibri"/>
              </a:rPr>
              <a:t>they travelled — purpose, class, distance, delays</a:t>
            </a:r>
          </a:p>
          <a:p>
            <a:pPr algn="l">
              <a:spcAft>
                <a:spcPts val="600"/>
              </a:spcAft>
            </a:pPr>
            <a:r>
              <a:rPr sz="1600" b="1" i="0">
                <a:solidFill>
                  <a:srgbClr val="2A78D6"/>
                </a:solidFill>
                <a:latin typeface="Calibri"/>
              </a:rPr>
              <a:t>What </a:t>
            </a:r>
            <a:r>
              <a:rPr sz="1600" b="0" i="0">
                <a:solidFill>
                  <a:srgbClr val="1B1F24"/>
                </a:solidFill>
                <a:latin typeface="Calibri"/>
              </a:rPr>
              <a:t>they thought — 14 service ratings (1–5)</a:t>
            </a:r>
          </a:p>
          <a:p>
            <a:pPr algn="l">
              <a:spcAft>
                <a:spcPts val="0"/>
              </a:spcAft>
            </a:pPr>
            <a:r>
              <a:rPr sz="1600" b="1" i="0">
                <a:solidFill>
                  <a:srgbClr val="2A78D6"/>
                </a:solidFill>
                <a:latin typeface="Calibri"/>
              </a:rPr>
              <a:t>Overall </a:t>
            </a:r>
            <a:r>
              <a:rPr sz="1600" b="0" i="0">
                <a:solidFill>
                  <a:srgbClr val="1B1F24"/>
                </a:solidFill>
                <a:latin typeface="Calibri"/>
              </a:rPr>
              <a:t>satisfaction — the target</a:t>
            </a:r>
          </a:p>
        </p:txBody>
      </p:sp>
      <p:sp>
        <p:nvSpPr>
          <p:cNvPr id="7" name="Rounded Rectangle 6"/>
          <p:cNvSpPr/>
          <p:nvPr/>
        </p:nvSpPr>
        <p:spPr>
          <a:xfrm>
            <a:off x="6309360" y="1600200"/>
            <a:ext cx="246888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1920240"/>
            <a:ext cx="2468880" cy="822960"/>
          </a:xfrm>
          <a:prstGeom prst="rect">
            <a:avLst/>
          </a:prstGeom>
          <a:noFill/>
        </p:spPr>
        <p:txBody>
          <a:bodyPr wrap="square" lIns="0" tIns="0" rIns="0" bIns="0" anchor="t">
            <a:spAutoFit/>
          </a:bodyPr>
          <a:lstStyle/>
          <a:p>
            <a:pPr algn="ctr">
              <a:spcAft>
                <a:spcPts val="0"/>
              </a:spcAft>
            </a:pPr>
            <a:r>
              <a:rPr sz="4400" b="1" i="0">
                <a:solidFill>
                  <a:srgbClr val="0B1F3A"/>
                </a:solidFill>
                <a:latin typeface="Cambria"/>
              </a:rPr>
              <a:t>25,976</a:t>
            </a:r>
          </a:p>
        </p:txBody>
      </p:sp>
      <p:sp>
        <p:nvSpPr>
          <p:cNvPr id="9" name="TextBox 8"/>
          <p:cNvSpPr txBox="1"/>
          <p:nvPr/>
        </p:nvSpPr>
        <p:spPr>
          <a:xfrm>
            <a:off x="6492240" y="2834640"/>
            <a:ext cx="2103120" cy="457200"/>
          </a:xfrm>
          <a:prstGeom prst="rect">
            <a:avLst/>
          </a:prstGeom>
          <a:noFill/>
        </p:spPr>
        <p:txBody>
          <a:bodyPr wrap="square" lIns="0" tIns="0" rIns="0" bIns="0" anchor="t">
            <a:spAutoFit/>
          </a:bodyPr>
          <a:lstStyle/>
          <a:p>
            <a:pPr algn="ctr">
              <a:spcAft>
                <a:spcPts val="0"/>
              </a:spcAft>
            </a:pPr>
            <a:r>
              <a:rPr sz="1400" b="0" i="0">
                <a:solidFill>
                  <a:srgbClr val="5B636E"/>
                </a:solidFill>
                <a:latin typeface="Calibri"/>
              </a:rPr>
              <a:t>passengers surveyed</a:t>
            </a:r>
          </a:p>
        </p:txBody>
      </p:sp>
      <p:sp>
        <p:nvSpPr>
          <p:cNvPr id="10" name="Rounded Rectangle 9"/>
          <p:cNvSpPr/>
          <p:nvPr/>
        </p:nvSpPr>
        <p:spPr>
          <a:xfrm>
            <a:off x="9052560" y="1600200"/>
            <a:ext cx="246888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0" y="1920240"/>
            <a:ext cx="2468880" cy="822960"/>
          </a:xfrm>
          <a:prstGeom prst="rect">
            <a:avLst/>
          </a:prstGeom>
          <a:noFill/>
        </p:spPr>
        <p:txBody>
          <a:bodyPr wrap="square" lIns="0" tIns="0" rIns="0" bIns="0" anchor="t">
            <a:spAutoFit/>
          </a:bodyPr>
          <a:lstStyle/>
          <a:p>
            <a:pPr algn="ctr">
              <a:spcAft>
                <a:spcPts val="0"/>
              </a:spcAft>
            </a:pPr>
            <a:r>
              <a:rPr sz="4400" b="1" i="0">
                <a:solidFill>
                  <a:srgbClr val="0B1F3A"/>
                </a:solidFill>
                <a:latin typeface="Cambria"/>
              </a:rPr>
              <a:t>25</a:t>
            </a:r>
          </a:p>
        </p:txBody>
      </p:sp>
      <p:sp>
        <p:nvSpPr>
          <p:cNvPr id="12" name="TextBox 11"/>
          <p:cNvSpPr txBox="1"/>
          <p:nvPr/>
        </p:nvSpPr>
        <p:spPr>
          <a:xfrm>
            <a:off x="9235440" y="2834640"/>
            <a:ext cx="2103120" cy="457200"/>
          </a:xfrm>
          <a:prstGeom prst="rect">
            <a:avLst/>
          </a:prstGeom>
          <a:noFill/>
        </p:spPr>
        <p:txBody>
          <a:bodyPr wrap="square" lIns="0" tIns="0" rIns="0" bIns="0" anchor="t">
            <a:spAutoFit/>
          </a:bodyPr>
          <a:lstStyle/>
          <a:p>
            <a:pPr algn="ctr">
              <a:spcAft>
                <a:spcPts val="0"/>
              </a:spcAft>
            </a:pPr>
            <a:r>
              <a:rPr sz="1400" b="0" i="0">
                <a:solidFill>
                  <a:srgbClr val="5B636E"/>
                </a:solidFill>
                <a:latin typeface="Calibri"/>
              </a:rPr>
              <a:t>columns in the raw file</a:t>
            </a:r>
          </a:p>
        </p:txBody>
      </p:sp>
      <p:sp>
        <p:nvSpPr>
          <p:cNvPr id="13" name="Rounded Rectangle 12"/>
          <p:cNvSpPr/>
          <p:nvPr/>
        </p:nvSpPr>
        <p:spPr>
          <a:xfrm>
            <a:off x="6309360" y="3794760"/>
            <a:ext cx="246888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4114800"/>
            <a:ext cx="2468880" cy="822960"/>
          </a:xfrm>
          <a:prstGeom prst="rect">
            <a:avLst/>
          </a:prstGeom>
          <a:noFill/>
        </p:spPr>
        <p:txBody>
          <a:bodyPr wrap="square" lIns="0" tIns="0" rIns="0" bIns="0" anchor="t">
            <a:spAutoFit/>
          </a:bodyPr>
          <a:lstStyle/>
          <a:p>
            <a:pPr algn="ctr">
              <a:spcAft>
                <a:spcPts val="0"/>
              </a:spcAft>
            </a:pPr>
            <a:r>
              <a:rPr sz="4400" b="1" i="0">
                <a:solidFill>
                  <a:srgbClr val="0B1F3A"/>
                </a:solidFill>
                <a:latin typeface="Cambria"/>
              </a:rPr>
              <a:t>14</a:t>
            </a:r>
          </a:p>
        </p:txBody>
      </p:sp>
      <p:sp>
        <p:nvSpPr>
          <p:cNvPr id="15" name="TextBox 14"/>
          <p:cNvSpPr txBox="1"/>
          <p:nvPr/>
        </p:nvSpPr>
        <p:spPr>
          <a:xfrm>
            <a:off x="6492240" y="5029200"/>
            <a:ext cx="2103120" cy="457200"/>
          </a:xfrm>
          <a:prstGeom prst="rect">
            <a:avLst/>
          </a:prstGeom>
          <a:noFill/>
        </p:spPr>
        <p:txBody>
          <a:bodyPr wrap="square" lIns="0" tIns="0" rIns="0" bIns="0" anchor="t">
            <a:spAutoFit/>
          </a:bodyPr>
          <a:lstStyle/>
          <a:p>
            <a:pPr algn="ctr">
              <a:spcAft>
                <a:spcPts val="0"/>
              </a:spcAft>
            </a:pPr>
            <a:r>
              <a:rPr sz="1400" b="0" i="0">
                <a:solidFill>
                  <a:srgbClr val="5B636E"/>
                </a:solidFill>
                <a:latin typeface="Calibri"/>
              </a:rPr>
              <a:t>services rated 1–5</a:t>
            </a:r>
          </a:p>
        </p:txBody>
      </p:sp>
      <p:sp>
        <p:nvSpPr>
          <p:cNvPr id="16" name="Rounded Rectangle 15"/>
          <p:cNvSpPr/>
          <p:nvPr/>
        </p:nvSpPr>
        <p:spPr>
          <a:xfrm>
            <a:off x="9052560" y="3794760"/>
            <a:ext cx="246888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52560" y="4114800"/>
            <a:ext cx="2468880" cy="822960"/>
          </a:xfrm>
          <a:prstGeom prst="rect">
            <a:avLst/>
          </a:prstGeom>
          <a:noFill/>
        </p:spPr>
        <p:txBody>
          <a:bodyPr wrap="square" lIns="0" tIns="0" rIns="0" bIns="0" anchor="t">
            <a:spAutoFit/>
          </a:bodyPr>
          <a:lstStyle/>
          <a:p>
            <a:pPr algn="ctr">
              <a:spcAft>
                <a:spcPts val="0"/>
              </a:spcAft>
            </a:pPr>
            <a:r>
              <a:rPr sz="4400" b="1" i="0">
                <a:solidFill>
                  <a:srgbClr val="0B1F3A"/>
                </a:solidFill>
                <a:latin typeface="Cambria"/>
              </a:rPr>
              <a:t>2</a:t>
            </a:r>
          </a:p>
        </p:txBody>
      </p:sp>
      <p:sp>
        <p:nvSpPr>
          <p:cNvPr id="18" name="TextBox 17"/>
          <p:cNvSpPr txBox="1"/>
          <p:nvPr/>
        </p:nvSpPr>
        <p:spPr>
          <a:xfrm>
            <a:off x="9235440" y="5029200"/>
            <a:ext cx="2103120" cy="457200"/>
          </a:xfrm>
          <a:prstGeom prst="rect">
            <a:avLst/>
          </a:prstGeom>
          <a:noFill/>
        </p:spPr>
        <p:txBody>
          <a:bodyPr wrap="square" lIns="0" tIns="0" rIns="0" bIns="0" anchor="t">
            <a:spAutoFit/>
          </a:bodyPr>
          <a:lstStyle/>
          <a:p>
            <a:pPr algn="ctr">
              <a:spcAft>
                <a:spcPts val="0"/>
              </a:spcAft>
            </a:pPr>
            <a:r>
              <a:rPr sz="1400" b="0" i="0">
                <a:solidFill>
                  <a:srgbClr val="5B636E"/>
                </a:solidFill>
                <a:latin typeface="Calibri"/>
              </a:rPr>
              <a:t>target classes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THE DOMAIN &amp; THE DATA</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What do the columns represent?</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4</a:t>
            </a:r>
          </a:p>
        </p:txBody>
      </p:sp>
      <p:sp>
        <p:nvSpPr>
          <p:cNvPr id="6" name="Rounded Rectangle 5"/>
          <p:cNvSpPr/>
          <p:nvPr/>
        </p:nvSpPr>
        <p:spPr>
          <a:xfrm>
            <a:off x="548640" y="1554480"/>
            <a:ext cx="2697480" cy="452628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783080"/>
            <a:ext cx="274320" cy="2743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19" y="1764792"/>
            <a:ext cx="1920240" cy="64008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Passenger profile</a:t>
            </a:r>
          </a:p>
        </p:txBody>
      </p:sp>
      <p:sp>
        <p:nvSpPr>
          <p:cNvPr id="9" name="TextBox 8"/>
          <p:cNvSpPr txBox="1"/>
          <p:nvPr/>
        </p:nvSpPr>
        <p:spPr>
          <a:xfrm>
            <a:off x="777240" y="2606040"/>
            <a:ext cx="2286000" cy="3383280"/>
          </a:xfrm>
          <a:prstGeom prst="rect">
            <a:avLst/>
          </a:prstGeom>
          <a:noFill/>
        </p:spPr>
        <p:txBody>
          <a:bodyPr wrap="square" lIns="0" tIns="0" rIns="0" bIns="0" anchor="t">
            <a:spAutoFit/>
          </a:bodyPr>
          <a:lstStyle/>
          <a:p>
            <a:pPr algn="l">
              <a:spcAft>
                <a:spcPts val="1000"/>
              </a:spcAft>
            </a:pPr>
            <a:r>
              <a:rPr sz="1400" b="0" i="0">
                <a:solidFill>
                  <a:srgbClr val="1B1F24"/>
                </a:solidFill>
                <a:latin typeface="Calibri"/>
              </a:rPr>
              <a:t>id — unique passenger id</a:t>
            </a:r>
          </a:p>
          <a:p>
            <a:pPr algn="l">
              <a:spcAft>
                <a:spcPts val="1000"/>
              </a:spcAft>
            </a:pPr>
            <a:r>
              <a:rPr sz="1400" b="0" i="0">
                <a:solidFill>
                  <a:srgbClr val="1B1F24"/>
                </a:solidFill>
                <a:latin typeface="Calibri"/>
              </a:rPr>
              <a:t>Gender — Female / Male</a:t>
            </a:r>
          </a:p>
          <a:p>
            <a:pPr algn="l">
              <a:spcAft>
                <a:spcPts val="1000"/>
              </a:spcAft>
            </a:pPr>
            <a:r>
              <a:rPr sz="1400" b="0" i="0">
                <a:solidFill>
                  <a:srgbClr val="1B1F24"/>
                </a:solidFill>
                <a:latin typeface="Calibri"/>
              </a:rPr>
              <a:t>Customer Type — loyal / disloyal</a:t>
            </a:r>
          </a:p>
          <a:p>
            <a:pPr algn="l">
              <a:spcAft>
                <a:spcPts val="1000"/>
              </a:spcAft>
            </a:pPr>
            <a:r>
              <a:rPr sz="1400" b="0" i="0">
                <a:solidFill>
                  <a:srgbClr val="1B1F24"/>
                </a:solidFill>
                <a:latin typeface="Calibri"/>
              </a:rPr>
              <a:t>Age — 7 to 85 years</a:t>
            </a:r>
          </a:p>
        </p:txBody>
      </p:sp>
      <p:sp>
        <p:nvSpPr>
          <p:cNvPr id="10" name="Rounded Rectangle 9"/>
          <p:cNvSpPr/>
          <p:nvPr/>
        </p:nvSpPr>
        <p:spPr>
          <a:xfrm>
            <a:off x="3447288" y="1554480"/>
            <a:ext cx="2788920" cy="452628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75888" y="1783080"/>
            <a:ext cx="274320" cy="2743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7368" y="1764792"/>
            <a:ext cx="2011679" cy="64008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Trip details</a:t>
            </a:r>
          </a:p>
        </p:txBody>
      </p:sp>
      <p:sp>
        <p:nvSpPr>
          <p:cNvPr id="13" name="TextBox 12"/>
          <p:cNvSpPr txBox="1"/>
          <p:nvPr/>
        </p:nvSpPr>
        <p:spPr>
          <a:xfrm>
            <a:off x="3675888" y="2606040"/>
            <a:ext cx="2377439" cy="3383280"/>
          </a:xfrm>
          <a:prstGeom prst="rect">
            <a:avLst/>
          </a:prstGeom>
          <a:noFill/>
        </p:spPr>
        <p:txBody>
          <a:bodyPr wrap="square" lIns="0" tIns="0" rIns="0" bIns="0" anchor="t">
            <a:spAutoFit/>
          </a:bodyPr>
          <a:lstStyle/>
          <a:p>
            <a:pPr algn="l">
              <a:spcAft>
                <a:spcPts val="1000"/>
              </a:spcAft>
            </a:pPr>
            <a:r>
              <a:rPr sz="1400" b="0" i="0">
                <a:solidFill>
                  <a:srgbClr val="1B1F24"/>
                </a:solidFill>
                <a:latin typeface="Calibri"/>
              </a:rPr>
              <a:t>Type of Travel — business / personal</a:t>
            </a:r>
          </a:p>
          <a:p>
            <a:pPr algn="l">
              <a:spcAft>
                <a:spcPts val="1000"/>
              </a:spcAft>
            </a:pPr>
            <a:r>
              <a:rPr sz="1400" b="0" i="0">
                <a:solidFill>
                  <a:srgbClr val="1B1F24"/>
                </a:solidFill>
                <a:latin typeface="Calibri"/>
              </a:rPr>
              <a:t>Class — Business, Eco, Eco Plus</a:t>
            </a:r>
          </a:p>
          <a:p>
            <a:pPr algn="l">
              <a:spcAft>
                <a:spcPts val="1000"/>
              </a:spcAft>
            </a:pPr>
            <a:r>
              <a:rPr sz="1400" b="0" i="0">
                <a:solidFill>
                  <a:srgbClr val="1B1F24"/>
                </a:solidFill>
                <a:latin typeface="Calibri"/>
              </a:rPr>
              <a:t>Flight Distance — miles</a:t>
            </a:r>
          </a:p>
          <a:p>
            <a:pPr algn="l">
              <a:spcAft>
                <a:spcPts val="1000"/>
              </a:spcAft>
            </a:pPr>
            <a:r>
              <a:rPr sz="1400" b="0" i="0">
                <a:solidFill>
                  <a:srgbClr val="1B1F24"/>
                </a:solidFill>
                <a:latin typeface="Calibri"/>
              </a:rPr>
              <a:t>Departure &amp; Arrival Delay — minutes</a:t>
            </a:r>
          </a:p>
        </p:txBody>
      </p:sp>
      <p:sp>
        <p:nvSpPr>
          <p:cNvPr id="14" name="Rounded Rectangle 13"/>
          <p:cNvSpPr/>
          <p:nvPr/>
        </p:nvSpPr>
        <p:spPr>
          <a:xfrm>
            <a:off x="6437376" y="1554480"/>
            <a:ext cx="3337560" cy="452628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665976" y="1783080"/>
            <a:ext cx="274320" cy="2743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77456" y="1764792"/>
            <a:ext cx="2560320" cy="64008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Service ratings (1–5, 0 = N/A)</a:t>
            </a:r>
          </a:p>
        </p:txBody>
      </p:sp>
      <p:sp>
        <p:nvSpPr>
          <p:cNvPr id="17" name="TextBox 16"/>
          <p:cNvSpPr txBox="1"/>
          <p:nvPr/>
        </p:nvSpPr>
        <p:spPr>
          <a:xfrm>
            <a:off x="6665976" y="2606040"/>
            <a:ext cx="2926079" cy="3383280"/>
          </a:xfrm>
          <a:prstGeom prst="rect">
            <a:avLst/>
          </a:prstGeom>
          <a:noFill/>
        </p:spPr>
        <p:txBody>
          <a:bodyPr wrap="square" lIns="0" tIns="0" rIns="0" bIns="0" anchor="t">
            <a:spAutoFit/>
          </a:bodyPr>
          <a:lstStyle/>
          <a:p>
            <a:pPr algn="l">
              <a:spcAft>
                <a:spcPts val="1000"/>
              </a:spcAft>
            </a:pPr>
            <a:r>
              <a:rPr sz="1400" b="0" i="0">
                <a:solidFill>
                  <a:srgbClr val="1B1F24"/>
                </a:solidFill>
                <a:latin typeface="Calibri"/>
              </a:rPr>
              <a:t>Wifi · Time convenience · Online booking</a:t>
            </a:r>
          </a:p>
          <a:p>
            <a:pPr algn="l">
              <a:spcAft>
                <a:spcPts val="1000"/>
              </a:spcAft>
            </a:pPr>
            <a:r>
              <a:rPr sz="1400" b="0" i="0">
                <a:solidFill>
                  <a:srgbClr val="1B1F24"/>
                </a:solidFill>
                <a:latin typeface="Calibri"/>
              </a:rPr>
              <a:t>Gate location · Food &amp; drink</a:t>
            </a:r>
          </a:p>
          <a:p>
            <a:pPr algn="l">
              <a:spcAft>
                <a:spcPts val="1000"/>
              </a:spcAft>
            </a:pPr>
            <a:r>
              <a:rPr sz="1400" b="0" i="0">
                <a:solidFill>
                  <a:srgbClr val="1B1F24"/>
                </a:solidFill>
                <a:latin typeface="Calibri"/>
              </a:rPr>
              <a:t>Online boarding · Seat comfort</a:t>
            </a:r>
          </a:p>
          <a:p>
            <a:pPr algn="l">
              <a:spcAft>
                <a:spcPts val="1000"/>
              </a:spcAft>
            </a:pPr>
            <a:r>
              <a:rPr sz="1400" b="0" i="0">
                <a:solidFill>
                  <a:srgbClr val="1B1F24"/>
                </a:solidFill>
                <a:latin typeface="Calibri"/>
              </a:rPr>
              <a:t>Entertainment · On-board service</a:t>
            </a:r>
          </a:p>
          <a:p>
            <a:pPr algn="l">
              <a:spcAft>
                <a:spcPts val="1000"/>
              </a:spcAft>
            </a:pPr>
            <a:r>
              <a:rPr sz="1400" b="0" i="0">
                <a:solidFill>
                  <a:srgbClr val="1B1F24"/>
                </a:solidFill>
                <a:latin typeface="Calibri"/>
              </a:rPr>
              <a:t>Leg room · Baggage · Check-in</a:t>
            </a:r>
          </a:p>
          <a:p>
            <a:pPr algn="l">
              <a:spcAft>
                <a:spcPts val="1000"/>
              </a:spcAft>
            </a:pPr>
            <a:r>
              <a:rPr sz="1400" b="0" i="0">
                <a:solidFill>
                  <a:srgbClr val="1B1F24"/>
                </a:solidFill>
                <a:latin typeface="Calibri"/>
              </a:rPr>
              <a:t>Inflight service · Cleanliness</a:t>
            </a:r>
          </a:p>
        </p:txBody>
      </p:sp>
      <p:sp>
        <p:nvSpPr>
          <p:cNvPr id="18" name="Rounded Rectangle 17"/>
          <p:cNvSpPr/>
          <p:nvPr/>
        </p:nvSpPr>
        <p:spPr>
          <a:xfrm>
            <a:off x="9976104" y="1554480"/>
            <a:ext cx="1920240" cy="452628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204704" y="1783080"/>
            <a:ext cx="274320" cy="2743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16184" y="1764792"/>
            <a:ext cx="1143000" cy="64008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Target</a:t>
            </a:r>
          </a:p>
        </p:txBody>
      </p:sp>
      <p:sp>
        <p:nvSpPr>
          <p:cNvPr id="21" name="TextBox 20"/>
          <p:cNvSpPr txBox="1"/>
          <p:nvPr/>
        </p:nvSpPr>
        <p:spPr>
          <a:xfrm>
            <a:off x="10204704" y="2606040"/>
            <a:ext cx="1508760" cy="3383280"/>
          </a:xfrm>
          <a:prstGeom prst="rect">
            <a:avLst/>
          </a:prstGeom>
          <a:noFill/>
        </p:spPr>
        <p:txBody>
          <a:bodyPr wrap="square" lIns="0" tIns="0" rIns="0" bIns="0" anchor="t">
            <a:spAutoFit/>
          </a:bodyPr>
          <a:lstStyle/>
          <a:p>
            <a:pPr algn="l">
              <a:spcAft>
                <a:spcPts val="1000"/>
              </a:spcAft>
            </a:pPr>
            <a:r>
              <a:rPr sz="1400" b="0" i="0">
                <a:solidFill>
                  <a:srgbClr val="1B1F24"/>
                </a:solidFill>
                <a:latin typeface="Calibri"/>
              </a:rPr>
              <a:t>satisfaction —</a:t>
            </a:r>
          </a:p>
          <a:p>
            <a:pPr algn="l">
              <a:spcAft>
                <a:spcPts val="1000"/>
              </a:spcAft>
            </a:pPr>
            <a:r>
              <a:rPr sz="1400" b="0" i="0">
                <a:solidFill>
                  <a:srgbClr val="1B1F24"/>
                </a:solidFill>
                <a:latin typeface="Calibri"/>
              </a:rPr>
              <a:t>satisfied  or</a:t>
            </a:r>
          </a:p>
          <a:p>
            <a:pPr algn="l">
              <a:spcAft>
                <a:spcPts val="1000"/>
              </a:spcAft>
            </a:pPr>
            <a:r>
              <a:rPr sz="1400" b="0" i="0">
                <a:solidFill>
                  <a:srgbClr val="1B1F24"/>
                </a:solidFill>
                <a:latin typeface="Calibri"/>
              </a:rPr>
              <a:t>neutral or dissatisfied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DATA QUALITY</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Problems found in the raw data</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5</a:t>
            </a:r>
          </a:p>
        </p:txBody>
      </p:sp>
      <p:sp>
        <p:nvSpPr>
          <p:cNvPr id="6" name="Rounded Rectangle 5"/>
          <p:cNvSpPr/>
          <p:nvPr/>
        </p:nvSpPr>
        <p:spPr>
          <a:xfrm>
            <a:off x="548640" y="160020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82880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83</a:t>
            </a:r>
          </a:p>
        </p:txBody>
      </p:sp>
      <p:sp>
        <p:nvSpPr>
          <p:cNvPr id="8" name="TextBox 7"/>
          <p:cNvSpPr txBox="1"/>
          <p:nvPr/>
        </p:nvSpPr>
        <p:spPr>
          <a:xfrm>
            <a:off x="822959" y="2496312"/>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missing values</a:t>
            </a:r>
          </a:p>
        </p:txBody>
      </p:sp>
      <p:sp>
        <p:nvSpPr>
          <p:cNvPr id="9" name="TextBox 8"/>
          <p:cNvSpPr txBox="1"/>
          <p:nvPr/>
        </p:nvSpPr>
        <p:spPr>
          <a:xfrm>
            <a:off x="822959" y="286207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in Arrival Delay — also stored as float</a:t>
            </a:r>
          </a:p>
        </p:txBody>
      </p:sp>
      <p:sp>
        <p:nvSpPr>
          <p:cNvPr id="10" name="Rounded Rectangle 9"/>
          <p:cNvSpPr/>
          <p:nvPr/>
        </p:nvSpPr>
        <p:spPr>
          <a:xfrm>
            <a:off x="4297679" y="160020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1999" y="182880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4,202</a:t>
            </a:r>
          </a:p>
        </p:txBody>
      </p:sp>
      <p:sp>
        <p:nvSpPr>
          <p:cNvPr id="12" name="TextBox 11"/>
          <p:cNvSpPr txBox="1"/>
          <p:nvPr/>
        </p:nvSpPr>
        <p:spPr>
          <a:xfrm>
            <a:off x="4571999" y="2496312"/>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'0' ratings</a:t>
            </a:r>
          </a:p>
        </p:txBody>
      </p:sp>
      <p:sp>
        <p:nvSpPr>
          <p:cNvPr id="13" name="TextBox 12"/>
          <p:cNvSpPr txBox="1"/>
          <p:nvPr/>
        </p:nvSpPr>
        <p:spPr>
          <a:xfrm>
            <a:off x="4571999" y="286207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0 = 'Not Applicable', outside the 1–5 scale; would drag averages down</a:t>
            </a:r>
          </a:p>
        </p:txBody>
      </p:sp>
      <p:sp>
        <p:nvSpPr>
          <p:cNvPr id="14" name="Rounded Rectangle 13"/>
          <p:cNvSpPr/>
          <p:nvPr/>
        </p:nvSpPr>
        <p:spPr>
          <a:xfrm>
            <a:off x="8046719" y="160020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182880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4</a:t>
            </a:r>
          </a:p>
        </p:txBody>
      </p:sp>
      <p:sp>
        <p:nvSpPr>
          <p:cNvPr id="16" name="TextBox 15"/>
          <p:cNvSpPr txBox="1"/>
          <p:nvPr/>
        </p:nvSpPr>
        <p:spPr>
          <a:xfrm>
            <a:off x="8321040" y="2496312"/>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inconsistent columns</a:t>
            </a:r>
          </a:p>
        </p:txBody>
      </p:sp>
      <p:sp>
        <p:nvSpPr>
          <p:cNvPr id="17" name="TextBox 16"/>
          <p:cNvSpPr txBox="1"/>
          <p:nvPr/>
        </p:nvSpPr>
        <p:spPr>
          <a:xfrm>
            <a:off x="8321040" y="286207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'disloyal Customer', 'Business travel', 'Eco', lower-case target</a:t>
            </a:r>
          </a:p>
        </p:txBody>
      </p:sp>
      <p:sp>
        <p:nvSpPr>
          <p:cNvPr id="18" name="Rounded Rectangle 17"/>
          <p:cNvSpPr/>
          <p:nvPr/>
        </p:nvSpPr>
        <p:spPr>
          <a:xfrm>
            <a:off x="548640" y="393192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59" y="416052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1</a:t>
            </a:r>
          </a:p>
        </p:txBody>
      </p:sp>
      <p:sp>
        <p:nvSpPr>
          <p:cNvPr id="20" name="TextBox 19"/>
          <p:cNvSpPr txBox="1"/>
          <p:nvPr/>
        </p:nvSpPr>
        <p:spPr>
          <a:xfrm>
            <a:off x="822959" y="4828031"/>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useless column</a:t>
            </a:r>
          </a:p>
        </p:txBody>
      </p:sp>
      <p:sp>
        <p:nvSpPr>
          <p:cNvPr id="21" name="TextBox 20"/>
          <p:cNvSpPr txBox="1"/>
          <p:nvPr/>
        </p:nvSpPr>
        <p:spPr>
          <a:xfrm>
            <a:off x="822959" y="519379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'Unnamed: 0' — a leftover row index</a:t>
            </a:r>
          </a:p>
        </p:txBody>
      </p:sp>
      <p:sp>
        <p:nvSpPr>
          <p:cNvPr id="22" name="Rounded Rectangle 21"/>
          <p:cNvSpPr/>
          <p:nvPr/>
        </p:nvSpPr>
        <p:spPr>
          <a:xfrm>
            <a:off x="4297679" y="393192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1999" y="416052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3,538</a:t>
            </a:r>
          </a:p>
        </p:txBody>
      </p:sp>
      <p:sp>
        <p:nvSpPr>
          <p:cNvPr id="24" name="TextBox 23"/>
          <p:cNvSpPr txBox="1"/>
          <p:nvPr/>
        </p:nvSpPr>
        <p:spPr>
          <a:xfrm>
            <a:off x="4571999" y="4828031"/>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delay outliers</a:t>
            </a:r>
          </a:p>
        </p:txBody>
      </p:sp>
      <p:sp>
        <p:nvSpPr>
          <p:cNvPr id="25" name="TextBox 24"/>
          <p:cNvSpPr txBox="1"/>
          <p:nvPr/>
        </p:nvSpPr>
        <p:spPr>
          <a:xfrm>
            <a:off x="4571999" y="519379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Up to 1,128 min; verified as genuine (r = 0.96 between delays)</a:t>
            </a:r>
          </a:p>
        </p:txBody>
      </p:sp>
      <p:sp>
        <p:nvSpPr>
          <p:cNvPr id="26" name="Rounded Rectangle 25"/>
          <p:cNvSpPr/>
          <p:nvPr/>
        </p:nvSpPr>
        <p:spPr>
          <a:xfrm>
            <a:off x="8046719" y="3931920"/>
            <a:ext cx="3520440" cy="2057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4160520"/>
            <a:ext cx="3017520" cy="640080"/>
          </a:xfrm>
          <a:prstGeom prst="rect">
            <a:avLst/>
          </a:prstGeom>
          <a:noFill/>
        </p:spPr>
        <p:txBody>
          <a:bodyPr wrap="square" lIns="0" tIns="0" rIns="0" bIns="0" anchor="t">
            <a:spAutoFit/>
          </a:bodyPr>
          <a:lstStyle/>
          <a:p>
            <a:pPr algn="l">
              <a:spcAft>
                <a:spcPts val="0"/>
              </a:spcAft>
            </a:pPr>
            <a:r>
              <a:rPr sz="3600" b="1" i="0">
                <a:solidFill>
                  <a:srgbClr val="EB6834"/>
                </a:solidFill>
                <a:latin typeface="Cambria"/>
              </a:rPr>
              <a:t>14</a:t>
            </a:r>
          </a:p>
        </p:txBody>
      </p:sp>
      <p:sp>
        <p:nvSpPr>
          <p:cNvPr id="28" name="TextBox 27"/>
          <p:cNvSpPr txBox="1"/>
          <p:nvPr/>
        </p:nvSpPr>
        <p:spPr>
          <a:xfrm>
            <a:off x="8321040" y="4828031"/>
            <a:ext cx="3017520" cy="36576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messy names</a:t>
            </a:r>
          </a:p>
        </p:txBody>
      </p:sp>
      <p:sp>
        <p:nvSpPr>
          <p:cNvPr id="29" name="TextBox 28"/>
          <p:cNvSpPr txBox="1"/>
          <p:nvPr/>
        </p:nvSpPr>
        <p:spPr>
          <a:xfrm>
            <a:off x="8321040" y="5193792"/>
            <a:ext cx="3017520" cy="731520"/>
          </a:xfrm>
          <a:prstGeom prst="rect">
            <a:avLst/>
          </a:prstGeom>
          <a:noFill/>
        </p:spPr>
        <p:txBody>
          <a:bodyPr wrap="square" lIns="0" tIns="0" rIns="0" bIns="0" anchor="t">
            <a:spAutoFit/>
          </a:bodyPr>
          <a:lstStyle/>
          <a:p>
            <a:pPr algn="l">
              <a:spcAft>
                <a:spcPts val="0"/>
              </a:spcAft>
            </a:pPr>
            <a:r>
              <a:rPr sz="1300" b="0" i="0">
                <a:solidFill>
                  <a:srgbClr val="5B636E"/>
                </a:solidFill>
                <a:latin typeface="Calibri"/>
              </a:rPr>
              <a:t>Spaces, slashes, mixed case — e.g. 'Departure/Arrival time convenient'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DATA CLEANING</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How the data was cleaned</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6</a:t>
            </a:r>
          </a:p>
        </p:txBody>
      </p:sp>
      <p:graphicFrame>
        <p:nvGraphicFramePr>
          <p:cNvPr id="6" name="Table 5"/>
          <p:cNvGraphicFramePr>
            <a:graphicFrameLocks noGrp="1"/>
          </p:cNvGraphicFramePr>
          <p:nvPr/>
        </p:nvGraphicFramePr>
        <p:xfrm>
          <a:off x="548640" y="1554480"/>
          <a:ext cx="11064240" cy="44805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tblGrid>
              <a:tr h="560070">
                <a:tc>
                  <a:txBody>
                    <a:bodyPr/>
                    <a:lstStyle/>
                    <a:p>
                      <a:r>
                        <a:rPr sz="1500" b="1">
                          <a:solidFill>
                            <a:srgbClr val="FFFFFF"/>
                          </a:solidFill>
                          <a:latin typeface="Calibri"/>
                        </a:rPr>
                        <a:t>Problem</a:t>
                      </a:r>
                    </a:p>
                  </a:txBody>
                  <a:tcPr>
                    <a:solidFill>
                      <a:srgbClr val="0B1F3A"/>
                    </a:solidFill>
                  </a:tcPr>
                </a:tc>
                <a:tc>
                  <a:txBody>
                    <a:bodyPr/>
                    <a:lstStyle/>
                    <a:p>
                      <a:r>
                        <a:rPr sz="1500" b="1">
                          <a:solidFill>
                            <a:srgbClr val="FFFFFF"/>
                          </a:solidFill>
                          <a:latin typeface="Calibri"/>
                        </a:rPr>
                        <a:t>Action taken</a:t>
                      </a:r>
                    </a:p>
                  </a:txBody>
                  <a:tcPr>
                    <a:solidFill>
                      <a:srgbClr val="0B1F3A"/>
                    </a:solidFill>
                  </a:tcPr>
                </a:tc>
                <a:extLst>
                  <a:ext uri="{0D108BD9-81ED-4DB2-BD59-A6C34878D82A}">
                    <a16:rowId xmlns:a16="http://schemas.microsoft.com/office/drawing/2014/main" val="10000"/>
                  </a:ext>
                </a:extLst>
              </a:tr>
              <a:tr h="560070">
                <a:tc>
                  <a:txBody>
                    <a:bodyPr/>
                    <a:lstStyle/>
                    <a:p>
                      <a:r>
                        <a:rPr sz="1400" b="1">
                          <a:solidFill>
                            <a:srgbClr val="0B1F3A"/>
                          </a:solidFill>
                          <a:latin typeface="Calibri"/>
                        </a:rPr>
                        <a:t>Missing arrival delay (83)</a:t>
                      </a:r>
                    </a:p>
                  </a:txBody>
                  <a:tcPr anchor="ctr">
                    <a:solidFill>
                      <a:srgbClr val="E8F1FB"/>
                    </a:solidFill>
                  </a:tcPr>
                </a:tc>
                <a:tc>
                  <a:txBody>
                    <a:bodyPr/>
                    <a:lstStyle/>
                    <a:p>
                      <a:r>
                        <a:rPr sz="1400" b="0">
                          <a:solidFill>
                            <a:srgbClr val="1B1F24"/>
                          </a:solidFill>
                          <a:latin typeface="Calibri"/>
                        </a:rPr>
                        <a:t>Filled with the same passenger's departure delay (correlation 0.96)</a:t>
                      </a:r>
                    </a:p>
                  </a:txBody>
                  <a:tcPr anchor="ctr">
                    <a:solidFill>
                      <a:srgbClr val="E8F1FB"/>
                    </a:solidFill>
                  </a:tcPr>
                </a:tc>
                <a:extLst>
                  <a:ext uri="{0D108BD9-81ED-4DB2-BD59-A6C34878D82A}">
                    <a16:rowId xmlns:a16="http://schemas.microsoft.com/office/drawing/2014/main" val="10001"/>
                  </a:ext>
                </a:extLst>
              </a:tr>
              <a:tr h="560070">
                <a:tc>
                  <a:txBody>
                    <a:bodyPr/>
                    <a:lstStyle/>
                    <a:p>
                      <a:r>
                        <a:rPr sz="1400" b="1">
                          <a:solidFill>
                            <a:srgbClr val="0B1F3A"/>
                          </a:solidFill>
                          <a:latin typeface="Calibri"/>
                        </a:rPr>
                        <a:t>Rating 0 = Not Applicable</a:t>
                      </a:r>
                    </a:p>
                  </a:txBody>
                  <a:tcPr anchor="ctr">
                    <a:solidFill>
                      <a:srgbClr val="FFFFFF"/>
                    </a:solidFill>
                  </a:tcPr>
                </a:tc>
                <a:tc>
                  <a:txBody>
                    <a:bodyPr/>
                    <a:lstStyle/>
                    <a:p>
                      <a:r>
                        <a:rPr sz="1400" b="0">
                          <a:solidFill>
                            <a:srgbClr val="1B1F24"/>
                          </a:solidFill>
                          <a:latin typeface="Calibri"/>
                        </a:rPr>
                        <a:t>Replaced with NaN → ignored in averages; counted per passenger</a:t>
                      </a:r>
                    </a:p>
                  </a:txBody>
                  <a:tcPr anchor="ctr">
                    <a:solidFill>
                      <a:srgbClr val="FFFFFF"/>
                    </a:solidFill>
                  </a:tcPr>
                </a:tc>
                <a:extLst>
                  <a:ext uri="{0D108BD9-81ED-4DB2-BD59-A6C34878D82A}">
                    <a16:rowId xmlns:a16="http://schemas.microsoft.com/office/drawing/2014/main" val="10002"/>
                  </a:ext>
                </a:extLst>
              </a:tr>
              <a:tr h="560070">
                <a:tc>
                  <a:txBody>
                    <a:bodyPr/>
                    <a:lstStyle/>
                    <a:p>
                      <a:r>
                        <a:rPr sz="1400" b="1">
                          <a:solidFill>
                            <a:srgbClr val="0B1F3A"/>
                          </a:solidFill>
                          <a:latin typeface="Calibri"/>
                        </a:rPr>
                        <a:t>Inconsistent labels</a:t>
                      </a:r>
                    </a:p>
                  </a:txBody>
                  <a:tcPr anchor="ctr">
                    <a:solidFill>
                      <a:srgbClr val="E8F1FB"/>
                    </a:solidFill>
                  </a:tcPr>
                </a:tc>
                <a:tc>
                  <a:txBody>
                    <a:bodyPr/>
                    <a:lstStyle/>
                    <a:p>
                      <a:r>
                        <a:rPr sz="1400" b="0">
                          <a:solidFill>
                            <a:srgbClr val="1B1F24"/>
                          </a:solidFill>
                          <a:latin typeface="Calibri"/>
                        </a:rPr>
                        <a:t>Standardised: Disloyal Customer, Business Travel, Economy, Satisfied</a:t>
                      </a:r>
                    </a:p>
                  </a:txBody>
                  <a:tcPr anchor="ctr">
                    <a:solidFill>
                      <a:srgbClr val="E8F1FB"/>
                    </a:solidFill>
                  </a:tcPr>
                </a:tc>
                <a:extLst>
                  <a:ext uri="{0D108BD9-81ED-4DB2-BD59-A6C34878D82A}">
                    <a16:rowId xmlns:a16="http://schemas.microsoft.com/office/drawing/2014/main" val="10003"/>
                  </a:ext>
                </a:extLst>
              </a:tr>
              <a:tr h="560070">
                <a:tc>
                  <a:txBody>
                    <a:bodyPr/>
                    <a:lstStyle/>
                    <a:p>
                      <a:r>
                        <a:rPr sz="1400" b="1">
                          <a:solidFill>
                            <a:srgbClr val="0B1F3A"/>
                          </a:solidFill>
                          <a:latin typeface="Calibri"/>
                        </a:rPr>
                        <a:t>Float delay column</a:t>
                      </a:r>
                    </a:p>
                  </a:txBody>
                  <a:tcPr anchor="ctr">
                    <a:solidFill>
                      <a:srgbClr val="FFFFFF"/>
                    </a:solidFill>
                  </a:tcPr>
                </a:tc>
                <a:tc>
                  <a:txBody>
                    <a:bodyPr/>
                    <a:lstStyle/>
                    <a:p>
                      <a:r>
                        <a:rPr sz="1400" b="0">
                          <a:solidFill>
                            <a:srgbClr val="1B1F24"/>
                          </a:solidFill>
                          <a:latin typeface="Calibri"/>
                        </a:rPr>
                        <a:t>Converted to integer minutes</a:t>
                      </a:r>
                    </a:p>
                  </a:txBody>
                  <a:tcPr anchor="ctr">
                    <a:solidFill>
                      <a:srgbClr val="FFFFFF"/>
                    </a:solidFill>
                  </a:tcPr>
                </a:tc>
                <a:extLst>
                  <a:ext uri="{0D108BD9-81ED-4DB2-BD59-A6C34878D82A}">
                    <a16:rowId xmlns:a16="http://schemas.microsoft.com/office/drawing/2014/main" val="10004"/>
                  </a:ext>
                </a:extLst>
              </a:tr>
              <a:tr h="560070">
                <a:tc>
                  <a:txBody>
                    <a:bodyPr/>
                    <a:lstStyle/>
                    <a:p>
                      <a:r>
                        <a:rPr sz="1400" b="1">
                          <a:solidFill>
                            <a:srgbClr val="0B1F3A"/>
                          </a:solidFill>
                          <a:latin typeface="Calibri"/>
                        </a:rPr>
                        <a:t>Useless index &amp; messy names</a:t>
                      </a:r>
                    </a:p>
                  </a:txBody>
                  <a:tcPr anchor="ctr">
                    <a:solidFill>
                      <a:srgbClr val="E8F1FB"/>
                    </a:solidFill>
                  </a:tcPr>
                </a:tc>
                <a:tc>
                  <a:txBody>
                    <a:bodyPr/>
                    <a:lstStyle/>
                    <a:p>
                      <a:r>
                        <a:rPr sz="1400" b="0">
                          <a:solidFill>
                            <a:srgbClr val="1B1F24"/>
                          </a:solidFill>
                          <a:latin typeface="Calibri"/>
                        </a:rPr>
                        <a:t>Dropped 'Unnamed: 0'; renamed all columns to snake_case</a:t>
                      </a:r>
                    </a:p>
                  </a:txBody>
                  <a:tcPr anchor="ctr">
                    <a:solidFill>
                      <a:srgbClr val="E8F1FB"/>
                    </a:solidFill>
                  </a:tcPr>
                </a:tc>
                <a:extLst>
                  <a:ext uri="{0D108BD9-81ED-4DB2-BD59-A6C34878D82A}">
                    <a16:rowId xmlns:a16="http://schemas.microsoft.com/office/drawing/2014/main" val="10005"/>
                  </a:ext>
                </a:extLst>
              </a:tr>
              <a:tr h="560070">
                <a:tc>
                  <a:txBody>
                    <a:bodyPr/>
                    <a:lstStyle/>
                    <a:p>
                      <a:r>
                        <a:rPr sz="1400" b="1">
                          <a:solidFill>
                            <a:srgbClr val="0B1F3A"/>
                          </a:solidFill>
                          <a:latin typeface="Calibri"/>
                        </a:rPr>
                        <a:t>Extreme delays / distances</a:t>
                      </a:r>
                    </a:p>
                  </a:txBody>
                  <a:tcPr anchor="ctr">
                    <a:solidFill>
                      <a:srgbClr val="FFFFFF"/>
                    </a:solidFill>
                  </a:tcPr>
                </a:tc>
                <a:tc>
                  <a:txBody>
                    <a:bodyPr/>
                    <a:lstStyle/>
                    <a:p>
                      <a:r>
                        <a:rPr sz="1400" b="0">
                          <a:solidFill>
                            <a:srgbClr val="1B1F24"/>
                          </a:solidFill>
                          <a:latin typeface="Calibri"/>
                        </a:rPr>
                        <a:t>Kept (real events) and grouped into bins</a:t>
                      </a:r>
                    </a:p>
                  </a:txBody>
                  <a:tcPr anchor="ctr">
                    <a:solidFill>
                      <a:srgbClr val="FFFFFF"/>
                    </a:solidFill>
                  </a:tcPr>
                </a:tc>
                <a:extLst>
                  <a:ext uri="{0D108BD9-81ED-4DB2-BD59-A6C34878D82A}">
                    <a16:rowId xmlns:a16="http://schemas.microsoft.com/office/drawing/2014/main" val="10006"/>
                  </a:ext>
                </a:extLst>
              </a:tr>
              <a:tr h="560070">
                <a:tc>
                  <a:txBody>
                    <a:bodyPr/>
                    <a:lstStyle/>
                    <a:p>
                      <a:r>
                        <a:rPr sz="1400" b="1">
                          <a:solidFill>
                            <a:srgbClr val="0B1F3A"/>
                          </a:solidFill>
                          <a:latin typeface="Calibri"/>
                        </a:rPr>
                        <a:t>No segment columns</a:t>
                      </a:r>
                    </a:p>
                  </a:txBody>
                  <a:tcPr anchor="ctr">
                    <a:solidFill>
                      <a:srgbClr val="E8F1FB"/>
                    </a:solidFill>
                  </a:tcPr>
                </a:tc>
                <a:tc>
                  <a:txBody>
                    <a:bodyPr/>
                    <a:lstStyle/>
                    <a:p>
                      <a:r>
                        <a:rPr sz="1400" b="0">
                          <a:solidFill>
                            <a:srgbClr val="1B1F24"/>
                          </a:solidFill>
                          <a:latin typeface="Calibri"/>
                        </a:rPr>
                        <a:t>Added age, distance &amp; delay groups, average rating, satisfied flag</a:t>
                      </a:r>
                    </a:p>
                  </a:txBody>
                  <a:tcPr anchor="ctr">
                    <a:solidFill>
                      <a:srgbClr val="E8F1F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RESEARCH QUESTIONS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Six questions guide the analysis</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7</a:t>
            </a:r>
          </a:p>
        </p:txBody>
      </p:sp>
      <p:sp>
        <p:nvSpPr>
          <p:cNvPr id="6" name="Rounded Rectangle 5"/>
          <p:cNvSpPr/>
          <p:nvPr/>
        </p:nvSpPr>
        <p:spPr>
          <a:xfrm>
            <a:off x="548640" y="164592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1993392"/>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Q1</a:t>
            </a:r>
          </a:p>
        </p:txBody>
      </p:sp>
      <p:sp>
        <p:nvSpPr>
          <p:cNvPr id="8" name="TextBox 7"/>
          <p:cNvSpPr txBox="1"/>
          <p:nvPr/>
        </p:nvSpPr>
        <p:spPr>
          <a:xfrm>
            <a:off x="1600200" y="182880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What share of passengers are satisfied?</a:t>
            </a:r>
          </a:p>
        </p:txBody>
      </p:sp>
      <p:sp>
        <p:nvSpPr>
          <p:cNvPr id="9" name="Rounded Rectangle 8"/>
          <p:cNvSpPr/>
          <p:nvPr/>
        </p:nvSpPr>
        <p:spPr>
          <a:xfrm>
            <a:off x="6172200" y="164592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46520" y="1993392"/>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Q2</a:t>
            </a:r>
          </a:p>
        </p:txBody>
      </p:sp>
      <p:sp>
        <p:nvSpPr>
          <p:cNvPr id="11" name="TextBox 10"/>
          <p:cNvSpPr txBox="1"/>
          <p:nvPr/>
        </p:nvSpPr>
        <p:spPr>
          <a:xfrm>
            <a:off x="7223760" y="182880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Which passenger segments are more or less satisfied?</a:t>
            </a:r>
          </a:p>
        </p:txBody>
      </p:sp>
      <p:sp>
        <p:nvSpPr>
          <p:cNvPr id="12" name="Rounded Rectangle 11"/>
          <p:cNvSpPr/>
          <p:nvPr/>
        </p:nvSpPr>
        <p:spPr>
          <a:xfrm>
            <a:off x="548640" y="315468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59" y="3502152"/>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Q3</a:t>
            </a:r>
          </a:p>
        </p:txBody>
      </p:sp>
      <p:sp>
        <p:nvSpPr>
          <p:cNvPr id="14" name="TextBox 13"/>
          <p:cNvSpPr txBox="1"/>
          <p:nvPr/>
        </p:nvSpPr>
        <p:spPr>
          <a:xfrm>
            <a:off x="1600200" y="333756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Which services matter most for satisfaction?</a:t>
            </a:r>
          </a:p>
        </p:txBody>
      </p:sp>
      <p:sp>
        <p:nvSpPr>
          <p:cNvPr id="15" name="Rounded Rectangle 14"/>
          <p:cNvSpPr/>
          <p:nvPr/>
        </p:nvSpPr>
        <p:spPr>
          <a:xfrm>
            <a:off x="6172200" y="315468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46520" y="3502152"/>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Q4</a:t>
            </a:r>
          </a:p>
        </p:txBody>
      </p:sp>
      <p:sp>
        <p:nvSpPr>
          <p:cNvPr id="17" name="TextBox 16"/>
          <p:cNvSpPr txBox="1"/>
          <p:nvPr/>
        </p:nvSpPr>
        <p:spPr>
          <a:xfrm>
            <a:off x="7223760" y="333756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Do departure and arrival delays reduce satisfaction?</a:t>
            </a:r>
          </a:p>
        </p:txBody>
      </p:sp>
      <p:sp>
        <p:nvSpPr>
          <p:cNvPr id="18" name="Rounded Rectangle 17"/>
          <p:cNvSpPr/>
          <p:nvPr/>
        </p:nvSpPr>
        <p:spPr>
          <a:xfrm>
            <a:off x="548640" y="466344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59" y="5010912"/>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Q5</a:t>
            </a:r>
          </a:p>
        </p:txBody>
      </p:sp>
      <p:sp>
        <p:nvSpPr>
          <p:cNvPr id="20" name="TextBox 19"/>
          <p:cNvSpPr txBox="1"/>
          <p:nvPr/>
        </p:nvSpPr>
        <p:spPr>
          <a:xfrm>
            <a:off x="1600200" y="484632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Does flight distance matter — and does it depend on class?</a:t>
            </a:r>
          </a:p>
        </p:txBody>
      </p:sp>
      <p:sp>
        <p:nvSpPr>
          <p:cNvPr id="21" name="Rounded Rectangle 20"/>
          <p:cNvSpPr/>
          <p:nvPr/>
        </p:nvSpPr>
        <p:spPr>
          <a:xfrm>
            <a:off x="6172200" y="4663440"/>
            <a:ext cx="5394960" cy="1234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446520" y="5010912"/>
            <a:ext cx="566928" cy="566928"/>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Q6</a:t>
            </a:r>
          </a:p>
        </p:txBody>
      </p:sp>
      <p:sp>
        <p:nvSpPr>
          <p:cNvPr id="23" name="TextBox 22"/>
          <p:cNvSpPr txBox="1"/>
          <p:nvPr/>
        </p:nvSpPr>
        <p:spPr>
          <a:xfrm>
            <a:off x="7223760" y="4846320"/>
            <a:ext cx="4160520" cy="868680"/>
          </a:xfrm>
          <a:prstGeom prst="rect">
            <a:avLst/>
          </a:prstGeom>
          <a:noFill/>
        </p:spPr>
        <p:txBody>
          <a:bodyPr wrap="square" lIns="0" tIns="0" rIns="0" bIns="0" anchor="ctr">
            <a:spAutoFit/>
          </a:bodyPr>
          <a:lstStyle/>
          <a:p>
            <a:pPr algn="l">
              <a:spcAft>
                <a:spcPts val="0"/>
              </a:spcAft>
            </a:pPr>
            <a:r>
              <a:rPr sz="1700" b="0" i="0">
                <a:solidFill>
                  <a:srgbClr val="1B1F24"/>
                </a:solidFill>
                <a:latin typeface="Calibri"/>
              </a:rPr>
              <a:t>Which travel type × class combination is happiest / unhappiest?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Oval 1"/>
          <p:cNvSpPr/>
          <p:nvPr/>
        </p:nvSpPr>
        <p:spPr>
          <a:xfrm>
            <a:off x="8503920" y="1280160"/>
            <a:ext cx="4206240" cy="4206240"/>
          </a:xfrm>
          <a:prstGeom prst="ellipse">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0"/>
            <a:ext cx="8229600" cy="457200"/>
          </a:xfrm>
          <a:prstGeom prst="rect">
            <a:avLst/>
          </a:prstGeom>
          <a:noFill/>
        </p:spPr>
        <p:txBody>
          <a:bodyPr wrap="square" lIns="0" tIns="0" rIns="0" bIns="0" anchor="t">
            <a:spAutoFit/>
          </a:bodyPr>
          <a:lstStyle/>
          <a:p>
            <a:pPr algn="l">
              <a:spcAft>
                <a:spcPts val="0"/>
              </a:spcAft>
            </a:pPr>
            <a:r>
              <a:rPr sz="1600" b="1" i="0">
                <a:solidFill>
                  <a:srgbClr val="B8C7DB"/>
                </a:solidFill>
                <a:latin typeface="Calibri"/>
              </a:rPr>
              <a:t>PART 2</a:t>
            </a:r>
          </a:p>
        </p:txBody>
      </p:sp>
      <p:sp>
        <p:nvSpPr>
          <p:cNvPr id="4" name="TextBox 3"/>
          <p:cNvSpPr txBox="1"/>
          <p:nvPr/>
        </p:nvSpPr>
        <p:spPr>
          <a:xfrm>
            <a:off x="731520" y="2743200"/>
            <a:ext cx="8229600" cy="1097280"/>
          </a:xfrm>
          <a:prstGeom prst="rect">
            <a:avLst/>
          </a:prstGeom>
          <a:noFill/>
        </p:spPr>
        <p:txBody>
          <a:bodyPr wrap="square" lIns="0" tIns="0" rIns="0" bIns="0" anchor="t">
            <a:spAutoFit/>
          </a:bodyPr>
          <a:lstStyle/>
          <a:p>
            <a:pPr algn="l">
              <a:spcAft>
                <a:spcPts val="0"/>
              </a:spcAft>
            </a:pPr>
            <a:r>
              <a:rPr sz="4800" b="1" i="0">
                <a:solidFill>
                  <a:srgbClr val="FFFFFF"/>
                </a:solidFill>
                <a:latin typeface="Cambria"/>
              </a:rPr>
              <a:t>Insights from the data</a:t>
            </a:r>
          </a:p>
        </p:txBody>
      </p:sp>
      <p:sp>
        <p:nvSpPr>
          <p:cNvPr id="5" name="TextBox 4"/>
          <p:cNvSpPr txBox="1"/>
          <p:nvPr/>
        </p:nvSpPr>
        <p:spPr>
          <a:xfrm>
            <a:off x="731520" y="3840480"/>
            <a:ext cx="7772400" cy="548640"/>
          </a:xfrm>
          <a:prstGeom prst="rect">
            <a:avLst/>
          </a:prstGeom>
          <a:noFill/>
        </p:spPr>
        <p:txBody>
          <a:bodyPr wrap="square" lIns="0" tIns="0" rIns="0" bIns="0" anchor="t">
            <a:spAutoFit/>
          </a:bodyPr>
          <a:lstStyle/>
          <a:p>
            <a:pPr algn="l">
              <a:spcAft>
                <a:spcPts val="0"/>
              </a:spcAft>
            </a:pPr>
            <a:r>
              <a:rPr sz="1800" b="0" i="1">
                <a:solidFill>
                  <a:srgbClr val="B8C7DB"/>
                </a:solidFill>
                <a:latin typeface="Calibri"/>
              </a:rPr>
              <a:t>Each finding is backed by a statistical test (chi-square, Mann-Whitney, correlation)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Q1 · OVERALL SATISFACTION</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Most passengers are not satisfied</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9</a:t>
            </a:r>
          </a:p>
        </p:txBody>
      </p:sp>
      <p:graphicFrame>
        <p:nvGraphicFramePr>
          <p:cNvPr id="6" name="Chart 5"/>
          <p:cNvGraphicFramePr>
            <a:graphicFrameLocks noGrp="1"/>
          </p:cNvGraphicFramePr>
          <p:nvPr/>
        </p:nvGraphicFramePr>
        <p:xfrm>
          <a:off x="548640" y="1463040"/>
          <a:ext cx="54864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6675120" y="1828800"/>
            <a:ext cx="4937760" cy="1097280"/>
          </a:xfrm>
          <a:prstGeom prst="rect">
            <a:avLst/>
          </a:prstGeom>
          <a:noFill/>
        </p:spPr>
        <p:txBody>
          <a:bodyPr wrap="square" lIns="0" tIns="0" rIns="0" bIns="0" anchor="t">
            <a:spAutoFit/>
          </a:bodyPr>
          <a:lstStyle/>
          <a:p>
            <a:pPr algn="l">
              <a:spcAft>
                <a:spcPts val="0"/>
              </a:spcAft>
            </a:pPr>
            <a:r>
              <a:rPr sz="7200" b="1" i="0">
                <a:solidFill>
                  <a:srgbClr val="2A78D6"/>
                </a:solidFill>
                <a:latin typeface="Cambria"/>
              </a:rPr>
              <a:t>43.9%</a:t>
            </a:r>
          </a:p>
        </p:txBody>
      </p:sp>
      <p:sp>
        <p:nvSpPr>
          <p:cNvPr id="8" name="TextBox 7"/>
          <p:cNvSpPr txBox="1"/>
          <p:nvPr/>
        </p:nvSpPr>
        <p:spPr>
          <a:xfrm>
            <a:off x="6675120" y="2971800"/>
            <a:ext cx="4937760" cy="457200"/>
          </a:xfrm>
          <a:prstGeom prst="rect">
            <a:avLst/>
          </a:prstGeom>
          <a:noFill/>
        </p:spPr>
        <p:txBody>
          <a:bodyPr wrap="square" lIns="0" tIns="0" rIns="0" bIns="0" anchor="t">
            <a:spAutoFit/>
          </a:bodyPr>
          <a:lstStyle/>
          <a:p>
            <a:pPr algn="l">
              <a:spcAft>
                <a:spcPts val="0"/>
              </a:spcAft>
            </a:pPr>
            <a:r>
              <a:rPr sz="2000" b="1" i="0">
                <a:solidFill>
                  <a:srgbClr val="0B1F3A"/>
                </a:solidFill>
                <a:latin typeface="Calibri"/>
              </a:rPr>
              <a:t>of passengers are satisfied</a:t>
            </a:r>
          </a:p>
        </p:txBody>
      </p:sp>
      <p:sp>
        <p:nvSpPr>
          <p:cNvPr id="9" name="TextBox 8"/>
          <p:cNvSpPr txBox="1"/>
          <p:nvPr/>
        </p:nvSpPr>
        <p:spPr>
          <a:xfrm>
            <a:off x="6675120" y="3657600"/>
            <a:ext cx="4937760" cy="1828800"/>
          </a:xfrm>
          <a:prstGeom prst="rect">
            <a:avLst/>
          </a:prstGeom>
          <a:noFill/>
        </p:spPr>
        <p:txBody>
          <a:bodyPr wrap="square" lIns="0" tIns="0" rIns="0" bIns="0" anchor="t">
            <a:spAutoFit/>
          </a:bodyPr>
          <a:lstStyle/>
          <a:p>
            <a:pPr algn="l">
              <a:spcAft>
                <a:spcPts val="1000"/>
              </a:spcAft>
            </a:pPr>
            <a:r>
              <a:rPr sz="1600" b="0" i="0">
                <a:solidFill>
                  <a:srgbClr val="1B1F24"/>
                </a:solidFill>
                <a:latin typeface="Calibri"/>
              </a:rPr>
              <a:t>14,573 passengers (56.1 %) were neutral or dissatisfied.</a:t>
            </a:r>
          </a:p>
          <a:p>
            <a:pPr algn="l">
              <a:spcAft>
                <a:spcPts val="0"/>
              </a:spcAft>
            </a:pPr>
            <a:r>
              <a:rPr sz="1600" b="0" i="0">
                <a:solidFill>
                  <a:srgbClr val="1B1F24"/>
                </a:solidFill>
                <a:latin typeface="Calibri"/>
              </a:rPr>
              <a:t>The two groups are reasonably balanced, so comparisons between them are reliable.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Q2 · PASSENGER SEGMENTS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Class and travel purpose split passengers sharply</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10</a:t>
            </a:r>
          </a:p>
        </p:txBody>
      </p:sp>
      <p:graphicFrame>
        <p:nvGraphicFramePr>
          <p:cNvPr id="6" name="Chart 5"/>
          <p:cNvGraphicFramePr>
            <a:graphicFrameLocks noGrp="1"/>
          </p:cNvGraphicFramePr>
          <p:nvPr/>
        </p:nvGraphicFramePr>
        <p:xfrm>
          <a:off x="548640" y="1463040"/>
          <a:ext cx="76809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595360" y="1600200"/>
            <a:ext cx="3063240" cy="4480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23960" y="1783080"/>
            <a:ext cx="2651760" cy="4206240"/>
          </a:xfrm>
          <a:prstGeom prst="rect">
            <a:avLst/>
          </a:prstGeom>
          <a:noFill/>
        </p:spPr>
        <p:txBody>
          <a:bodyPr wrap="square" lIns="0" tIns="0" rIns="0" bIns="0" anchor="t">
            <a:spAutoFit/>
          </a:bodyPr>
          <a:lstStyle/>
          <a:p>
            <a:pPr algn="l">
              <a:spcAft>
                <a:spcPts val="800"/>
              </a:spcAft>
            </a:pPr>
            <a:r>
              <a:rPr sz="1700" b="1" i="0">
                <a:solidFill>
                  <a:srgbClr val="0B1F3A"/>
                </a:solidFill>
                <a:latin typeface="Calibri"/>
              </a:rPr>
              <a:t>Strongest drivers</a:t>
            </a:r>
          </a:p>
          <a:p>
            <a:pPr algn="l">
              <a:spcAft>
                <a:spcPts val="800"/>
              </a:spcAft>
            </a:pPr>
            <a:r>
              <a:rPr sz="1400" b="1" i="0">
                <a:solidFill>
                  <a:srgbClr val="1B1F24"/>
                </a:solidFill>
                <a:latin typeface="Calibri"/>
              </a:rPr>
              <a:t>Class </a:t>
            </a:r>
            <a:r>
              <a:rPr sz="1400" b="0" i="0">
                <a:solidFill>
                  <a:srgbClr val="1B1F24"/>
                </a:solidFill>
                <a:latin typeface="Calibri"/>
              </a:rPr>
              <a:t>— Business 69.5 % vs Economy 19.4 %</a:t>
            </a:r>
          </a:p>
          <a:p>
            <a:pPr algn="l">
              <a:spcAft>
                <a:spcPts val="800"/>
              </a:spcAft>
            </a:pPr>
            <a:r>
              <a:rPr sz="1400" b="1" i="0">
                <a:solidFill>
                  <a:srgbClr val="1B1F24"/>
                </a:solidFill>
                <a:latin typeface="Calibri"/>
              </a:rPr>
              <a:t>Travel type </a:t>
            </a:r>
            <a:r>
              <a:rPr sz="1400" b="0" i="0">
                <a:solidFill>
                  <a:srgbClr val="1B1F24"/>
                </a:solidFill>
                <a:latin typeface="Calibri"/>
              </a:rPr>
              <a:t>— business 58.8 % vs personal 10.0 %</a:t>
            </a:r>
          </a:p>
          <a:p>
            <a:pPr algn="l">
              <a:spcAft>
                <a:spcPts val="800"/>
              </a:spcAft>
            </a:pPr>
            <a:r>
              <a:rPr sz="1400" b="1" i="0">
                <a:solidFill>
                  <a:srgbClr val="1B1F24"/>
                </a:solidFill>
                <a:latin typeface="Calibri"/>
              </a:rPr>
              <a:t>Loyalty </a:t>
            </a:r>
            <a:r>
              <a:rPr sz="1400" b="0" i="0">
                <a:solidFill>
                  <a:srgbClr val="1B1F24"/>
                </a:solidFill>
                <a:latin typeface="Calibri"/>
              </a:rPr>
              <a:t>— loyal 48.1 % vs disloyal 25.2 %</a:t>
            </a:r>
          </a:p>
          <a:p>
            <a:pPr algn="l">
              <a:spcAft>
                <a:spcPts val="800"/>
              </a:spcAft>
            </a:pPr>
            <a:r>
              <a:rPr sz="1400" b="1" i="0">
                <a:solidFill>
                  <a:srgbClr val="1B1F24"/>
                </a:solidFill>
                <a:latin typeface="Calibri"/>
              </a:rPr>
              <a:t>Gender </a:t>
            </a:r>
            <a:r>
              <a:rPr sz="1400" b="0" i="0">
                <a:solidFill>
                  <a:srgbClr val="1B1F24"/>
                </a:solidFill>
                <a:latin typeface="Calibri"/>
              </a:rPr>
              <a:t>— no difference (p = 0.24)</a:t>
            </a:r>
          </a:p>
          <a:p>
            <a:pPr algn="l">
              <a:spcAft>
                <a:spcPts val="0"/>
              </a:spcAft>
            </a:pPr>
            <a:r>
              <a:rPr sz="1200" b="0" i="1">
                <a:solidFill>
                  <a:srgbClr val="5B636E"/>
                </a:solidFill>
                <a:latin typeface="Calibri"/>
              </a:rPr>
              <a:t>Blue = above the 43.9 % average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Q2 · AGE</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Middle-aged passengers are the most satisfied</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11</a:t>
            </a:r>
          </a:p>
        </p:txBody>
      </p:sp>
      <p:graphicFrame>
        <p:nvGraphicFramePr>
          <p:cNvPr id="6" name="Chart 5"/>
          <p:cNvGraphicFramePr>
            <a:graphicFrameLocks noGrp="1"/>
          </p:cNvGraphicFramePr>
          <p:nvPr/>
        </p:nvGraphicFramePr>
        <p:xfrm>
          <a:off x="548640" y="1463040"/>
          <a:ext cx="76809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595360" y="1600200"/>
            <a:ext cx="3063240" cy="4480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23960" y="1783080"/>
            <a:ext cx="2651760" cy="4206240"/>
          </a:xfrm>
          <a:prstGeom prst="rect">
            <a:avLst/>
          </a:prstGeom>
          <a:noFill/>
        </p:spPr>
        <p:txBody>
          <a:bodyPr wrap="square" lIns="0" tIns="0" rIns="0" bIns="0" anchor="t">
            <a:spAutoFit/>
          </a:bodyPr>
          <a:lstStyle/>
          <a:p>
            <a:pPr algn="l">
              <a:spcAft>
                <a:spcPts val="0"/>
              </a:spcAft>
            </a:pPr>
            <a:r>
              <a:rPr sz="4000" b="1" i="0">
                <a:solidFill>
                  <a:srgbClr val="2A78D6"/>
                </a:solidFill>
                <a:latin typeface="Cambria"/>
              </a:rPr>
              <a:t>57.7 %</a:t>
            </a:r>
          </a:p>
          <a:p>
            <a:pPr algn="l">
              <a:spcAft>
                <a:spcPts val="1400"/>
              </a:spcAft>
            </a:pPr>
            <a:r>
              <a:rPr sz="1400" b="1" i="0">
                <a:solidFill>
                  <a:srgbClr val="0B1F3A"/>
                </a:solidFill>
                <a:latin typeface="Calibri"/>
              </a:rPr>
              <a:t>of 45–59-year-olds are satisfied</a:t>
            </a:r>
          </a:p>
          <a:p>
            <a:pPr algn="l">
              <a:spcAft>
                <a:spcPts val="1000"/>
              </a:spcAft>
            </a:pPr>
            <a:r>
              <a:rPr sz="1400" b="0" i="0">
                <a:solidFill>
                  <a:srgbClr val="1B1F24"/>
                </a:solidFill>
                <a:latin typeface="Calibri"/>
              </a:rPr>
              <a:t>Children (18 %), young adults (36 %) and seniors (27 %) are the least satisfied — groups that mostly travel for personal reasons in Economy.</a:t>
            </a:r>
          </a:p>
          <a:p>
            <a:pPr algn="l">
              <a:spcAft>
                <a:spcPts val="0"/>
              </a:spcAft>
            </a:pPr>
            <a:r>
              <a:rPr sz="1200" b="0" i="0">
                <a:solidFill>
                  <a:srgbClr val="5B636E"/>
                </a:solidFill>
                <a:latin typeface="Calibri"/>
              </a:rPr>
              <a:t>Median age: satisfied 43 vs dissatisfied 37 (Mann-Whitney p &lt; 0.001)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Q3 · SERVICES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Boarding, entertainment and wifi make the difference</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12</a:t>
            </a:r>
          </a:p>
        </p:txBody>
      </p:sp>
      <p:graphicFrame>
        <p:nvGraphicFramePr>
          <p:cNvPr id="6" name="Chart 5"/>
          <p:cNvGraphicFramePr>
            <a:graphicFrameLocks noGrp="1"/>
          </p:cNvGraphicFramePr>
          <p:nvPr/>
        </p:nvGraphicFramePr>
        <p:xfrm>
          <a:off x="548640" y="1371600"/>
          <a:ext cx="731520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229600" y="1600200"/>
            <a:ext cx="3429000" cy="4480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58200" y="1783080"/>
            <a:ext cx="3017520" cy="4206240"/>
          </a:xfrm>
          <a:prstGeom prst="rect">
            <a:avLst/>
          </a:prstGeom>
          <a:noFill/>
        </p:spPr>
        <p:txBody>
          <a:bodyPr wrap="square" lIns="0" tIns="0" rIns="0" bIns="0" anchor="t">
            <a:spAutoFit/>
          </a:bodyPr>
          <a:lstStyle/>
          <a:p>
            <a:pPr algn="l">
              <a:spcAft>
                <a:spcPts val="800"/>
              </a:spcAft>
            </a:pPr>
            <a:r>
              <a:rPr sz="1700" b="1" i="0">
                <a:solidFill>
                  <a:srgbClr val="0B1F3A"/>
                </a:solidFill>
                <a:latin typeface="Calibri"/>
              </a:rPr>
              <a:t>Biggest rating gaps</a:t>
            </a:r>
          </a:p>
          <a:p>
            <a:pPr algn="l">
              <a:spcAft>
                <a:spcPts val="400"/>
              </a:spcAft>
            </a:pPr>
            <a:r>
              <a:rPr sz="1400" b="1" i="0">
                <a:solidFill>
                  <a:srgbClr val="2A78D6"/>
                </a:solidFill>
                <a:latin typeface="Calibri"/>
              </a:rPr>
              <a:t>+1.44 </a:t>
            </a:r>
            <a:r>
              <a:rPr sz="1400" b="0" i="0">
                <a:solidFill>
                  <a:srgbClr val="1B1F24"/>
                </a:solidFill>
                <a:latin typeface="Calibri"/>
              </a:rPr>
              <a:t>Online boarding</a:t>
            </a:r>
          </a:p>
          <a:p>
            <a:pPr algn="l">
              <a:spcAft>
                <a:spcPts val="400"/>
              </a:spcAft>
            </a:pPr>
            <a:r>
              <a:rPr sz="1400" b="1" i="0">
                <a:solidFill>
                  <a:srgbClr val="2A78D6"/>
                </a:solidFill>
                <a:latin typeface="Calibri"/>
              </a:rPr>
              <a:t>+1.08 </a:t>
            </a:r>
            <a:r>
              <a:rPr sz="1400" b="0" i="0">
                <a:solidFill>
                  <a:srgbClr val="1B1F24"/>
                </a:solidFill>
                <a:latin typeface="Calibri"/>
              </a:rPr>
              <a:t>Inflight entertainment</a:t>
            </a:r>
          </a:p>
          <a:p>
            <a:pPr algn="l">
              <a:spcAft>
                <a:spcPts val="400"/>
              </a:spcAft>
            </a:pPr>
            <a:r>
              <a:rPr sz="1400" b="1" i="0">
                <a:solidFill>
                  <a:srgbClr val="2A78D6"/>
                </a:solidFill>
                <a:latin typeface="Calibri"/>
              </a:rPr>
              <a:t>+1.00 </a:t>
            </a:r>
            <a:r>
              <a:rPr sz="1400" b="0" i="0">
                <a:solidFill>
                  <a:srgbClr val="1B1F24"/>
                </a:solidFill>
                <a:latin typeface="Calibri"/>
              </a:rPr>
              <a:t>Inflight wifi</a:t>
            </a:r>
          </a:p>
          <a:p>
            <a:pPr algn="l">
              <a:spcAft>
                <a:spcPts val="1200"/>
              </a:spcAft>
            </a:pPr>
            <a:r>
              <a:rPr sz="1400" b="1" i="0">
                <a:solidFill>
                  <a:srgbClr val="2A78D6"/>
                </a:solidFill>
                <a:latin typeface="Calibri"/>
              </a:rPr>
              <a:t>+0.92 </a:t>
            </a:r>
            <a:r>
              <a:rPr sz="1400" b="0" i="0">
                <a:solidFill>
                  <a:srgbClr val="1B1F24"/>
                </a:solidFill>
                <a:latin typeface="Calibri"/>
              </a:rPr>
              <a:t>Seat comfort</a:t>
            </a:r>
          </a:p>
          <a:p>
            <a:pPr algn="l">
              <a:spcAft>
                <a:spcPts val="1000"/>
              </a:spcAft>
            </a:pPr>
            <a:r>
              <a:rPr sz="1400" b="1" i="0">
                <a:solidFill>
                  <a:srgbClr val="EB6834"/>
                </a:solidFill>
                <a:latin typeface="Calibri"/>
              </a:rPr>
              <a:t>Wifi is the lowest-rated service (2.81) </a:t>
            </a:r>
            <a:r>
              <a:rPr sz="1400" b="0" i="0">
                <a:solidFill>
                  <a:srgbClr val="1B1F24"/>
                </a:solidFill>
                <a:latin typeface="Calibri"/>
              </a:rPr>
              <a:t>— yet 99 % of passengers who rate it 5 are satisfied.</a:t>
            </a:r>
          </a:p>
          <a:p>
            <a:pPr algn="l">
              <a:spcAft>
                <a:spcPts val="0"/>
              </a:spcAft>
            </a:pPr>
            <a:r>
              <a:rPr sz="1300" b="0" i="0">
                <a:solidFill>
                  <a:srgbClr val="5B636E"/>
                </a:solidFill>
                <a:latin typeface="Calibri"/>
              </a:rPr>
              <a:t>Gate location and time convenience show no link.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Q4 · DELAYS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Delays lower satisfaction — but only modestly</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13</a:t>
            </a:r>
          </a:p>
        </p:txBody>
      </p:sp>
      <p:graphicFrame>
        <p:nvGraphicFramePr>
          <p:cNvPr id="6" name="Chart 5"/>
          <p:cNvGraphicFramePr>
            <a:graphicFrameLocks noGrp="1"/>
          </p:cNvGraphicFramePr>
          <p:nvPr/>
        </p:nvGraphicFramePr>
        <p:xfrm>
          <a:off x="548640" y="146304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955279" y="1600200"/>
            <a:ext cx="3703320" cy="12801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83879" y="1764792"/>
            <a:ext cx="3291840" cy="548640"/>
          </a:xfrm>
          <a:prstGeom prst="rect">
            <a:avLst/>
          </a:prstGeom>
          <a:noFill/>
        </p:spPr>
        <p:txBody>
          <a:bodyPr wrap="square" lIns="0" tIns="0" rIns="0" bIns="0" anchor="t">
            <a:spAutoFit/>
          </a:bodyPr>
          <a:lstStyle/>
          <a:p>
            <a:pPr algn="l">
              <a:spcAft>
                <a:spcPts val="0"/>
              </a:spcAft>
            </a:pPr>
            <a:r>
              <a:rPr sz="2800" b="1" i="0">
                <a:solidFill>
                  <a:srgbClr val="EB6834"/>
                </a:solidFill>
                <a:latin typeface="Cambria"/>
              </a:rPr>
              <a:t>−12.7 pts</a:t>
            </a:r>
          </a:p>
        </p:txBody>
      </p:sp>
      <p:sp>
        <p:nvSpPr>
          <p:cNvPr id="9" name="TextBox 8"/>
          <p:cNvSpPr txBox="1"/>
          <p:nvPr/>
        </p:nvSpPr>
        <p:spPr>
          <a:xfrm>
            <a:off x="8183879" y="2350008"/>
            <a:ext cx="3291840" cy="41148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from on-time to &gt; 1 hour late</a:t>
            </a:r>
          </a:p>
        </p:txBody>
      </p:sp>
      <p:sp>
        <p:nvSpPr>
          <p:cNvPr id="10" name="Rounded Rectangle 9"/>
          <p:cNvSpPr/>
          <p:nvPr/>
        </p:nvSpPr>
        <p:spPr>
          <a:xfrm>
            <a:off x="7955279" y="3108960"/>
            <a:ext cx="3703320" cy="12801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79" y="3273552"/>
            <a:ext cx="3291840" cy="548640"/>
          </a:xfrm>
          <a:prstGeom prst="rect">
            <a:avLst/>
          </a:prstGeom>
          <a:noFill/>
        </p:spPr>
        <p:txBody>
          <a:bodyPr wrap="square" lIns="0" tIns="0" rIns="0" bIns="0" anchor="t">
            <a:spAutoFit/>
          </a:bodyPr>
          <a:lstStyle/>
          <a:p>
            <a:pPr algn="l">
              <a:spcAft>
                <a:spcPts val="0"/>
              </a:spcAft>
            </a:pPr>
            <a:r>
              <a:rPr sz="2800" b="1" i="0">
                <a:solidFill>
                  <a:srgbClr val="0B1F3A"/>
                </a:solidFill>
                <a:latin typeface="Cambria"/>
              </a:rPr>
              <a:t>56.3 %</a:t>
            </a:r>
          </a:p>
        </p:txBody>
      </p:sp>
      <p:sp>
        <p:nvSpPr>
          <p:cNvPr id="12" name="TextBox 11"/>
          <p:cNvSpPr txBox="1"/>
          <p:nvPr/>
        </p:nvSpPr>
        <p:spPr>
          <a:xfrm>
            <a:off x="8183879" y="3858768"/>
            <a:ext cx="3291840" cy="41148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of flights arrive on time</a:t>
            </a:r>
          </a:p>
        </p:txBody>
      </p:sp>
      <p:sp>
        <p:nvSpPr>
          <p:cNvPr id="13" name="Rounded Rectangle 12"/>
          <p:cNvSpPr/>
          <p:nvPr/>
        </p:nvSpPr>
        <p:spPr>
          <a:xfrm>
            <a:off x="7955279" y="4617720"/>
            <a:ext cx="3703320" cy="12801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79" y="4782312"/>
            <a:ext cx="3291840" cy="548640"/>
          </a:xfrm>
          <a:prstGeom prst="rect">
            <a:avLst/>
          </a:prstGeom>
          <a:noFill/>
        </p:spPr>
        <p:txBody>
          <a:bodyPr wrap="square" lIns="0" tIns="0" rIns="0" bIns="0" anchor="t">
            <a:spAutoFit/>
          </a:bodyPr>
          <a:lstStyle/>
          <a:p>
            <a:pPr algn="l">
              <a:spcAft>
                <a:spcPts val="0"/>
              </a:spcAft>
            </a:pPr>
            <a:r>
              <a:rPr sz="2800" b="1" i="0">
                <a:solidFill>
                  <a:srgbClr val="0B1F3A"/>
                </a:solidFill>
                <a:latin typeface="Cambria"/>
              </a:rPr>
              <a:t>V = 0.10</a:t>
            </a:r>
          </a:p>
        </p:txBody>
      </p:sp>
      <p:sp>
        <p:nvSpPr>
          <p:cNvPr id="15" name="TextBox 14"/>
          <p:cNvSpPr txBox="1"/>
          <p:nvPr/>
        </p:nvSpPr>
        <p:spPr>
          <a:xfrm>
            <a:off x="8183879" y="5367528"/>
            <a:ext cx="3291840" cy="411480"/>
          </a:xfrm>
          <a:prstGeom prst="rect">
            <a:avLst/>
          </a:prstGeom>
          <a:noFill/>
        </p:spPr>
        <p:txBody>
          <a:bodyPr wrap="square" lIns="0" tIns="0" rIns="0" bIns="0" anchor="t">
            <a:spAutoFit/>
          </a:bodyPr>
          <a:lstStyle/>
          <a:p>
            <a:pPr algn="l">
              <a:spcAft>
                <a:spcPts val="0"/>
              </a:spcAft>
            </a:pPr>
            <a:r>
              <a:rPr sz="1400" b="0" i="0">
                <a:solidFill>
                  <a:srgbClr val="5B636E"/>
                </a:solidFill>
                <a:latin typeface="Calibri"/>
              </a:rPr>
              <a:t>very weak association (p &lt; 0.001)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Q5 · FLIGHT DISTANCE</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Distance matters only through class</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14</a:t>
            </a:r>
          </a:p>
        </p:txBody>
      </p:sp>
      <p:graphicFrame>
        <p:nvGraphicFramePr>
          <p:cNvPr id="6" name="Chart 5"/>
          <p:cNvGraphicFramePr>
            <a:graphicFrameLocks noGrp="1"/>
          </p:cNvGraphicFramePr>
          <p:nvPr/>
        </p:nvGraphicFramePr>
        <p:xfrm>
          <a:off x="548640" y="137160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229600" y="1600200"/>
            <a:ext cx="3429000" cy="4480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58200" y="1783080"/>
            <a:ext cx="3017520" cy="4206240"/>
          </a:xfrm>
          <a:prstGeom prst="rect">
            <a:avLst/>
          </a:prstGeom>
          <a:noFill/>
        </p:spPr>
        <p:txBody>
          <a:bodyPr wrap="square" lIns="0" tIns="0" rIns="0" bIns="0" anchor="t">
            <a:spAutoFit/>
          </a:bodyPr>
          <a:lstStyle/>
          <a:p>
            <a:pPr algn="l">
              <a:spcAft>
                <a:spcPts val="800"/>
              </a:spcAft>
            </a:pPr>
            <a:r>
              <a:rPr sz="1700" b="1" i="0">
                <a:solidFill>
                  <a:srgbClr val="0B1F3A"/>
                </a:solidFill>
                <a:latin typeface="Calibri"/>
              </a:rPr>
              <a:t>A hidden confounder</a:t>
            </a:r>
          </a:p>
          <a:p>
            <a:pPr algn="l">
              <a:spcAft>
                <a:spcPts val="1000"/>
              </a:spcAft>
            </a:pPr>
            <a:r>
              <a:rPr sz="1400" b="0" i="0">
                <a:solidFill>
                  <a:srgbClr val="1B1F24"/>
                </a:solidFill>
                <a:latin typeface="Calibri"/>
              </a:rPr>
              <a:t>Overall, long-haul passengers look happier (70 % vs 34 % short-haul).</a:t>
            </a:r>
          </a:p>
          <a:p>
            <a:pPr algn="l">
              <a:spcAft>
                <a:spcPts val="1000"/>
              </a:spcAft>
            </a:pPr>
            <a:r>
              <a:rPr sz="1400" b="0" i="0">
                <a:solidFill>
                  <a:srgbClr val="1B1F24"/>
                </a:solidFill>
                <a:latin typeface="Calibri"/>
              </a:rPr>
              <a:t>But long-haul flights are mostly flown in Business class (median 1,590 mi vs ~600 mi in Economy).</a:t>
            </a:r>
          </a:p>
          <a:p>
            <a:pPr algn="l">
              <a:spcAft>
                <a:spcPts val="0"/>
              </a:spcAft>
            </a:pPr>
            <a:r>
              <a:rPr sz="1400" b="1" i="0">
                <a:solidFill>
                  <a:srgbClr val="1B1F24"/>
                </a:solidFill>
                <a:latin typeface="Calibri"/>
              </a:rPr>
              <a:t>Within Economy, distance changes almost nothing (17–21 %). </a:t>
            </a:r>
            <a:r>
              <a:rPr sz="1400" b="0" i="0">
                <a:solidFill>
                  <a:srgbClr val="1B1F24"/>
                </a:solidFill>
                <a:latin typeface="Calibri"/>
              </a:rPr>
              <a:t>Only Business class improves on long flights (60 → 77 %).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Q6 · TRAVEL TYPE × CLASS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Leisure travellers are unhappy in every class</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15</a:t>
            </a:r>
          </a:p>
        </p:txBody>
      </p:sp>
      <p:sp>
        <p:nvSpPr>
          <p:cNvPr id="6" name="TextBox 5"/>
          <p:cNvSpPr txBox="1"/>
          <p:nvPr/>
        </p:nvSpPr>
        <p:spPr>
          <a:xfrm>
            <a:off x="2834640" y="1508760"/>
            <a:ext cx="1965960" cy="365760"/>
          </a:xfrm>
          <a:prstGeom prst="rect">
            <a:avLst/>
          </a:prstGeom>
          <a:noFill/>
        </p:spPr>
        <p:txBody>
          <a:bodyPr wrap="square" lIns="0" tIns="0" rIns="0" bIns="0" anchor="t">
            <a:spAutoFit/>
          </a:bodyPr>
          <a:lstStyle/>
          <a:p>
            <a:pPr algn="ctr">
              <a:spcAft>
                <a:spcPts val="0"/>
              </a:spcAft>
            </a:pPr>
            <a:r>
              <a:rPr sz="1600" b="1" i="0">
                <a:solidFill>
                  <a:srgbClr val="0B1F3A"/>
                </a:solidFill>
                <a:latin typeface="Calibri"/>
              </a:rPr>
              <a:t>Economy</a:t>
            </a:r>
          </a:p>
        </p:txBody>
      </p:sp>
      <p:sp>
        <p:nvSpPr>
          <p:cNvPr id="7" name="TextBox 6"/>
          <p:cNvSpPr txBox="1"/>
          <p:nvPr/>
        </p:nvSpPr>
        <p:spPr>
          <a:xfrm>
            <a:off x="4910328" y="1508760"/>
            <a:ext cx="1965960" cy="365760"/>
          </a:xfrm>
          <a:prstGeom prst="rect">
            <a:avLst/>
          </a:prstGeom>
          <a:noFill/>
        </p:spPr>
        <p:txBody>
          <a:bodyPr wrap="square" lIns="0" tIns="0" rIns="0" bIns="0" anchor="t">
            <a:spAutoFit/>
          </a:bodyPr>
          <a:lstStyle/>
          <a:p>
            <a:pPr algn="ctr">
              <a:spcAft>
                <a:spcPts val="0"/>
              </a:spcAft>
            </a:pPr>
            <a:r>
              <a:rPr sz="1600" b="1" i="0">
                <a:solidFill>
                  <a:srgbClr val="0B1F3A"/>
                </a:solidFill>
                <a:latin typeface="Calibri"/>
              </a:rPr>
              <a:t>Economy Plus</a:t>
            </a:r>
          </a:p>
        </p:txBody>
      </p:sp>
      <p:sp>
        <p:nvSpPr>
          <p:cNvPr id="8" name="TextBox 7"/>
          <p:cNvSpPr txBox="1"/>
          <p:nvPr/>
        </p:nvSpPr>
        <p:spPr>
          <a:xfrm>
            <a:off x="6986016" y="1508760"/>
            <a:ext cx="1965960" cy="365760"/>
          </a:xfrm>
          <a:prstGeom prst="rect">
            <a:avLst/>
          </a:prstGeom>
          <a:noFill/>
        </p:spPr>
        <p:txBody>
          <a:bodyPr wrap="square" lIns="0" tIns="0" rIns="0" bIns="0" anchor="t">
            <a:spAutoFit/>
          </a:bodyPr>
          <a:lstStyle/>
          <a:p>
            <a:pPr algn="ctr">
              <a:spcAft>
                <a:spcPts val="0"/>
              </a:spcAft>
            </a:pPr>
            <a:r>
              <a:rPr sz="1600" b="1" i="0">
                <a:solidFill>
                  <a:srgbClr val="0B1F3A"/>
                </a:solidFill>
                <a:latin typeface="Calibri"/>
              </a:rPr>
              <a:t>Business</a:t>
            </a:r>
          </a:p>
        </p:txBody>
      </p:sp>
      <p:sp>
        <p:nvSpPr>
          <p:cNvPr id="9" name="TextBox 8"/>
          <p:cNvSpPr txBox="1"/>
          <p:nvPr/>
        </p:nvSpPr>
        <p:spPr>
          <a:xfrm>
            <a:off x="548640" y="2468880"/>
            <a:ext cx="2194560" cy="54864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Business Travel</a:t>
            </a:r>
          </a:p>
        </p:txBody>
      </p:sp>
      <p:sp>
        <p:nvSpPr>
          <p:cNvPr id="10" name="Rounded Rectangle 9"/>
          <p:cNvSpPr/>
          <p:nvPr/>
        </p:nvSpPr>
        <p:spPr>
          <a:xfrm>
            <a:off x="2834640" y="1965960"/>
            <a:ext cx="1965960" cy="1600200"/>
          </a:xfrm>
          <a:prstGeom prst="roundRect">
            <a:avLst>
              <a:gd name="adj" fmla="val 8000"/>
            </a:avLst>
          </a:prstGeom>
          <a:solidFill>
            <a:srgbClr val="9CC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4640" y="2286000"/>
            <a:ext cx="1965960" cy="640080"/>
          </a:xfrm>
          <a:prstGeom prst="rect">
            <a:avLst/>
          </a:prstGeom>
          <a:noFill/>
        </p:spPr>
        <p:txBody>
          <a:bodyPr wrap="square" lIns="0" tIns="0" rIns="0" bIns="0" anchor="t">
            <a:spAutoFit/>
          </a:bodyPr>
          <a:lstStyle/>
          <a:p>
            <a:pPr algn="ctr">
              <a:spcAft>
                <a:spcPts val="0"/>
              </a:spcAft>
            </a:pPr>
            <a:r>
              <a:rPr sz="3200" b="1" i="0">
                <a:solidFill>
                  <a:srgbClr val="0B1F3A"/>
                </a:solidFill>
                <a:latin typeface="Cambria"/>
              </a:rPr>
              <a:t>31.3%</a:t>
            </a:r>
          </a:p>
        </p:txBody>
      </p:sp>
      <p:sp>
        <p:nvSpPr>
          <p:cNvPr id="12" name="TextBox 11"/>
          <p:cNvSpPr txBox="1"/>
          <p:nvPr/>
        </p:nvSpPr>
        <p:spPr>
          <a:xfrm>
            <a:off x="2834640" y="2971800"/>
            <a:ext cx="1965960" cy="365760"/>
          </a:xfrm>
          <a:prstGeom prst="rect">
            <a:avLst/>
          </a:prstGeom>
          <a:noFill/>
        </p:spPr>
        <p:txBody>
          <a:bodyPr wrap="square" lIns="0" tIns="0" rIns="0" bIns="0" anchor="t">
            <a:spAutoFit/>
          </a:bodyPr>
          <a:lstStyle/>
          <a:p>
            <a:pPr algn="ctr">
              <a:spcAft>
                <a:spcPts val="0"/>
              </a:spcAft>
            </a:pPr>
            <a:r>
              <a:rPr sz="1200" b="0" i="0">
                <a:solidFill>
                  <a:srgbClr val="0B1F3A"/>
                </a:solidFill>
                <a:latin typeface="Calibri"/>
              </a:rPr>
              <a:t>n = 5,047</a:t>
            </a:r>
          </a:p>
        </p:txBody>
      </p:sp>
      <p:sp>
        <p:nvSpPr>
          <p:cNvPr id="13" name="Rounded Rectangle 12"/>
          <p:cNvSpPr/>
          <p:nvPr/>
        </p:nvSpPr>
        <p:spPr>
          <a:xfrm>
            <a:off x="4910328" y="1965960"/>
            <a:ext cx="1965960" cy="1600200"/>
          </a:xfrm>
          <a:prstGeom prst="roundRect">
            <a:avLst>
              <a:gd name="adj" fmla="val 8000"/>
            </a:avLst>
          </a:prstGeom>
          <a:solidFill>
            <a:srgbClr val="9CC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8" y="2286000"/>
            <a:ext cx="1965960" cy="640080"/>
          </a:xfrm>
          <a:prstGeom prst="rect">
            <a:avLst/>
          </a:prstGeom>
          <a:noFill/>
        </p:spPr>
        <p:txBody>
          <a:bodyPr wrap="square" lIns="0" tIns="0" rIns="0" bIns="0" anchor="t">
            <a:spAutoFit/>
          </a:bodyPr>
          <a:lstStyle/>
          <a:p>
            <a:pPr algn="ctr">
              <a:spcAft>
                <a:spcPts val="0"/>
              </a:spcAft>
            </a:pPr>
            <a:r>
              <a:rPr sz="3200" b="1" i="0">
                <a:solidFill>
                  <a:srgbClr val="0B1F3A"/>
                </a:solidFill>
                <a:latin typeface="Cambria"/>
              </a:rPr>
              <a:t>39.0%</a:t>
            </a:r>
          </a:p>
        </p:txBody>
      </p:sp>
      <p:sp>
        <p:nvSpPr>
          <p:cNvPr id="15" name="TextBox 14"/>
          <p:cNvSpPr txBox="1"/>
          <p:nvPr/>
        </p:nvSpPr>
        <p:spPr>
          <a:xfrm>
            <a:off x="4910328" y="2971800"/>
            <a:ext cx="1965960" cy="365760"/>
          </a:xfrm>
          <a:prstGeom prst="rect">
            <a:avLst/>
          </a:prstGeom>
          <a:noFill/>
        </p:spPr>
        <p:txBody>
          <a:bodyPr wrap="square" lIns="0" tIns="0" rIns="0" bIns="0" anchor="t">
            <a:spAutoFit/>
          </a:bodyPr>
          <a:lstStyle/>
          <a:p>
            <a:pPr algn="ctr">
              <a:spcAft>
                <a:spcPts val="0"/>
              </a:spcAft>
            </a:pPr>
            <a:r>
              <a:rPr sz="1200" b="0" i="0">
                <a:solidFill>
                  <a:srgbClr val="0B1F3A"/>
                </a:solidFill>
                <a:latin typeface="Calibri"/>
              </a:rPr>
              <a:t>n = 1,012</a:t>
            </a:r>
          </a:p>
        </p:txBody>
      </p:sp>
      <p:sp>
        <p:nvSpPr>
          <p:cNvPr id="16" name="Rounded Rectangle 15"/>
          <p:cNvSpPr/>
          <p:nvPr/>
        </p:nvSpPr>
        <p:spPr>
          <a:xfrm>
            <a:off x="6986016" y="1965960"/>
            <a:ext cx="1965960" cy="16002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86016" y="2286000"/>
            <a:ext cx="1965960" cy="640080"/>
          </a:xfrm>
          <a:prstGeom prst="rect">
            <a:avLst/>
          </a:prstGeom>
          <a:noFill/>
        </p:spPr>
        <p:txBody>
          <a:bodyPr wrap="square" lIns="0" tIns="0" rIns="0" bIns="0" anchor="t">
            <a:spAutoFit/>
          </a:bodyPr>
          <a:lstStyle/>
          <a:p>
            <a:pPr algn="ctr">
              <a:spcAft>
                <a:spcPts val="0"/>
              </a:spcAft>
            </a:pPr>
            <a:r>
              <a:rPr sz="3200" b="1" i="0">
                <a:solidFill>
                  <a:srgbClr val="FFFFFF"/>
                </a:solidFill>
                <a:latin typeface="Cambria"/>
              </a:rPr>
              <a:t>72.1%</a:t>
            </a:r>
          </a:p>
        </p:txBody>
      </p:sp>
      <p:sp>
        <p:nvSpPr>
          <p:cNvPr id="18" name="TextBox 17"/>
          <p:cNvSpPr txBox="1"/>
          <p:nvPr/>
        </p:nvSpPr>
        <p:spPr>
          <a:xfrm>
            <a:off x="6986016" y="2971800"/>
            <a:ext cx="1965960" cy="365760"/>
          </a:xfrm>
          <a:prstGeom prst="rect">
            <a:avLst/>
          </a:prstGeom>
          <a:noFill/>
        </p:spPr>
        <p:txBody>
          <a:bodyPr wrap="square" lIns="0" tIns="0" rIns="0" bIns="0" anchor="t">
            <a:spAutoFit/>
          </a:bodyPr>
          <a:lstStyle/>
          <a:p>
            <a:pPr algn="ctr">
              <a:spcAft>
                <a:spcPts val="0"/>
              </a:spcAft>
            </a:pPr>
            <a:r>
              <a:rPr sz="1200" b="0" i="0">
                <a:solidFill>
                  <a:srgbClr val="FFFFFF"/>
                </a:solidFill>
                <a:latin typeface="Calibri"/>
              </a:rPr>
              <a:t>n = 11,979</a:t>
            </a:r>
          </a:p>
        </p:txBody>
      </p:sp>
      <p:sp>
        <p:nvSpPr>
          <p:cNvPr id="19" name="TextBox 18"/>
          <p:cNvSpPr txBox="1"/>
          <p:nvPr/>
        </p:nvSpPr>
        <p:spPr>
          <a:xfrm>
            <a:off x="548640" y="4178807"/>
            <a:ext cx="2194560" cy="548640"/>
          </a:xfrm>
          <a:prstGeom prst="rect">
            <a:avLst/>
          </a:prstGeom>
          <a:noFill/>
        </p:spPr>
        <p:txBody>
          <a:bodyPr wrap="square" lIns="0" tIns="0" rIns="0" bIns="0" anchor="t">
            <a:spAutoFit/>
          </a:bodyPr>
          <a:lstStyle/>
          <a:p>
            <a:pPr algn="l">
              <a:spcAft>
                <a:spcPts val="0"/>
              </a:spcAft>
            </a:pPr>
            <a:r>
              <a:rPr sz="1600" b="1" i="0">
                <a:solidFill>
                  <a:srgbClr val="0B1F3A"/>
                </a:solidFill>
                <a:latin typeface="Calibri"/>
              </a:rPr>
              <a:t>Personal Travel</a:t>
            </a:r>
          </a:p>
        </p:txBody>
      </p:sp>
      <p:sp>
        <p:nvSpPr>
          <p:cNvPr id="20" name="Rounded Rectangle 19"/>
          <p:cNvSpPr/>
          <p:nvPr/>
        </p:nvSpPr>
        <p:spPr>
          <a:xfrm>
            <a:off x="2834640" y="3675887"/>
            <a:ext cx="1965960" cy="16002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34640" y="3995927"/>
            <a:ext cx="1965960" cy="640080"/>
          </a:xfrm>
          <a:prstGeom prst="rect">
            <a:avLst/>
          </a:prstGeom>
          <a:noFill/>
        </p:spPr>
        <p:txBody>
          <a:bodyPr wrap="square" lIns="0" tIns="0" rIns="0" bIns="0" anchor="t">
            <a:spAutoFit/>
          </a:bodyPr>
          <a:lstStyle/>
          <a:p>
            <a:pPr algn="ctr">
              <a:spcAft>
                <a:spcPts val="0"/>
              </a:spcAft>
            </a:pPr>
            <a:r>
              <a:rPr sz="3200" b="1" i="0">
                <a:solidFill>
                  <a:srgbClr val="0B1F3A"/>
                </a:solidFill>
                <a:latin typeface="Cambria"/>
              </a:rPr>
              <a:t>10.2%</a:t>
            </a:r>
          </a:p>
        </p:txBody>
      </p:sp>
      <p:sp>
        <p:nvSpPr>
          <p:cNvPr id="22" name="TextBox 21"/>
          <p:cNvSpPr txBox="1"/>
          <p:nvPr/>
        </p:nvSpPr>
        <p:spPr>
          <a:xfrm>
            <a:off x="2834640" y="4681727"/>
            <a:ext cx="1965960" cy="365760"/>
          </a:xfrm>
          <a:prstGeom prst="rect">
            <a:avLst/>
          </a:prstGeom>
          <a:noFill/>
        </p:spPr>
        <p:txBody>
          <a:bodyPr wrap="square" lIns="0" tIns="0" rIns="0" bIns="0" anchor="t">
            <a:spAutoFit/>
          </a:bodyPr>
          <a:lstStyle/>
          <a:p>
            <a:pPr algn="ctr">
              <a:spcAft>
                <a:spcPts val="0"/>
              </a:spcAft>
            </a:pPr>
            <a:r>
              <a:rPr sz="1200" b="0" i="0">
                <a:solidFill>
                  <a:srgbClr val="0B1F3A"/>
                </a:solidFill>
                <a:latin typeface="Calibri"/>
              </a:rPr>
              <a:t>n = 6,517</a:t>
            </a:r>
          </a:p>
        </p:txBody>
      </p:sp>
      <p:sp>
        <p:nvSpPr>
          <p:cNvPr id="23" name="Rounded Rectangle 22"/>
          <p:cNvSpPr/>
          <p:nvPr/>
        </p:nvSpPr>
        <p:spPr>
          <a:xfrm>
            <a:off x="4910328" y="3675887"/>
            <a:ext cx="1965960" cy="16002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10328" y="3995927"/>
            <a:ext cx="1965960" cy="640080"/>
          </a:xfrm>
          <a:prstGeom prst="rect">
            <a:avLst/>
          </a:prstGeom>
          <a:noFill/>
        </p:spPr>
        <p:txBody>
          <a:bodyPr wrap="square" lIns="0" tIns="0" rIns="0" bIns="0" anchor="t">
            <a:spAutoFit/>
          </a:bodyPr>
          <a:lstStyle/>
          <a:p>
            <a:pPr algn="ctr">
              <a:spcAft>
                <a:spcPts val="0"/>
              </a:spcAft>
            </a:pPr>
            <a:r>
              <a:rPr sz="3200" b="1" i="0">
                <a:solidFill>
                  <a:srgbClr val="0B1F3A"/>
                </a:solidFill>
                <a:latin typeface="Cambria"/>
              </a:rPr>
              <a:t>8.8%</a:t>
            </a:r>
          </a:p>
        </p:txBody>
      </p:sp>
      <p:sp>
        <p:nvSpPr>
          <p:cNvPr id="25" name="TextBox 24"/>
          <p:cNvSpPr txBox="1"/>
          <p:nvPr/>
        </p:nvSpPr>
        <p:spPr>
          <a:xfrm>
            <a:off x="4910328" y="4681727"/>
            <a:ext cx="1965960" cy="365760"/>
          </a:xfrm>
          <a:prstGeom prst="rect">
            <a:avLst/>
          </a:prstGeom>
          <a:noFill/>
        </p:spPr>
        <p:txBody>
          <a:bodyPr wrap="square" lIns="0" tIns="0" rIns="0" bIns="0" anchor="t">
            <a:spAutoFit/>
          </a:bodyPr>
          <a:lstStyle/>
          <a:p>
            <a:pPr algn="ctr">
              <a:spcAft>
                <a:spcPts val="0"/>
              </a:spcAft>
            </a:pPr>
            <a:r>
              <a:rPr sz="1200" b="0" i="0">
                <a:solidFill>
                  <a:srgbClr val="0B1F3A"/>
                </a:solidFill>
                <a:latin typeface="Calibri"/>
              </a:rPr>
              <a:t>n = 905</a:t>
            </a:r>
          </a:p>
        </p:txBody>
      </p:sp>
      <p:sp>
        <p:nvSpPr>
          <p:cNvPr id="26" name="Rounded Rectangle 25"/>
          <p:cNvSpPr/>
          <p:nvPr/>
        </p:nvSpPr>
        <p:spPr>
          <a:xfrm>
            <a:off x="6986016" y="3675887"/>
            <a:ext cx="1965960" cy="16002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86016" y="3995927"/>
            <a:ext cx="1965960" cy="640080"/>
          </a:xfrm>
          <a:prstGeom prst="rect">
            <a:avLst/>
          </a:prstGeom>
          <a:noFill/>
        </p:spPr>
        <p:txBody>
          <a:bodyPr wrap="square" lIns="0" tIns="0" rIns="0" bIns="0" anchor="t">
            <a:spAutoFit/>
          </a:bodyPr>
          <a:lstStyle/>
          <a:p>
            <a:pPr algn="ctr">
              <a:spcAft>
                <a:spcPts val="0"/>
              </a:spcAft>
            </a:pPr>
            <a:r>
              <a:rPr sz="3200" b="1" i="0">
                <a:solidFill>
                  <a:srgbClr val="0B1F3A"/>
                </a:solidFill>
                <a:latin typeface="Cambria"/>
              </a:rPr>
              <a:t>9.5%</a:t>
            </a:r>
          </a:p>
        </p:txBody>
      </p:sp>
      <p:sp>
        <p:nvSpPr>
          <p:cNvPr id="28" name="TextBox 27"/>
          <p:cNvSpPr txBox="1"/>
          <p:nvPr/>
        </p:nvSpPr>
        <p:spPr>
          <a:xfrm>
            <a:off x="6986016" y="4681727"/>
            <a:ext cx="1965960" cy="365760"/>
          </a:xfrm>
          <a:prstGeom prst="rect">
            <a:avLst/>
          </a:prstGeom>
          <a:noFill/>
        </p:spPr>
        <p:txBody>
          <a:bodyPr wrap="square" lIns="0" tIns="0" rIns="0" bIns="0" anchor="t">
            <a:spAutoFit/>
          </a:bodyPr>
          <a:lstStyle/>
          <a:p>
            <a:pPr algn="ctr">
              <a:spcAft>
                <a:spcPts val="0"/>
              </a:spcAft>
            </a:pPr>
            <a:r>
              <a:rPr sz="1200" b="0" i="0">
                <a:solidFill>
                  <a:srgbClr val="0B1F3A"/>
                </a:solidFill>
                <a:latin typeface="Calibri"/>
              </a:rPr>
              <a:t>n = 516</a:t>
            </a:r>
          </a:p>
        </p:txBody>
      </p:sp>
      <p:sp>
        <p:nvSpPr>
          <p:cNvPr id="29" name="TextBox 28"/>
          <p:cNvSpPr txBox="1"/>
          <p:nvPr/>
        </p:nvSpPr>
        <p:spPr>
          <a:xfrm>
            <a:off x="548640" y="5486400"/>
            <a:ext cx="7863840" cy="548640"/>
          </a:xfrm>
          <a:prstGeom prst="rect">
            <a:avLst/>
          </a:prstGeom>
          <a:noFill/>
        </p:spPr>
        <p:txBody>
          <a:bodyPr wrap="square" lIns="0" tIns="0" rIns="0" bIns="0" anchor="t">
            <a:spAutoFit/>
          </a:bodyPr>
          <a:lstStyle/>
          <a:p>
            <a:pPr algn="l">
              <a:spcAft>
                <a:spcPts val="0"/>
              </a:spcAft>
            </a:pPr>
            <a:r>
              <a:rPr sz="1200" b="0" i="1">
                <a:solidFill>
                  <a:srgbClr val="5B636E"/>
                </a:solidFill>
                <a:latin typeface="Calibri"/>
              </a:rPr>
              <a:t>Share of satisfied passengers per combination (darker = more satisfied)</a:t>
            </a:r>
          </a:p>
        </p:txBody>
      </p:sp>
      <p:sp>
        <p:nvSpPr>
          <p:cNvPr id="30" name="Rounded Rectangle 29"/>
          <p:cNvSpPr/>
          <p:nvPr/>
        </p:nvSpPr>
        <p:spPr>
          <a:xfrm>
            <a:off x="9144000" y="1508760"/>
            <a:ext cx="2514600" cy="429768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26880" y="1691640"/>
            <a:ext cx="2194560" cy="4023360"/>
          </a:xfrm>
          <a:prstGeom prst="rect">
            <a:avLst/>
          </a:prstGeom>
          <a:noFill/>
        </p:spPr>
        <p:txBody>
          <a:bodyPr wrap="square" lIns="0" tIns="0" rIns="0" bIns="0" anchor="t">
            <a:spAutoFit/>
          </a:bodyPr>
          <a:lstStyle/>
          <a:p>
            <a:pPr algn="l">
              <a:spcAft>
                <a:spcPts val="0"/>
              </a:spcAft>
            </a:pPr>
            <a:r>
              <a:rPr sz="1700" b="1" i="0">
                <a:solidFill>
                  <a:srgbClr val="2A78D6"/>
                </a:solidFill>
                <a:latin typeface="Calibri"/>
              </a:rPr>
              <a:t>Happiest</a:t>
            </a:r>
          </a:p>
          <a:p>
            <a:pPr algn="l">
              <a:spcAft>
                <a:spcPts val="1400"/>
              </a:spcAft>
            </a:pPr>
            <a:r>
              <a:rPr sz="1400" b="0" i="0">
                <a:solidFill>
                  <a:srgbClr val="1B1F24"/>
                </a:solidFill>
                <a:latin typeface="Calibri"/>
              </a:rPr>
              <a:t>Business travellers in Business class — 72 %</a:t>
            </a:r>
          </a:p>
          <a:p>
            <a:pPr algn="l">
              <a:spcAft>
                <a:spcPts val="0"/>
              </a:spcAft>
            </a:pPr>
            <a:r>
              <a:rPr sz="1700" b="1" i="0">
                <a:solidFill>
                  <a:srgbClr val="EB6834"/>
                </a:solidFill>
                <a:latin typeface="Calibri"/>
              </a:rPr>
              <a:t>Unhappiest</a:t>
            </a:r>
          </a:p>
          <a:p>
            <a:pPr algn="l">
              <a:spcAft>
                <a:spcPts val="1400"/>
              </a:spcAft>
            </a:pPr>
            <a:r>
              <a:rPr sz="1400" b="0" i="0">
                <a:solidFill>
                  <a:srgbClr val="1B1F24"/>
                </a:solidFill>
                <a:latin typeface="Calibri"/>
              </a:rPr>
              <a:t>Personal travellers — about 9–10 % in every class, even Business</a:t>
            </a:r>
          </a:p>
          <a:p>
            <a:pPr algn="l">
              <a:spcAft>
                <a:spcPts val="0"/>
              </a:spcAft>
            </a:pPr>
            <a:r>
              <a:rPr sz="1300" b="0" i="0">
                <a:solidFill>
                  <a:srgbClr val="5B636E"/>
                </a:solidFill>
                <a:latin typeface="Calibri"/>
              </a:rPr>
              <a:t>Loyalty doesn't help them: loyal leisure travellers are only 10 % satisfied.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SUMMARY OF DRIVERS</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What drives satisfaction the most?</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16</a:t>
            </a:r>
          </a:p>
        </p:txBody>
      </p:sp>
      <p:graphicFrame>
        <p:nvGraphicFramePr>
          <p:cNvPr id="6" name="Chart 5"/>
          <p:cNvGraphicFramePr>
            <a:graphicFrameLocks noGrp="1"/>
          </p:cNvGraphicFramePr>
          <p:nvPr/>
        </p:nvGraphicFramePr>
        <p:xfrm>
          <a:off x="548640" y="146304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955279" y="1600200"/>
            <a:ext cx="3703320" cy="4480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83879" y="1783080"/>
            <a:ext cx="3291840" cy="4206240"/>
          </a:xfrm>
          <a:prstGeom prst="rect">
            <a:avLst/>
          </a:prstGeom>
          <a:noFill/>
        </p:spPr>
        <p:txBody>
          <a:bodyPr wrap="square" lIns="0" tIns="0" rIns="0" bIns="0" anchor="t">
            <a:spAutoFit/>
          </a:bodyPr>
          <a:lstStyle/>
          <a:p>
            <a:pPr algn="l">
              <a:spcAft>
                <a:spcPts val="800"/>
              </a:spcAft>
            </a:pPr>
            <a:r>
              <a:rPr sz="1700" b="1" i="0">
                <a:solidFill>
                  <a:srgbClr val="0B1F3A"/>
                </a:solidFill>
                <a:latin typeface="Calibri"/>
              </a:rPr>
              <a:t>Reading the chart</a:t>
            </a:r>
          </a:p>
          <a:p>
            <a:pPr algn="l">
              <a:spcAft>
                <a:spcPts val="1200"/>
              </a:spcAft>
            </a:pPr>
            <a:r>
              <a:rPr sz="1400" b="0" i="0">
                <a:solidFill>
                  <a:srgbClr val="1B1F24"/>
                </a:solidFill>
                <a:latin typeface="Calibri"/>
              </a:rPr>
              <a:t>Cramér's V measures how strongly each factor is linked with satisfaction (0 = none, 0.5 = strong).</a:t>
            </a:r>
          </a:p>
          <a:p>
            <a:pPr algn="l">
              <a:spcAft>
                <a:spcPts val="1200"/>
              </a:spcAft>
            </a:pPr>
            <a:r>
              <a:rPr sz="1400" b="1" i="0">
                <a:solidFill>
                  <a:srgbClr val="1B1F24"/>
                </a:solidFill>
                <a:latin typeface="Calibri"/>
              </a:rPr>
              <a:t>Service quality </a:t>
            </a:r>
            <a:r>
              <a:rPr sz="1400" b="0" i="0">
                <a:solidFill>
                  <a:srgbClr val="1B1F24"/>
                </a:solidFill>
                <a:latin typeface="Calibri"/>
              </a:rPr>
              <a:t>(online boarding r = 0.59) is as strong as class.</a:t>
            </a:r>
          </a:p>
          <a:p>
            <a:pPr algn="l">
              <a:spcAft>
                <a:spcPts val="0"/>
              </a:spcAft>
            </a:pPr>
            <a:r>
              <a:rPr sz="1400" b="1" i="0">
                <a:solidFill>
                  <a:srgbClr val="1B1F24"/>
                </a:solidFill>
                <a:latin typeface="Calibri"/>
              </a:rPr>
              <a:t>Delays and gender </a:t>
            </a:r>
            <a:r>
              <a:rPr sz="1400" b="0" i="0">
                <a:solidFill>
                  <a:srgbClr val="1B1F24"/>
                </a:solidFill>
                <a:latin typeface="Calibri"/>
              </a:rPr>
              <a:t>matter little.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9144000" cy="274320"/>
          </a:xfrm>
          <a:prstGeom prst="rect">
            <a:avLst/>
          </a:prstGeom>
          <a:noFill/>
        </p:spPr>
        <p:txBody>
          <a:bodyPr wrap="square" lIns="0" tIns="0" rIns="0" bIns="0" anchor="t">
            <a:spAutoFit/>
          </a:bodyPr>
          <a:lstStyle/>
          <a:p>
            <a:pPr algn="l">
              <a:spcAft>
                <a:spcPts val="0"/>
              </a:spcAft>
            </a:pPr>
            <a:r>
              <a:rPr sz="1200" b="1" i="0">
                <a:solidFill>
                  <a:srgbClr val="2A78D6"/>
                </a:solidFill>
                <a:latin typeface="Calibri"/>
              </a:rPr>
              <a:t>WHAT TO DO NEXT</a:t>
            </a:r>
          </a:p>
        </p:txBody>
      </p:sp>
      <p:sp>
        <p:nvSpPr>
          <p:cNvPr id="3" name="Title"/>
          <p:cNvSpPr txBox="1"/>
          <p:nvPr/>
        </p:nvSpPr>
        <p:spPr>
          <a:xfrm>
            <a:off x="548640" y="621792"/>
            <a:ext cx="11064240" cy="731520"/>
          </a:xfrm>
          <a:prstGeom prst="rect">
            <a:avLst/>
          </a:prstGeom>
          <a:noFill/>
        </p:spPr>
        <p:txBody>
          <a:bodyPr wrap="square" lIns="0" tIns="0" rIns="0" bIns="0" anchor="t">
            <a:spAutoFit/>
          </a:bodyPr>
          <a:lstStyle/>
          <a:p>
            <a:pPr algn="l">
              <a:spcAft>
                <a:spcPts val="0"/>
              </a:spcAft>
            </a:pPr>
            <a:r>
              <a:rPr sz="3200" b="1" i="0">
                <a:solidFill>
                  <a:srgbClr val="0B1F3A"/>
                </a:solidFill>
                <a:latin typeface="Cambria"/>
              </a:rPr>
              <a:t>Recommendations for the airline</a:t>
            </a:r>
          </a:p>
        </p:txBody>
      </p:sp>
      <p:sp>
        <p:nvSpPr>
          <p:cNvPr id="4" name="TextBox 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B636E"/>
                </a:solidFill>
                <a:latin typeface="Calibri"/>
              </a:rPr>
              <a:t>Airline Passenger Satisfaction  ·  Mid Project</a:t>
            </a:r>
          </a:p>
        </p:txBody>
      </p:sp>
      <p:sp>
        <p:nvSpPr>
          <p:cNvPr id="5" name="TextBox 4"/>
          <p:cNvSpPr txBox="1"/>
          <p:nvPr/>
        </p:nvSpPr>
        <p:spPr>
          <a:xfrm>
            <a:off x="11155680" y="6400800"/>
            <a:ext cx="502920" cy="274320"/>
          </a:xfrm>
          <a:prstGeom prst="rect">
            <a:avLst/>
          </a:prstGeom>
          <a:noFill/>
        </p:spPr>
        <p:txBody>
          <a:bodyPr wrap="square" lIns="0" tIns="0" rIns="0" bIns="0" anchor="t">
            <a:spAutoFit/>
          </a:bodyPr>
          <a:lstStyle/>
          <a:p>
            <a:pPr algn="r">
              <a:spcAft>
                <a:spcPts val="0"/>
              </a:spcAft>
            </a:pPr>
            <a:r>
              <a:rPr sz="1000" b="0" i="0">
                <a:solidFill>
                  <a:srgbClr val="5B636E"/>
                </a:solidFill>
                <a:latin typeface="Calibri"/>
              </a:rPr>
              <a:t>17</a:t>
            </a:r>
          </a:p>
        </p:txBody>
      </p:sp>
      <p:sp>
        <p:nvSpPr>
          <p:cNvPr id="6" name="Rounded Rectangle 5"/>
          <p:cNvSpPr/>
          <p:nvPr/>
        </p:nvSpPr>
        <p:spPr>
          <a:xfrm>
            <a:off x="548640" y="1554480"/>
            <a:ext cx="11109960" cy="804672"/>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1700784"/>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8" name="TextBox 7"/>
          <p:cNvSpPr txBox="1"/>
          <p:nvPr/>
        </p:nvSpPr>
        <p:spPr>
          <a:xfrm>
            <a:off x="1508760" y="1664207"/>
            <a:ext cx="3291840" cy="594360"/>
          </a:xfrm>
          <a:prstGeom prst="rect">
            <a:avLst/>
          </a:prstGeom>
          <a:noFill/>
        </p:spPr>
        <p:txBody>
          <a:bodyPr wrap="square" lIns="0" tIns="0" rIns="0" bIns="0" anchor="ctr">
            <a:spAutoFit/>
          </a:bodyPr>
          <a:lstStyle/>
          <a:p>
            <a:pPr algn="l">
              <a:spcAft>
                <a:spcPts val="0"/>
              </a:spcAft>
            </a:pPr>
            <a:r>
              <a:rPr sz="1800" b="1" i="0">
                <a:solidFill>
                  <a:srgbClr val="0B1F3A"/>
                </a:solidFill>
                <a:latin typeface="Calibri"/>
              </a:rPr>
              <a:t>Fix the digital journey</a:t>
            </a:r>
          </a:p>
        </p:txBody>
      </p:sp>
      <p:sp>
        <p:nvSpPr>
          <p:cNvPr id="9" name="TextBox 8"/>
          <p:cNvSpPr txBox="1"/>
          <p:nvPr/>
        </p:nvSpPr>
        <p:spPr>
          <a:xfrm>
            <a:off x="4846320" y="1664207"/>
            <a:ext cx="6583680" cy="594360"/>
          </a:xfrm>
          <a:prstGeom prst="rect">
            <a:avLst/>
          </a:prstGeom>
          <a:noFill/>
        </p:spPr>
        <p:txBody>
          <a:bodyPr wrap="square" lIns="0" tIns="0" rIns="0" bIns="0" anchor="ctr">
            <a:spAutoFit/>
          </a:bodyPr>
          <a:lstStyle/>
          <a:p>
            <a:pPr algn="l">
              <a:spcAft>
                <a:spcPts val="0"/>
              </a:spcAft>
            </a:pPr>
            <a:r>
              <a:rPr sz="1500" b="0" i="0">
                <a:solidFill>
                  <a:srgbClr val="1B1F24"/>
                </a:solidFill>
                <a:latin typeface="Calibri"/>
              </a:rPr>
              <a:t>Wifi, online boarding and booking: lowest rated, yet top drivers</a:t>
            </a:r>
          </a:p>
        </p:txBody>
      </p:sp>
      <p:sp>
        <p:nvSpPr>
          <p:cNvPr id="10" name="Rounded Rectangle 9"/>
          <p:cNvSpPr/>
          <p:nvPr/>
        </p:nvSpPr>
        <p:spPr>
          <a:xfrm>
            <a:off x="548640" y="2496312"/>
            <a:ext cx="11109960" cy="804672"/>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77240" y="2642616"/>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2" name="TextBox 11"/>
          <p:cNvSpPr txBox="1"/>
          <p:nvPr/>
        </p:nvSpPr>
        <p:spPr>
          <a:xfrm>
            <a:off x="1508760" y="2606040"/>
            <a:ext cx="3291840" cy="594360"/>
          </a:xfrm>
          <a:prstGeom prst="rect">
            <a:avLst/>
          </a:prstGeom>
          <a:noFill/>
        </p:spPr>
        <p:txBody>
          <a:bodyPr wrap="square" lIns="0" tIns="0" rIns="0" bIns="0" anchor="ctr">
            <a:spAutoFit/>
          </a:bodyPr>
          <a:lstStyle/>
          <a:p>
            <a:pPr algn="l">
              <a:spcAft>
                <a:spcPts val="0"/>
              </a:spcAft>
            </a:pPr>
            <a:r>
              <a:rPr sz="1800" b="1" i="0">
                <a:solidFill>
                  <a:srgbClr val="0B1F3A"/>
                </a:solidFill>
                <a:latin typeface="Calibri"/>
              </a:rPr>
              <a:t>Upgrade Economy</a:t>
            </a:r>
          </a:p>
        </p:txBody>
      </p:sp>
      <p:sp>
        <p:nvSpPr>
          <p:cNvPr id="13" name="TextBox 12"/>
          <p:cNvSpPr txBox="1"/>
          <p:nvPr/>
        </p:nvSpPr>
        <p:spPr>
          <a:xfrm>
            <a:off x="4846320" y="2606040"/>
            <a:ext cx="6583680" cy="594360"/>
          </a:xfrm>
          <a:prstGeom prst="rect">
            <a:avLst/>
          </a:prstGeom>
          <a:noFill/>
        </p:spPr>
        <p:txBody>
          <a:bodyPr wrap="square" lIns="0" tIns="0" rIns="0" bIns="0" anchor="ctr">
            <a:spAutoFit/>
          </a:bodyPr>
          <a:lstStyle/>
          <a:p>
            <a:pPr algn="l">
              <a:spcAft>
                <a:spcPts val="0"/>
              </a:spcAft>
            </a:pPr>
            <a:r>
              <a:rPr sz="1500" b="0" i="0">
                <a:solidFill>
                  <a:srgbClr val="1B1F24"/>
                </a:solidFill>
                <a:latin typeface="Calibri"/>
              </a:rPr>
              <a:t>Fewer than 1 in 5 Economy passengers are satisfied — seats, entertainment, leg room</a:t>
            </a:r>
          </a:p>
        </p:txBody>
      </p:sp>
      <p:sp>
        <p:nvSpPr>
          <p:cNvPr id="14" name="Rounded Rectangle 13"/>
          <p:cNvSpPr/>
          <p:nvPr/>
        </p:nvSpPr>
        <p:spPr>
          <a:xfrm>
            <a:off x="548640" y="3438144"/>
            <a:ext cx="11109960" cy="804672"/>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77240" y="358444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6" name="TextBox 15"/>
          <p:cNvSpPr txBox="1"/>
          <p:nvPr/>
        </p:nvSpPr>
        <p:spPr>
          <a:xfrm>
            <a:off x="1508760" y="3547872"/>
            <a:ext cx="3291840" cy="594360"/>
          </a:xfrm>
          <a:prstGeom prst="rect">
            <a:avLst/>
          </a:prstGeom>
          <a:noFill/>
        </p:spPr>
        <p:txBody>
          <a:bodyPr wrap="square" lIns="0" tIns="0" rIns="0" bIns="0" anchor="ctr">
            <a:spAutoFit/>
          </a:bodyPr>
          <a:lstStyle/>
          <a:p>
            <a:pPr algn="l">
              <a:spcAft>
                <a:spcPts val="0"/>
              </a:spcAft>
            </a:pPr>
            <a:r>
              <a:rPr sz="1800" b="1" i="0">
                <a:solidFill>
                  <a:srgbClr val="0B1F3A"/>
                </a:solidFill>
                <a:latin typeface="Calibri"/>
              </a:rPr>
              <a:t>Win over leisure travellers</a:t>
            </a:r>
          </a:p>
        </p:txBody>
      </p:sp>
      <p:sp>
        <p:nvSpPr>
          <p:cNvPr id="17" name="TextBox 16"/>
          <p:cNvSpPr txBox="1"/>
          <p:nvPr/>
        </p:nvSpPr>
        <p:spPr>
          <a:xfrm>
            <a:off x="4846320" y="3547872"/>
            <a:ext cx="6583680" cy="594360"/>
          </a:xfrm>
          <a:prstGeom prst="rect">
            <a:avLst/>
          </a:prstGeom>
          <a:noFill/>
        </p:spPr>
        <p:txBody>
          <a:bodyPr wrap="square" lIns="0" tIns="0" rIns="0" bIns="0" anchor="ctr">
            <a:spAutoFit/>
          </a:bodyPr>
          <a:lstStyle/>
          <a:p>
            <a:pPr algn="l">
              <a:spcAft>
                <a:spcPts val="0"/>
              </a:spcAft>
            </a:pPr>
            <a:r>
              <a:rPr sz="1500" b="0" i="0">
                <a:solidFill>
                  <a:srgbClr val="1B1F24"/>
                </a:solidFill>
                <a:latin typeface="Calibri"/>
              </a:rPr>
              <a:t>Only ~10 % satisfied: family services, flexible fares, entertainment</a:t>
            </a:r>
          </a:p>
        </p:txBody>
      </p:sp>
      <p:sp>
        <p:nvSpPr>
          <p:cNvPr id="18" name="Rounded Rectangle 17"/>
          <p:cNvSpPr/>
          <p:nvPr/>
        </p:nvSpPr>
        <p:spPr>
          <a:xfrm>
            <a:off x="548640" y="4379976"/>
            <a:ext cx="11109960" cy="804672"/>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7240" y="4526280"/>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20" name="TextBox 19"/>
          <p:cNvSpPr txBox="1"/>
          <p:nvPr/>
        </p:nvSpPr>
        <p:spPr>
          <a:xfrm>
            <a:off x="1508760" y="4489704"/>
            <a:ext cx="3291840" cy="594360"/>
          </a:xfrm>
          <a:prstGeom prst="rect">
            <a:avLst/>
          </a:prstGeom>
          <a:noFill/>
        </p:spPr>
        <p:txBody>
          <a:bodyPr wrap="square" lIns="0" tIns="0" rIns="0" bIns="0" anchor="ctr">
            <a:spAutoFit/>
          </a:bodyPr>
          <a:lstStyle/>
          <a:p>
            <a:pPr algn="l">
              <a:spcAft>
                <a:spcPts val="0"/>
              </a:spcAft>
            </a:pPr>
            <a:r>
              <a:rPr sz="1800" b="1" i="0">
                <a:solidFill>
                  <a:srgbClr val="0B1F3A"/>
                </a:solidFill>
                <a:latin typeface="Calibri"/>
              </a:rPr>
              <a:t>Re-engage disloyal customers</a:t>
            </a:r>
          </a:p>
        </p:txBody>
      </p:sp>
      <p:sp>
        <p:nvSpPr>
          <p:cNvPr id="21" name="TextBox 20"/>
          <p:cNvSpPr txBox="1"/>
          <p:nvPr/>
        </p:nvSpPr>
        <p:spPr>
          <a:xfrm>
            <a:off x="4846320" y="4489704"/>
            <a:ext cx="6583680" cy="594360"/>
          </a:xfrm>
          <a:prstGeom prst="rect">
            <a:avLst/>
          </a:prstGeom>
          <a:noFill/>
        </p:spPr>
        <p:txBody>
          <a:bodyPr wrap="square" lIns="0" tIns="0" rIns="0" bIns="0" anchor="ctr">
            <a:spAutoFit/>
          </a:bodyPr>
          <a:lstStyle/>
          <a:p>
            <a:pPr algn="l">
              <a:spcAft>
                <a:spcPts val="0"/>
              </a:spcAft>
            </a:pPr>
            <a:r>
              <a:rPr sz="1500" b="0" i="0">
                <a:solidFill>
                  <a:srgbClr val="1B1F24"/>
                </a:solidFill>
                <a:latin typeface="Calibri"/>
              </a:rPr>
              <a:t>25 % satisfied — targeted loyalty offers</a:t>
            </a:r>
          </a:p>
        </p:txBody>
      </p:sp>
      <p:sp>
        <p:nvSpPr>
          <p:cNvPr id="22" name="Rounded Rectangle 21"/>
          <p:cNvSpPr/>
          <p:nvPr/>
        </p:nvSpPr>
        <p:spPr>
          <a:xfrm>
            <a:off x="548640" y="5321808"/>
            <a:ext cx="11109960" cy="804672"/>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77240" y="5468112"/>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5</a:t>
            </a:r>
          </a:p>
        </p:txBody>
      </p:sp>
      <p:sp>
        <p:nvSpPr>
          <p:cNvPr id="24" name="TextBox 23"/>
          <p:cNvSpPr txBox="1"/>
          <p:nvPr/>
        </p:nvSpPr>
        <p:spPr>
          <a:xfrm>
            <a:off x="1508760" y="5431536"/>
            <a:ext cx="3291840" cy="594360"/>
          </a:xfrm>
          <a:prstGeom prst="rect">
            <a:avLst/>
          </a:prstGeom>
          <a:noFill/>
        </p:spPr>
        <p:txBody>
          <a:bodyPr wrap="square" lIns="0" tIns="0" rIns="0" bIns="0" anchor="ctr">
            <a:spAutoFit/>
          </a:bodyPr>
          <a:lstStyle/>
          <a:p>
            <a:pPr algn="l">
              <a:spcAft>
                <a:spcPts val="0"/>
              </a:spcAft>
            </a:pPr>
            <a:r>
              <a:rPr sz="1800" b="1" i="0">
                <a:solidFill>
                  <a:srgbClr val="0B1F3A"/>
                </a:solidFill>
                <a:latin typeface="Calibri"/>
              </a:rPr>
              <a:t>Keep delays short</a:t>
            </a:r>
          </a:p>
        </p:txBody>
      </p:sp>
      <p:sp>
        <p:nvSpPr>
          <p:cNvPr id="25" name="TextBox 24"/>
          <p:cNvSpPr txBox="1"/>
          <p:nvPr/>
        </p:nvSpPr>
        <p:spPr>
          <a:xfrm>
            <a:off x="4846320" y="5431536"/>
            <a:ext cx="6583680" cy="594360"/>
          </a:xfrm>
          <a:prstGeom prst="rect">
            <a:avLst/>
          </a:prstGeom>
          <a:noFill/>
        </p:spPr>
        <p:txBody>
          <a:bodyPr wrap="square" lIns="0" tIns="0" rIns="0" bIns="0" anchor="ctr">
            <a:spAutoFit/>
          </a:bodyPr>
          <a:lstStyle/>
          <a:p>
            <a:pPr algn="l">
              <a:spcAft>
                <a:spcPts val="0"/>
              </a:spcAft>
            </a:pPr>
            <a:r>
              <a:rPr sz="1500" b="0" i="0">
                <a:solidFill>
                  <a:srgbClr val="1B1F24"/>
                </a:solidFill>
                <a:latin typeface="Calibri"/>
              </a:rPr>
              <a:t>Smaller effect, but satisfaction falls with every delay band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10058400" cy="457200"/>
          </a:xfrm>
          <a:prstGeom prst="rect">
            <a:avLst/>
          </a:prstGeom>
          <a:noFill/>
        </p:spPr>
        <p:txBody>
          <a:bodyPr wrap="square" lIns="0" tIns="0" rIns="0" bIns="0" anchor="t">
            <a:spAutoFit/>
          </a:bodyPr>
          <a:lstStyle/>
          <a:p>
            <a:pPr algn="l">
              <a:spcAft>
                <a:spcPts val="0"/>
              </a:spcAft>
            </a:pPr>
            <a:r>
              <a:rPr sz="1600" b="1" i="0">
                <a:solidFill>
                  <a:srgbClr val="B8C7DB"/>
                </a:solidFill>
                <a:latin typeface="Calibri"/>
              </a:rPr>
              <a:t>CONCLUSION</a:t>
            </a:r>
          </a:p>
        </p:txBody>
      </p:sp>
      <p:sp>
        <p:nvSpPr>
          <p:cNvPr id="3" name="TextBox 2"/>
          <p:cNvSpPr txBox="1"/>
          <p:nvPr/>
        </p:nvSpPr>
        <p:spPr>
          <a:xfrm>
            <a:off x="731520" y="1097280"/>
            <a:ext cx="10789920" cy="914400"/>
          </a:xfrm>
          <a:prstGeom prst="rect">
            <a:avLst/>
          </a:prstGeom>
          <a:noFill/>
        </p:spPr>
        <p:txBody>
          <a:bodyPr wrap="square" lIns="0" tIns="0" rIns="0" bIns="0" anchor="t">
            <a:spAutoFit/>
          </a:bodyPr>
          <a:lstStyle/>
          <a:p>
            <a:pPr algn="l">
              <a:spcAft>
                <a:spcPts val="0"/>
              </a:spcAft>
            </a:pPr>
            <a:r>
              <a:rPr sz="3400" b="1" i="0">
                <a:solidFill>
                  <a:srgbClr val="FFFFFF"/>
                </a:solidFill>
                <a:latin typeface="Cambria"/>
              </a:rPr>
              <a:t>Satisfaction is earned in the cabin and online — not by distance or gender</a:t>
            </a:r>
          </a:p>
        </p:txBody>
      </p:sp>
      <p:sp>
        <p:nvSpPr>
          <p:cNvPr id="4" name="Rounded Rectangle 3"/>
          <p:cNvSpPr/>
          <p:nvPr/>
        </p:nvSpPr>
        <p:spPr>
          <a:xfrm>
            <a:off x="731520" y="2743200"/>
            <a:ext cx="3383280" cy="2194560"/>
          </a:xfrm>
          <a:prstGeom prst="roundRect">
            <a:avLst>
              <a:gd name="adj" fmla="val 8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3017520"/>
            <a:ext cx="2834640" cy="822960"/>
          </a:xfrm>
          <a:prstGeom prst="rect">
            <a:avLst/>
          </a:prstGeom>
          <a:noFill/>
        </p:spPr>
        <p:txBody>
          <a:bodyPr wrap="square" lIns="0" tIns="0" rIns="0" bIns="0" anchor="t">
            <a:spAutoFit/>
          </a:bodyPr>
          <a:lstStyle/>
          <a:p>
            <a:pPr algn="l">
              <a:spcAft>
                <a:spcPts val="0"/>
              </a:spcAft>
            </a:pPr>
            <a:r>
              <a:rPr sz="3600" b="1" i="0">
                <a:solidFill>
                  <a:srgbClr val="FFFFFF"/>
                </a:solidFill>
                <a:latin typeface="Cambria"/>
              </a:rPr>
              <a:t>43.9 %</a:t>
            </a:r>
          </a:p>
        </p:txBody>
      </p:sp>
      <p:sp>
        <p:nvSpPr>
          <p:cNvPr id="6" name="TextBox 5"/>
          <p:cNvSpPr txBox="1"/>
          <p:nvPr/>
        </p:nvSpPr>
        <p:spPr>
          <a:xfrm>
            <a:off x="1005840" y="3886200"/>
            <a:ext cx="2834640" cy="914400"/>
          </a:xfrm>
          <a:prstGeom prst="rect">
            <a:avLst/>
          </a:prstGeom>
          <a:noFill/>
        </p:spPr>
        <p:txBody>
          <a:bodyPr wrap="square" lIns="0" tIns="0" rIns="0" bIns="0" anchor="t">
            <a:spAutoFit/>
          </a:bodyPr>
          <a:lstStyle/>
          <a:p>
            <a:pPr algn="l">
              <a:spcAft>
                <a:spcPts val="0"/>
              </a:spcAft>
            </a:pPr>
            <a:r>
              <a:rPr sz="1500" b="0" i="0">
                <a:solidFill>
                  <a:srgbClr val="B8C7DB"/>
                </a:solidFill>
                <a:latin typeface="Calibri"/>
              </a:rPr>
              <a:t>satisfied overall — room to grow</a:t>
            </a:r>
          </a:p>
        </p:txBody>
      </p:sp>
      <p:sp>
        <p:nvSpPr>
          <p:cNvPr id="7" name="Rounded Rectangle 6"/>
          <p:cNvSpPr/>
          <p:nvPr/>
        </p:nvSpPr>
        <p:spPr>
          <a:xfrm>
            <a:off x="4389120" y="2743200"/>
            <a:ext cx="3383280" cy="2194560"/>
          </a:xfrm>
          <a:prstGeom prst="roundRect">
            <a:avLst>
              <a:gd name="adj" fmla="val 8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3017520"/>
            <a:ext cx="2834640" cy="822960"/>
          </a:xfrm>
          <a:prstGeom prst="rect">
            <a:avLst/>
          </a:prstGeom>
          <a:noFill/>
        </p:spPr>
        <p:txBody>
          <a:bodyPr wrap="square" lIns="0" tIns="0" rIns="0" bIns="0" anchor="t">
            <a:spAutoFit/>
          </a:bodyPr>
          <a:lstStyle/>
          <a:p>
            <a:pPr algn="l">
              <a:spcAft>
                <a:spcPts val="0"/>
              </a:spcAft>
            </a:pPr>
            <a:r>
              <a:rPr sz="3600" b="1" i="0">
                <a:solidFill>
                  <a:srgbClr val="FFFFFF"/>
                </a:solidFill>
                <a:latin typeface="Cambria"/>
              </a:rPr>
              <a:t>72 % vs 10 %</a:t>
            </a:r>
          </a:p>
        </p:txBody>
      </p:sp>
      <p:sp>
        <p:nvSpPr>
          <p:cNvPr id="9" name="TextBox 8"/>
          <p:cNvSpPr txBox="1"/>
          <p:nvPr/>
        </p:nvSpPr>
        <p:spPr>
          <a:xfrm>
            <a:off x="4663440" y="3886200"/>
            <a:ext cx="2834640" cy="914400"/>
          </a:xfrm>
          <a:prstGeom prst="rect">
            <a:avLst/>
          </a:prstGeom>
          <a:noFill/>
        </p:spPr>
        <p:txBody>
          <a:bodyPr wrap="square" lIns="0" tIns="0" rIns="0" bIns="0" anchor="t">
            <a:spAutoFit/>
          </a:bodyPr>
          <a:lstStyle/>
          <a:p>
            <a:pPr algn="l">
              <a:spcAft>
                <a:spcPts val="0"/>
              </a:spcAft>
            </a:pPr>
            <a:r>
              <a:rPr sz="1500" b="0" i="0">
                <a:solidFill>
                  <a:srgbClr val="B8C7DB"/>
                </a:solidFill>
                <a:latin typeface="Calibri"/>
              </a:rPr>
              <a:t>business travellers in Business class vs leisure travellers</a:t>
            </a:r>
          </a:p>
        </p:txBody>
      </p:sp>
      <p:sp>
        <p:nvSpPr>
          <p:cNvPr id="10" name="Rounded Rectangle 9"/>
          <p:cNvSpPr/>
          <p:nvPr/>
        </p:nvSpPr>
        <p:spPr>
          <a:xfrm>
            <a:off x="8046720" y="2743200"/>
            <a:ext cx="3383280" cy="2194560"/>
          </a:xfrm>
          <a:prstGeom prst="roundRect">
            <a:avLst>
              <a:gd name="adj" fmla="val 8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3017520"/>
            <a:ext cx="2834640" cy="822960"/>
          </a:xfrm>
          <a:prstGeom prst="rect">
            <a:avLst/>
          </a:prstGeom>
          <a:noFill/>
        </p:spPr>
        <p:txBody>
          <a:bodyPr wrap="square" lIns="0" tIns="0" rIns="0" bIns="0" anchor="t">
            <a:spAutoFit/>
          </a:bodyPr>
          <a:lstStyle/>
          <a:p>
            <a:pPr algn="l">
              <a:spcAft>
                <a:spcPts val="0"/>
              </a:spcAft>
            </a:pPr>
            <a:r>
              <a:rPr sz="3600" b="1" i="0">
                <a:solidFill>
                  <a:srgbClr val="FFFFFF"/>
                </a:solidFill>
                <a:latin typeface="Cambria"/>
              </a:rPr>
              <a:t>+1.44</a:t>
            </a:r>
          </a:p>
        </p:txBody>
      </p:sp>
      <p:sp>
        <p:nvSpPr>
          <p:cNvPr id="12" name="TextBox 11"/>
          <p:cNvSpPr txBox="1"/>
          <p:nvPr/>
        </p:nvSpPr>
        <p:spPr>
          <a:xfrm>
            <a:off x="8321040" y="3886200"/>
            <a:ext cx="2834640" cy="914400"/>
          </a:xfrm>
          <a:prstGeom prst="rect">
            <a:avLst/>
          </a:prstGeom>
          <a:noFill/>
        </p:spPr>
        <p:txBody>
          <a:bodyPr wrap="square" lIns="0" tIns="0" rIns="0" bIns="0" anchor="t">
            <a:spAutoFit/>
          </a:bodyPr>
          <a:lstStyle/>
          <a:p>
            <a:pPr algn="l">
              <a:spcAft>
                <a:spcPts val="0"/>
              </a:spcAft>
            </a:pPr>
            <a:r>
              <a:rPr sz="1500" b="0" i="0">
                <a:solidFill>
                  <a:srgbClr val="B8C7DB"/>
                </a:solidFill>
                <a:latin typeface="Calibri"/>
              </a:rPr>
              <a:t>online boarding: the single biggest service gap</a:t>
            </a:r>
          </a:p>
        </p:txBody>
      </p:sp>
      <p:sp>
        <p:nvSpPr>
          <p:cNvPr id="13" name="TextBox 12"/>
          <p:cNvSpPr txBox="1"/>
          <p:nvPr/>
        </p:nvSpPr>
        <p:spPr>
          <a:xfrm>
            <a:off x="731520" y="5394960"/>
            <a:ext cx="10789920" cy="731520"/>
          </a:xfrm>
          <a:prstGeom prst="rect">
            <a:avLst/>
          </a:prstGeom>
          <a:noFill/>
        </p:spPr>
        <p:txBody>
          <a:bodyPr wrap="square" lIns="0" tIns="0" rIns="0" bIns="0" anchor="t">
            <a:spAutoFit/>
          </a:bodyPr>
          <a:lstStyle/>
          <a:p>
            <a:pPr algn="l">
              <a:spcAft>
                <a:spcPts val="0"/>
              </a:spcAft>
            </a:pPr>
            <a:r>
              <a:rPr sz="1500" b="0" i="0">
                <a:solidFill>
                  <a:srgbClr val="B8C7DB"/>
                </a:solidFill>
                <a:latin typeface="Calibri"/>
              </a:rPr>
              <a:t>The data was cleaned (N/A ratings, missing delays, inconsistent labels), explored across 10+ variables with 6 kinds of charts, and every insight was verified with a statistical test.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Oval 1"/>
          <p:cNvSpPr/>
          <p:nvPr/>
        </p:nvSpPr>
        <p:spPr>
          <a:xfrm>
            <a:off x="8138160" y="1097280"/>
            <a:ext cx="4572000" cy="4572000"/>
          </a:xfrm>
          <a:prstGeom prst="ellipse">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92640" y="4023360"/>
            <a:ext cx="2011680" cy="20116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103120"/>
            <a:ext cx="7315200" cy="1097280"/>
          </a:xfrm>
          <a:prstGeom prst="rect">
            <a:avLst/>
          </a:prstGeom>
          <a:noFill/>
        </p:spPr>
        <p:txBody>
          <a:bodyPr wrap="square" lIns="0" tIns="0" rIns="0" bIns="0" anchor="t">
            <a:spAutoFit/>
          </a:bodyPr>
          <a:lstStyle/>
          <a:p>
            <a:pPr algn="l">
              <a:spcAft>
                <a:spcPts val="0"/>
              </a:spcAft>
            </a:pPr>
            <a:r>
              <a:rPr sz="6000" b="1" i="0">
                <a:solidFill>
                  <a:srgbClr val="FFFFFF"/>
                </a:solidFill>
                <a:latin typeface="Cambria"/>
              </a:rPr>
              <a:t>Thank you</a:t>
            </a:r>
          </a:p>
        </p:txBody>
      </p:sp>
      <p:sp>
        <p:nvSpPr>
          <p:cNvPr id="5" name="TextBox 4"/>
          <p:cNvSpPr txBox="1"/>
          <p:nvPr/>
        </p:nvSpPr>
        <p:spPr>
          <a:xfrm>
            <a:off x="731520" y="3291840"/>
            <a:ext cx="7315200" cy="548640"/>
          </a:xfrm>
          <a:prstGeom prst="rect">
            <a:avLst/>
          </a:prstGeom>
          <a:noFill/>
        </p:spPr>
        <p:txBody>
          <a:bodyPr wrap="square" lIns="0" tIns="0" rIns="0" bIns="0" anchor="t">
            <a:spAutoFit/>
          </a:bodyPr>
          <a:lstStyle/>
          <a:p>
            <a:pPr algn="l">
              <a:spcAft>
                <a:spcPts val="0"/>
              </a:spcAft>
            </a:pPr>
            <a:r>
              <a:rPr sz="2400" b="0" i="1">
                <a:solidFill>
                  <a:srgbClr val="B8C7DB"/>
                </a:solidFill>
                <a:latin typeface="Calibri"/>
              </a:rPr>
              <a:t>Questions &amp; discussion</a:t>
            </a:r>
          </a:p>
        </p:txBody>
      </p:sp>
      <p:sp>
        <p:nvSpPr>
          <p:cNvPr id="6" name="TextBox 5"/>
          <p:cNvSpPr txBox="1"/>
          <p:nvPr/>
        </p:nvSpPr>
        <p:spPr>
          <a:xfrm>
            <a:off x="623365" y="4389120"/>
            <a:ext cx="7315200" cy="246221"/>
          </a:xfrm>
          <a:prstGeom prst="rect">
            <a:avLst/>
          </a:prstGeom>
          <a:noFill/>
        </p:spPr>
        <p:txBody>
          <a:bodyPr wrap="square" lIns="0" tIns="0" rIns="0" bIns="0" anchor="t">
            <a:spAutoFit/>
          </a:bodyPr>
          <a:lstStyle/>
          <a:p>
            <a:pPr algn="l">
              <a:spcAft>
                <a:spcPts val="600"/>
              </a:spcAft>
            </a:pPr>
            <a:r>
              <a:rPr sz="1600" b="0" i="0" dirty="0">
                <a:solidFill>
                  <a:srgbClr val="FFFFFF"/>
                </a:solidFill>
                <a:latin typeface="Calibri"/>
              </a:rPr>
              <a:t>GitHub: github.com/hahmed1936/Mid-Project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1786</Words>
  <Application>Microsoft Office PowerPoint</Application>
  <PresentationFormat>Widescreen</PresentationFormat>
  <Paragraphs>271</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Hisham Mohamed Ahmed</cp:lastModifiedBy>
  <cp:revision>1</cp:revision>
  <dcterms:created xsi:type="dcterms:W3CDTF">2013-01-27T09:14:16Z</dcterms:created>
  <dcterms:modified xsi:type="dcterms:W3CDTF">2026-10-05T09:04:12Z</dcterms:modified>
  <cp:category/>
</cp:coreProperties>
</file>