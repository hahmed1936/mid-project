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الركاب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B6834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راضٍ</c:v>
                </c:pt>
                <c:pt idx="1">
                  <c:v>محايد أو غير راضٍ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11403</c:v>
                </c:pt>
                <c:pt idx="1">
                  <c:v>14573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الرضا</c:v>
                </c:pt>
              </c:strCache>
            </c:strRef>
          </c:tx>
          <c:spPr>
            <a:solidFill>
              <a:srgbClr val="2A78D6"/>
            </a:solidFill>
            <a:ln w="19050">
              <a:solidFill>
                <a:srgbClr val="FFFFFF"/>
              </a:solidFill>
            </a:ln>
          </c:spPr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EB6834"/>
              </a:solidFill>
            </c:spPr>
          </c:dPt>
          <c:dPt>
            <c:idx val="2"/>
            <c:spPr>
              <a:solidFill>
                <a:srgbClr val="EB6834"/>
              </a:solidFill>
            </c:spPr>
          </c:dPt>
          <c:dPt>
            <c:idx val="3"/>
            <c:spPr>
              <a:solidFill>
                <a:srgbClr val="2A78D6"/>
              </a:solidFill>
            </c:spPr>
          </c:dPt>
          <c:dPt>
            <c:idx val="4"/>
            <c:spPr>
              <a:solidFill>
                <a:srgbClr val="EB6834"/>
              </a:solidFill>
            </c:spPr>
          </c:dPt>
          <c:dPt>
            <c:idx val="5"/>
            <c:spPr>
              <a:solidFill>
                <a:srgbClr val="2A78D6"/>
              </a:solidFill>
            </c:spPr>
          </c:dPt>
          <c:dPt>
            <c:idx val="6"/>
            <c:spPr>
              <a:solidFill>
                <a:srgbClr val="EB6834"/>
              </a:solidFill>
            </c:spPr>
          </c:dPt>
          <c:dPt>
            <c:idx val="7"/>
            <c:spPr>
              <a:solidFill>
                <a:srgbClr val="EB6834"/>
              </a:solidFill>
            </c:spPr>
          </c:dPt>
          <c:dPt>
            <c:idx val="8"/>
            <c:spPr>
              <a:solidFill>
                <a:srgbClr val="2A78D6"/>
              </a:solidFill>
            </c:spPr>
          </c:dPt>
          <c:cat>
            <c:strRef>
              <c:f>Sheet1!$A$2:$A$10</c:f>
              <c:strCache>
                <c:ptCount val="9"/>
                <c:pt idx="0">
                  <c:v>درجة البيزنس</c:v>
                </c:pt>
                <c:pt idx="1">
                  <c:v>إيكونومي بلس</c:v>
                </c:pt>
                <c:pt idx="2">
                  <c:v>الإيكونومي</c:v>
                </c:pt>
                <c:pt idx="3">
                  <c:v>سفر عمل</c:v>
                </c:pt>
                <c:pt idx="4">
                  <c:v>سفر شخصي</c:v>
                </c:pt>
                <c:pt idx="5">
                  <c:v>عميل دائم</c:v>
                </c:pt>
                <c:pt idx="6">
                  <c:v>عميل غير دائم</c:v>
                </c:pt>
                <c:pt idx="7">
                  <c:v>أنثى</c:v>
                </c:pt>
                <c:pt idx="8">
                  <c:v>ذكر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69.5</c:v>
                </c:pt>
                <c:pt idx="1">
                  <c:v>24.8</c:v>
                </c:pt>
                <c:pt idx="2">
                  <c:v>19.4</c:v>
                </c:pt>
                <c:pt idx="3">
                  <c:v>58.8</c:v>
                </c:pt>
                <c:pt idx="4">
                  <c:v>10.0</c:v>
                </c:pt>
                <c:pt idx="5">
                  <c:v>48.1</c:v>
                </c:pt>
                <c:pt idx="6">
                  <c:v>25.2</c:v>
                </c:pt>
                <c:pt idx="7">
                  <c:v>43.5</c:v>
                </c:pt>
                <c:pt idx="8">
                  <c:v>44.3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1B1F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1100">
                <a:solidFill>
                  <a:srgbClr val="1B1F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36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الرضا</c:v>
                </c:pt>
              </c:strCache>
            </c:strRef>
          </c:tx>
          <c:spPr>
            <a:ln w="44450">
              <a:solidFill>
                <a:srgbClr val="2A78D6"/>
              </a:solidFill>
            </a:ln>
          </c:spPr>
          <c:marker>
            <c:size val="12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أطفال
أقل من 18</c:v>
                </c:pt>
                <c:pt idx="1">
                  <c:v>شباب
18-29</c:v>
                </c:pt>
                <c:pt idx="2">
                  <c:v>بالغون
30-44</c:v>
                </c:pt>
                <c:pt idx="3">
                  <c:v>منتصف العمر
45-59</c:v>
                </c:pt>
                <c:pt idx="4">
                  <c:v>كبار السن
60+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18.1</c:v>
                </c:pt>
                <c:pt idx="1">
                  <c:v>36.0</c:v>
                </c:pt>
                <c:pt idx="2">
                  <c:v>47.7</c:v>
                </c:pt>
                <c:pt idx="3">
                  <c:v>57.7</c:v>
                </c:pt>
                <c:pt idx="4">
                  <c:v>26.8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1B1F24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axMin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1200">
                <a:solidFill>
                  <a:srgbClr val="1B1F2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36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غير راضٍ</c:v>
                </c:pt>
              </c:strCache>
            </c:strRef>
          </c:tx>
          <c:spPr>
            <a:solidFill>
              <a:srgbClr val="EB6834"/>
            </a:solidFill>
            <a:ln w="19050">
              <a:solidFill>
                <a:srgbClr val="FFFFFF"/>
              </a:solidFill>
            </a:ln>
          </c:spPr>
          <c:cat>
            <c:strRef>
              <c:f>Sheet1!$A$2:$A$15</c:f>
              <c:strCache>
                <c:ptCount val="14"/>
                <c:pt idx="0">
                  <c:v>ملاءمة المواعيد</c:v>
                </c:pt>
                <c:pt idx="1">
                  <c:v>موقع البوابة</c:v>
                </c:pt>
                <c:pt idx="2">
                  <c:v>الطعام والشراب</c:v>
                </c:pt>
                <c:pt idx="3">
                  <c:v>الخدمة أثناء الرحلة</c:v>
                </c:pt>
                <c:pt idx="4">
                  <c:v>الأمتعة</c:v>
                </c:pt>
                <c:pt idx="5">
                  <c:v>الحجز أونلاين</c:v>
                </c:pt>
                <c:pt idx="6">
                  <c:v>تسجيل الوصول</c:v>
                </c:pt>
                <c:pt idx="7">
                  <c:v>مساحة الأرجل</c:v>
                </c:pt>
                <c:pt idx="8">
                  <c:v>الخدمة على المتن</c:v>
                </c:pt>
                <c:pt idx="9">
                  <c:v>النظافة</c:v>
                </c:pt>
                <c:pt idx="10">
                  <c:v>راحة المقعد</c:v>
                </c:pt>
                <c:pt idx="11">
                  <c:v>الواي فاي</c:v>
                </c:pt>
                <c:pt idx="12">
                  <c:v>الترفيه</c:v>
                </c:pt>
                <c:pt idx="13">
                  <c:v>الصعود أونلاين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3.29</c:v>
                </c:pt>
                <c:pt idx="1">
                  <c:v>3.0</c:v>
                </c:pt>
                <c:pt idx="2">
                  <c:v>2.96</c:v>
                </c:pt>
                <c:pt idx="3">
                  <c:v>3.39</c:v>
                </c:pt>
                <c:pt idx="4">
                  <c:v>3.37</c:v>
                </c:pt>
                <c:pt idx="5">
                  <c:v>2.63</c:v>
                </c:pt>
                <c:pt idx="6">
                  <c:v>3.04</c:v>
                </c:pt>
                <c:pt idx="7">
                  <c:v>3.01</c:v>
                </c:pt>
                <c:pt idx="8">
                  <c:v>3.02</c:v>
                </c:pt>
                <c:pt idx="9">
                  <c:v>2.92</c:v>
                </c:pt>
                <c:pt idx="10">
                  <c:v>3.04</c:v>
                </c:pt>
                <c:pt idx="11">
                  <c:v>2.39</c:v>
                </c:pt>
                <c:pt idx="12">
                  <c:v>2.89</c:v>
                </c:pt>
                <c:pt idx="13">
                  <c:v>2.72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راضٍ</c:v>
                </c:pt>
              </c:strCache>
            </c:strRef>
          </c:tx>
          <c:spPr>
            <a:solidFill>
              <a:srgbClr val="2A78D6"/>
            </a:solidFill>
            <a:ln w="19050">
              <a:solidFill>
                <a:srgbClr val="FFFFFF"/>
              </a:solidFill>
            </a:ln>
          </c:spPr>
          <c:cat>
            <c:strRef>
              <c:f>Sheet1!$A$2:$A$15</c:f>
              <c:strCache>
                <c:ptCount val="14"/>
                <c:pt idx="0">
                  <c:v>ملاءمة المواعيد</c:v>
                </c:pt>
                <c:pt idx="1">
                  <c:v>موقع البوابة</c:v>
                </c:pt>
                <c:pt idx="2">
                  <c:v>الطعام والشراب</c:v>
                </c:pt>
                <c:pt idx="3">
                  <c:v>الخدمة أثناء الرحلة</c:v>
                </c:pt>
                <c:pt idx="4">
                  <c:v>الأمتعة</c:v>
                </c:pt>
                <c:pt idx="5">
                  <c:v>الحجز أونلاين</c:v>
                </c:pt>
                <c:pt idx="6">
                  <c:v>تسجيل الوصول</c:v>
                </c:pt>
                <c:pt idx="7">
                  <c:v>مساحة الأرجل</c:v>
                </c:pt>
                <c:pt idx="8">
                  <c:v>الخدمة على المتن</c:v>
                </c:pt>
                <c:pt idx="9">
                  <c:v>النظافة</c:v>
                </c:pt>
                <c:pt idx="10">
                  <c:v>راحة المقعد</c:v>
                </c:pt>
                <c:pt idx="11">
                  <c:v>الواي فاي</c:v>
                </c:pt>
                <c:pt idx="12">
                  <c:v>الترفيه</c:v>
                </c:pt>
                <c:pt idx="13">
                  <c:v>الصعود أونلاين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3.12</c:v>
                </c:pt>
                <c:pt idx="1">
                  <c:v>2.95</c:v>
                </c:pt>
                <c:pt idx="2">
                  <c:v>3.54</c:v>
                </c:pt>
                <c:pt idx="3">
                  <c:v>3.98</c:v>
                </c:pt>
                <c:pt idx="4">
                  <c:v>3.97</c:v>
                </c:pt>
                <c:pt idx="5">
                  <c:v>3.24</c:v>
                </c:pt>
                <c:pt idx="6">
                  <c:v>3.66</c:v>
                </c:pt>
                <c:pt idx="7">
                  <c:v>3.83</c:v>
                </c:pt>
                <c:pt idx="8">
                  <c:v>3.85</c:v>
                </c:pt>
                <c:pt idx="9">
                  <c:v>3.76</c:v>
                </c:pt>
                <c:pt idx="10">
                  <c:v>3.97</c:v>
                </c:pt>
                <c:pt idx="11">
                  <c:v>3.39</c:v>
                </c:pt>
                <c:pt idx="12">
                  <c:v>3.96</c:v>
                </c:pt>
                <c:pt idx="13">
                  <c:v>4.16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1100">
                <a:solidFill>
                  <a:srgbClr val="1B1F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axMin"/>
          <c:max val="5.0"/>
          <c:min val="0.0"/>
        </c:scaling>
        <c:delete val="0"/>
        <c:axPos val="b"/>
        <c:majorGridlines>
          <c:spPr>
            <a:ln>
              <a:solidFill>
                <a:srgbClr val="DDE3E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1.0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B1F24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B636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الرضا</c:v>
                </c:pt>
              </c:strCache>
            </c:strRef>
          </c:tx>
          <c:spPr>
            <a:solidFill>
              <a:srgbClr val="2A78D6"/>
            </a:solidFill>
            <a:ln w="19050">
              <a:solidFill>
                <a:srgbClr val="FFFFFF"/>
              </a:solidFill>
            </a:ln>
          </c:spPr>
          <c:cat>
            <c:strRef>
              <c:f>Sheet1!$A$2:$A$5</c:f>
              <c:strCache>
                <c:ptCount val="4"/>
                <c:pt idx="0">
                  <c:v>في الموعد</c:v>
                </c:pt>
                <c:pt idx="1">
                  <c:v>1–15 دقيقة</c:v>
                </c:pt>
                <c:pt idx="2">
                  <c:v>16–60 دقيقة</c:v>
                </c:pt>
                <c:pt idx="3">
                  <c:v>أكثر من 60 دقيقة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47.9</c:v>
                </c:pt>
                <c:pt idx="1">
                  <c:v>40.7</c:v>
                </c:pt>
                <c:pt idx="2">
                  <c:v>37.7</c:v>
                </c:pt>
                <c:pt idx="3">
                  <c:v>35.2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1B1F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1200">
                <a:solidFill>
                  <a:srgbClr val="1B1F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36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الإيكونومي</c:v>
                </c:pt>
              </c:strCache>
            </c:strRef>
          </c:tx>
          <c:spPr>
            <a:solidFill>
              <a:srgbClr val="EB6834"/>
            </a:solidFill>
            <a:ln w="19050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قصيرة
أقل من 800 ميل</c:v>
                </c:pt>
                <c:pt idx="1">
                  <c:v>متوسطة
800–2,000 ميل</c:v>
                </c:pt>
                <c:pt idx="2">
                  <c:v>طويلة
أكثر من 2,000 ميل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20.8</c:v>
                </c:pt>
                <c:pt idx="1">
                  <c:v>16.9</c:v>
                </c:pt>
                <c:pt idx="2">
                  <c:v>18.0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إيكونومي بلس</c:v>
                </c:pt>
              </c:strCache>
            </c:strRef>
          </c:tx>
          <c:spPr>
            <a:solidFill>
              <a:srgbClr val="EDA100"/>
            </a:solidFill>
            <a:ln w="19050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قصيرة
أقل من 800 ميل</c:v>
                </c:pt>
                <c:pt idx="1">
                  <c:v>متوسطة
800–2,000 ميل</c:v>
                </c:pt>
                <c:pt idx="2">
                  <c:v>طويلة
أكثر من 2,000 ميل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25.4</c:v>
                </c:pt>
                <c:pt idx="1">
                  <c:v>23.7</c:v>
                </c:pt>
                <c:pt idx="2">
                  <c:v>23.3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البيزنس</c:v>
                </c:pt>
              </c:strCache>
            </c:strRef>
          </c:tx>
          <c:spPr>
            <a:solidFill>
              <a:srgbClr val="2A78D6"/>
            </a:solidFill>
            <a:ln w="19050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قصيرة
أقل من 800 ميل</c:v>
                </c:pt>
                <c:pt idx="1">
                  <c:v>متوسطة
800–2,000 ميل</c:v>
                </c:pt>
                <c:pt idx="2">
                  <c:v>طويلة
أكثر من 2,000 ميل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60.3</c:v>
                </c:pt>
                <c:pt idx="1">
                  <c:v>70.0</c:v>
                </c:pt>
                <c:pt idx="2">
                  <c:v>76.6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B1F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1200">
                <a:solidFill>
                  <a:srgbClr val="1B1F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B1F24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B636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Cramér's V</c:v>
                </c:pt>
              </c:strCache>
            </c:strRef>
          </c:tx>
          <c:spPr>
            <a:solidFill>
              <a:srgbClr val="2A78D6"/>
            </a:solidFill>
            <a:ln w="19050">
              <a:solidFill>
                <a:srgbClr val="FFFFFF"/>
              </a:solidFill>
            </a:ln>
          </c:spPr>
          <c:cat>
            <c:strRef>
              <c:f>Sheet1!$A$2:$A$7</c:f>
              <c:strCache>
                <c:ptCount val="6"/>
                <c:pt idx="0">
                  <c:v>النوع</c:v>
                </c:pt>
                <c:pt idx="1">
                  <c:v>تأخير الوصول</c:v>
                </c:pt>
                <c:pt idx="2">
                  <c:v>نوع العميل</c:v>
                </c:pt>
                <c:pt idx="3">
                  <c:v>الفئة العمرية</c:v>
                </c:pt>
                <c:pt idx="4">
                  <c:v>غرض السفر</c:v>
                </c:pt>
                <c:pt idx="5">
                  <c:v>الدرجة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0.01</c:v>
                </c:pt>
                <c:pt idx="1">
                  <c:v>0.1</c:v>
                </c:pt>
                <c:pt idx="2">
                  <c:v>0.18</c:v>
                </c:pt>
                <c:pt idx="3">
                  <c:v>0.25</c:v>
                </c:pt>
                <c:pt idx="4">
                  <c:v>0.45</c:v>
                </c:pt>
                <c:pt idx="5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1B1F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1300">
                <a:solidFill>
                  <a:srgbClr val="1B1F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axMin"/>
          <c:max val="0.6"/>
          <c:min val="0.0"/>
        </c:scaling>
        <c:delete val="0"/>
        <c:axPos val="b"/>
        <c:majorGridlines>
          <c:spPr>
            <a:ln>
              <a:solidFill>
                <a:srgbClr val="DDE3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36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أهلًا بكم. هذا المشروع يحلل استبيان رضا ركاب طيران لحوالي 26 ألف راكب، لمعرفة من هو الراضي ومن غير الراضي، وما هي أجزاء الرحلة التي تصنع الفرق.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نظرة سريعة على الأجزاء الخمسة للعرض.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البيانات هي استبيان رضا ركاب الطيران. كل صف يمثل راكبًا واحدًا: بياناته الشخصية، وتفاصيل رحلته، وتقييمه لـ 14 خدمة، وهل كان راضيًا بشكل عام أم لا.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أربع مجموعات من الأعمدة: بيانات الراكب، تفاصيل الرحلة، تقييمات الخدمات الأربع عشرة، والمتغير المستهدف. ملاحظة مهمة: التقييم صفر ليس تقييمًا سيئًا، بل يعني أن السؤال لا ينطبق على الراكب.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البيانات ليست نظيفة. أهم مشكلة مخفية هي 4,202 تقييم بصفر: تبدو كأسوأ تقييم لكنها تعني «لا ينطبق». وهناك أيضًا 83 قيمة ناقصة في تأخير الوصول، وتسميات غير متسقة، وعمود فهرس بلا فائدة، وقيم تأخير متطرفة تحققت منها ووجدتها حقيقية.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 التعامل مع كل مشكلة بطريقة: تعريف ثم كود ثم اختبار. بدل الوسيط، تم ملء تأخير الوصول الناقص بتأخير الإقلاع لنفس الراكب لأنهما مرتبطان بشكل شبه تام. لم يُحذف أي صف: البيانات النهائية فيها 25,976 صفًا و30 عمودًا.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الأسئلة الستة هي التي تنظّم التحليل في النوتبوك وفي لوحة البيانات.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ننتقل الآن إلى النتائج.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إجابة السؤال الأول: 43.9% فقط من الركاب راضون. الأغلبية غير سعيدة.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نسبة الرضا لكل شريحة. الدرجة وغرض السفر لهما أقوى ارتباط (Cramér's V بقيمة 0.50 و 0.45). النوع ليس له تأثير معنوي.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يرتفع الرضا مع العمر حتى حوالي الستين، ثم ينخفض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متوسط تقييم كل خدمة للراضين مقابل غير الراضين. أكبر الفجوات توضح الخدمات التي تفصل الراكب السعيد عن غير السعيد. الصعود أونلاين له أقوى ارتباط بقيمة 0.59.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ينخفض الرضا تدريجيًا من 47.9% عند الوصول في الموعد إلى 35.2% عند التأخير أكثر من ساعة. الفرق معنوي، لكنه أضعف بكثير من تأثير الدرجة أو جودة الخدمة.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هذا مثال جيد على أهمية التحليل متعدد المتغيرات: تأثير المسافة يختفي عندما نثبّت الدرجة.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شريحة العمل الأساسية تحصل على خدمة جيدة. المسافرون لأسباب شخصية هم المشكلة الكبرى بغض النظر عن الدرجة.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ترتيب كل العوامل حسب قوة ارتباطها بالرضا.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خمس توصيات مرتبة حسب التأثير المتوقع.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الختام: هذه هي الأرقام الثلاثة التي يجب تذكرها.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24304" y="-1097280"/>
            <a:ext cx="5852160" cy="585216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09904" y="3566160"/>
            <a:ext cx="3291840" cy="32918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609904" y="46177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cs typeface="Arial"/>
              </a:rPr>
              <a:t>43.9%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609904" y="5303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  <a:cs typeface="Arial"/>
              </a:rPr>
              <a:t>من الركاب راضون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6335" y="11887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1" i="0">
                <a:solidFill>
                  <a:srgbClr val="B8C7DB"/>
                </a:solidFill>
                <a:latin typeface="Arial"/>
                <a:cs typeface="Arial"/>
              </a:rPr>
              <a:t>المشروع المرحلي  ·  تحليل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6335" y="1737360"/>
            <a:ext cx="7863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Arial"/>
                <a:cs typeface="Arial"/>
              </a:rPr>
              <a:t>رضا ركاب الطيران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96335" y="329184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0" i="0">
                <a:solidFill>
                  <a:srgbClr val="B8C7DB"/>
                </a:solidFill>
                <a:latin typeface="Arial"/>
                <a:cs typeface="Arial"/>
              </a:rPr>
              <a:t>ما الذي يُسعد الركاب — وما الذي يُبعدهم؟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6335" y="5120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هشام محمد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335" y="55321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B8C7DB"/>
                </a:solidFill>
                <a:latin typeface="Arial"/>
                <a:cs typeface="Arial"/>
              </a:rPr>
              <a:t>Epsilon AI  ·  برنامج علوم البيانات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خريطة العرض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جدول المحتويات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865815" y="160020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2055" y="158191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Arial"/>
                <a:cs typeface="Arial"/>
              </a:rPr>
              <a:t>المجال والبيانات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055" y="19842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ماذا يقيس الاستبيان وماذا يعني كل عمود</a:t>
            </a:r>
          </a:p>
        </p:txBody>
      </p:sp>
      <p:sp>
        <p:nvSpPr>
          <p:cNvPr id="9" name="Oval 8"/>
          <p:cNvSpPr/>
          <p:nvPr/>
        </p:nvSpPr>
        <p:spPr>
          <a:xfrm>
            <a:off x="10865815" y="251460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2055" y="249631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Arial"/>
                <a:cs typeface="Arial"/>
              </a:rPr>
              <a:t>مشاكل البيانات وتنظيفها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2055" y="28986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ما الخطأ في البيانات الخام وكيف تم إصلاحه</a:t>
            </a:r>
          </a:p>
        </p:txBody>
      </p:sp>
      <p:sp>
        <p:nvSpPr>
          <p:cNvPr id="12" name="Oval 11"/>
          <p:cNvSpPr/>
          <p:nvPr/>
        </p:nvSpPr>
        <p:spPr>
          <a:xfrm>
            <a:off x="10865815" y="342900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055" y="341071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Arial"/>
                <a:cs typeface="Arial"/>
              </a:rPr>
              <a:t>الأسئلة البحثية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055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ستة أسئلة توجّه التحليل</a:t>
            </a:r>
          </a:p>
        </p:txBody>
      </p:sp>
      <p:sp>
        <p:nvSpPr>
          <p:cNvPr id="15" name="Oval 14"/>
          <p:cNvSpPr/>
          <p:nvPr/>
        </p:nvSpPr>
        <p:spPr>
          <a:xfrm>
            <a:off x="10865815" y="434340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055" y="432511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Arial"/>
                <a:cs typeface="Arial"/>
              </a:rPr>
              <a:t>النتائج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055" y="47274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من الراضي، أي الخدمات تؤثر، التأخير والمسافة</a:t>
            </a:r>
          </a:p>
        </p:txBody>
      </p:sp>
      <p:sp>
        <p:nvSpPr>
          <p:cNvPr id="18" name="Oval 17"/>
          <p:cNvSpPr/>
          <p:nvPr/>
        </p:nvSpPr>
        <p:spPr>
          <a:xfrm>
            <a:off x="10865815" y="525780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055" y="523951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Arial"/>
                <a:cs typeface="Arial"/>
              </a:rPr>
              <a:t>التوصيات والخلاصة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2055" y="56418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ما الذي يجب أن تفعله شركة الطيران</a:t>
            </a:r>
          </a:p>
        </p:txBody>
      </p:sp>
      <p:sp>
        <p:nvSpPr>
          <p:cNvPr id="21" name="Oval 20"/>
          <p:cNvSpPr/>
          <p:nvPr/>
        </p:nvSpPr>
        <p:spPr>
          <a:xfrm>
            <a:off x="487375" y="1828800"/>
            <a:ext cx="2560320" cy="2560320"/>
          </a:xfrm>
          <a:prstGeom prst="ellipse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" y="2606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2A78D6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" y="3291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Arial"/>
                <a:cs typeface="Arial"/>
              </a:rPr>
              <a:t>أسئلة تمت الإجابة عليها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المجال والبيانات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المجال: تجربة عملاء شركات الطيران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2415" y="150876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Arial"/>
                <a:cs typeface="Arial"/>
              </a:rPr>
              <a:t>شركات الطيران تتنافس على تجربة العميل. الراكب غير الراضي غالبًا سيحجز مع منافس في المرة القادمة.</a:t>
            </a:r>
          </a:p>
          <a:p>
            <a:pPr algn="r" rtl="1">
              <a:spcAft>
                <a:spcPts val="800"/>
              </a:spcAft>
            </a:pPr>
            <a:r>
              <a:rPr sz="1600" b="0" i="0">
                <a:solidFill>
                  <a:srgbClr val="1B1F24"/>
                </a:solidFill>
                <a:latin typeface="Arial"/>
                <a:cs typeface="Arial"/>
              </a:rPr>
              <a:t>يسجّل هذا الاستبيان لكل راكب:</a:t>
            </a:r>
          </a:p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مَن </a:t>
            </a:r>
            <a:r>
              <a:rPr sz="1600" b="0" i="0">
                <a:solidFill>
                  <a:srgbClr val="1B1F24"/>
                </a:solidFill>
                <a:latin typeface="Arial"/>
                <a:cs typeface="Arial"/>
              </a:rPr>
              <a:t>هو — النوع، العمر، الولاء</a:t>
            </a:r>
          </a:p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كيف </a:t>
            </a:r>
            <a:r>
              <a:rPr sz="1600" b="0" i="0">
                <a:solidFill>
                  <a:srgbClr val="1B1F24"/>
                </a:solidFill>
                <a:latin typeface="Arial"/>
                <a:cs typeface="Arial"/>
              </a:rPr>
              <a:t>سافر — الغرض، الدرجة، المسافة، التأخير</a:t>
            </a:r>
          </a:p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</a:t>
            </a:r>
            <a:r>
              <a:rPr sz="1600" b="0" i="0">
                <a:solidFill>
                  <a:srgbClr val="1B1F24"/>
                </a:solidFill>
                <a:latin typeface="Arial"/>
                <a:cs typeface="Arial"/>
              </a:rPr>
              <a:t>رأى — تقييم 14 خدمة من 1 إلى 5</a:t>
            </a:r>
          </a:p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الرضا العام </a:t>
            </a:r>
            <a:r>
              <a:rPr sz="1600" b="0" i="0">
                <a:solidFill>
                  <a:srgbClr val="1B1F24"/>
                </a:solidFill>
                <a:latin typeface="Arial"/>
                <a:cs typeface="Arial"/>
              </a:rPr>
              <a:t>— المتغير المستهدف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3455" y="160020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3455" y="19202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0B1F3A"/>
                </a:solidFill>
                <a:latin typeface="Arial"/>
                <a:cs typeface="Arial"/>
              </a:rPr>
              <a:t>25,976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6335" y="2834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راكب شملهم الاستبيان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" y="160020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" y="19202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0B1F3A"/>
                </a:solidFill>
                <a:latin typeface="Arial"/>
                <a:cs typeface="Arial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" y="2834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عمودًا في الملف الخام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3455" y="379476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3455" y="4114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0B1F3A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335" y="5029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خدمة مقيّمة من 1 إلى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255" y="379476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" y="4114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0B1F3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" y="5029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400" b="0" i="0">
                <a:solidFill>
                  <a:srgbClr val="5B636E"/>
                </a:solidFill>
                <a:latin typeface="Arial"/>
                <a:cs typeface="Arial"/>
              </a:rPr>
              <a:t>فئتان للمتغير المستهدف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المجال والبيانات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ماذا تمثل الأعمدة؟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45575" y="1554480"/>
            <a:ext cx="2697480" cy="45262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0135" y="1783080"/>
            <a:ext cx="274320" cy="2743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28455" y="1764792"/>
            <a:ext cx="1874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بيانات الراكب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8455" y="2606040"/>
            <a:ext cx="22860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id — رقم تعريف الراكب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Gender — أنثى / ذكر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Customer Type — عميل دائم / غير دائم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Age — من 7 إلى 85 سنة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5487" y="1554480"/>
            <a:ext cx="2788920" cy="45262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41487" y="1783080"/>
            <a:ext cx="274320" cy="2743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8367" y="1764792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تفاصيل الرحلة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8367" y="2606040"/>
            <a:ext cx="237743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Type of Travel — عمل / شخصي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Class — Business, Eco, Eco Plus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Flight Distance — بالميل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Departure / Arrival Delay — بالدقائق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16759" y="1554480"/>
            <a:ext cx="3337560" cy="45262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1399" y="1783080"/>
            <a:ext cx="274320" cy="2743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9639" y="1764792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تقييم الخدمات (1–5، و0 = لا ينطبق)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9639" y="2606040"/>
            <a:ext cx="292607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الواي فاي · ملاءمة المواعيد · الحجز أونلاين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موقع البوابة · الطعام والشراب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الصعود أونلاين · راحة المقعد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الترفيه · الخدمة على متن الطائرة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مساحة الأرجل · الأمتعة · تسجيل الوصول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الخدمة أثناء الرحلة · النظافة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5351" y="1554480"/>
            <a:ext cx="1920240" cy="45262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12671" y="1783080"/>
            <a:ext cx="274320" cy="2743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" y="1764792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المتغير المستهدف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" y="2606040"/>
            <a:ext cx="15087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satisfaction —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راضٍ  أو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محايد أو غير راضٍ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جودة 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المشاكل الموجودة في البيانات الخام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2615" y="1600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51215" y="1828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600" b="1" i="0">
                <a:solidFill>
                  <a:srgbClr val="EB6834"/>
                </a:solidFill>
                <a:latin typeface="Arial"/>
                <a:cs typeface="Arial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1215" y="2496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قيمة ناقصة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1215" y="28803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في عمود تأخير الوصول — ومخزّن كرقم عشري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575" y="1600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2175" y="1828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600" b="1" i="0">
                <a:solidFill>
                  <a:srgbClr val="EB6834"/>
                </a:solidFill>
                <a:latin typeface="Arial"/>
                <a:cs typeface="Arial"/>
              </a:rPr>
              <a:t>4,202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2496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تقييم بصفر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175" y="28803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الصفر يعني «لا ينطبق» وهو خارج مقياس 1–5، ويخفض المتوسطات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" y="1600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" y="1828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600" b="1" i="0">
                <a:solidFill>
                  <a:srgbClr val="EB6834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" y="2496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أعمدة غير متسقة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" y="28803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مثل disloyal Customer و Business travel و Eco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2615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1215" y="4160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600" b="1" i="0">
                <a:solidFill>
                  <a:srgbClr val="EB6834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1215" y="4828031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عمود بلا فائدة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215" y="521207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Unnamed: 0 — رقم صف متبقٍ من تصدير سابق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3575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2175" y="4160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600" b="1" i="0">
                <a:solidFill>
                  <a:srgbClr val="EB6834"/>
                </a:solidFill>
                <a:latin typeface="Arial"/>
                <a:cs typeface="Arial"/>
              </a:rPr>
              <a:t>3,538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2175" y="4828031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قيمة متطرفة في التأخير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2175" y="521207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حتى 1,128 دقيقة، وتم التأكد أنها حقيقية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" y="4160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600" b="1" i="0">
                <a:solidFill>
                  <a:srgbClr val="EB6834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" y="4828031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اسم عمود غير مرتب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" y="521207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مسافات وشرطات وحروف كبيرة وصغيرة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كيف تم تنظيف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8815" y="15544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6640"/>
                <a:gridCol w="3657600"/>
              </a:tblGrid>
              <a:tr h="560070"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الإجراء المتخذ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المشكلة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1B1F24"/>
                          </a:solidFill>
                          <a:latin typeface="Arial"/>
                        </a:rPr>
                        <a:t>مُلئ بتأخير الإقلاع لنفس الراكب (الارتباط 0.96)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تأخير وصول ناقص (83)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1B1F24"/>
                          </a:solidFill>
                          <a:latin typeface="Arial"/>
                        </a:rPr>
                        <a:t>استُبدل بقيمة فارغة NaN فيُتجاهل في المتوسطات، ويُحسب لكل راكب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التقييم 0 = لا ينطبق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1B1F24"/>
                          </a:solidFill>
                          <a:latin typeface="Arial"/>
                        </a:rPr>
                        <a:t>توحيد: Disloyal Customer و Business Travel و Economy و Satisfied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تسميات غير متسقة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1B1F24"/>
                          </a:solidFill>
                          <a:latin typeface="Arial"/>
                        </a:rPr>
                        <a:t>تحويله إلى عدد صحيح من الدقائق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عمود تأخير عشري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1B1F24"/>
                          </a:solidFill>
                          <a:latin typeface="Arial"/>
                        </a:rPr>
                        <a:t>حذف Unnamed: 0 وتحويل كل الأسماء إلى snake_case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عمود فهرس وأسماء غير مرتبة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1B1F24"/>
                          </a:solidFill>
                          <a:latin typeface="Arial"/>
                        </a:rPr>
                        <a:t>الإبقاء عليها (أحداث حقيقية) وتقسيمها إلى فئات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تأخيرات ومسافات متطرفة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1B1F24"/>
                          </a:solidFill>
                          <a:latin typeface="Arial"/>
                        </a:rPr>
                        <a:t>إضافة فئات العمر والمسافة والتأخير، ومتوسط التقييم، وعلامة الرضا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لا توجد أعمدة للشرائح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الأسئلة البحثية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ستة أسئلة توجّه التحليل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01807" y="1993392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82880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0" i="0">
                <a:solidFill>
                  <a:srgbClr val="1B1F24"/>
                </a:solidFill>
                <a:latin typeface="Arial"/>
                <a:cs typeface="Arial"/>
              </a:rPr>
              <a:t>ما نسبة الركاب الراضين؟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" y="164592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78247" y="1993392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" y="182880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0" i="0">
                <a:solidFill>
                  <a:srgbClr val="1B1F24"/>
                </a:solidFill>
                <a:latin typeface="Arial"/>
                <a:cs typeface="Arial"/>
              </a:rPr>
              <a:t>أي شرائح الركاب أكثر أو أقل رضا؟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15468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01807" y="3502152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975" y="333756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0" i="0">
                <a:solidFill>
                  <a:srgbClr val="1B1F24"/>
                </a:solidFill>
                <a:latin typeface="Arial"/>
                <a:cs typeface="Arial"/>
              </a:rPr>
              <a:t>أي الخدمات أكثر تأثيرًا على الرضا؟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" y="315468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78247" y="3502152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" y="333756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0" i="0">
                <a:solidFill>
                  <a:srgbClr val="1B1F24"/>
                </a:solidFill>
                <a:latin typeface="Arial"/>
                <a:cs typeface="Arial"/>
              </a:rPr>
              <a:t>هل يقلل تأخير الإقلاع والوصول من الرضا؟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46634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01807" y="5010912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0975" y="484632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0" i="0">
                <a:solidFill>
                  <a:srgbClr val="1B1F24"/>
                </a:solidFill>
                <a:latin typeface="Arial"/>
                <a:cs typeface="Arial"/>
              </a:rPr>
              <a:t>هل تؤثر مسافة الرحلة — وهل يعتمد ذلك على الدرجة؟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" y="46634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78247" y="5010912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Q6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" y="484632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0" i="0">
                <a:solidFill>
                  <a:srgbClr val="1B1F24"/>
                </a:solidFill>
                <a:latin typeface="Arial"/>
                <a:cs typeface="Arial"/>
              </a:rPr>
              <a:t>أي مزيج من نوع السفر والدرجة هو الأسعد والأتعس؟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18464" y="1280160"/>
            <a:ext cx="4206240" cy="420624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87775" y="22860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الجزء الثاني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7775" y="27432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  <a:cs typeface="Arial"/>
              </a:rPr>
              <a:t>النتائج المستخلصة من البيانات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7775" y="39319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i="0">
                <a:solidFill>
                  <a:srgbClr val="B8C7DB"/>
                </a:solidFill>
                <a:latin typeface="Arial"/>
                <a:cs typeface="Arial"/>
              </a:rPr>
              <a:t>كل نتيجة مدعومة باختبار إحصائي (Chi-square و Mann-Whitney والارتباط)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السؤال الأول · الرضا العام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معظم الركاب غير راضين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56655" y="1463040"/>
          <a:ext cx="5486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8815" y="182880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0" b="1" i="0">
                <a:solidFill>
                  <a:srgbClr val="2A78D6"/>
                </a:solidFill>
                <a:latin typeface="Arial"/>
                <a:cs typeface="Arial"/>
              </a:rPr>
              <a:t>43.9%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815" y="2971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Arial"/>
                <a:cs typeface="Arial"/>
              </a:rPr>
              <a:t>من الركاب راضون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15" y="365760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F24"/>
                </a:solidFill>
                <a:latin typeface="Arial"/>
                <a:cs typeface="Arial"/>
              </a:rPr>
              <a:t>14,573 راكبًا (56.1%) كانوا محايدين أو غير راضين.</a:t>
            </a:r>
          </a:p>
          <a:p>
            <a:pPr algn="r" rtl="1">
              <a:spcAft>
                <a:spcPts val="0"/>
              </a:spcAft>
            </a:pPr>
            <a:r>
              <a:rPr sz="1700" b="0" i="0">
                <a:solidFill>
                  <a:srgbClr val="1B1F24"/>
                </a:solidFill>
                <a:latin typeface="Arial"/>
                <a:cs typeface="Arial"/>
              </a:rPr>
              <a:t>المجموعتان متوازنتان بشكل معقول، لذلك المقارنة بينهما موثوقة.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السؤال الثاني · شرائح الركاب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الدرجة وغرض السفر يقسمان الركاب بوضوح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962095" y="146304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095" y="1600200"/>
            <a:ext cx="3063240" cy="44805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" y="1783080"/>
            <a:ext cx="26974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700" b="1" i="0">
                <a:solidFill>
                  <a:srgbClr val="0B1F3A"/>
                </a:solidFill>
                <a:latin typeface="Arial"/>
                <a:cs typeface="Arial"/>
              </a:rPr>
              <a:t>أقوى العوامل</a:t>
            </a:r>
          </a:p>
          <a:p>
            <a:pPr algn="r" rtl="1">
              <a:spcAft>
                <a:spcPts val="800"/>
              </a:spcAft>
            </a:pPr>
            <a:r>
              <a:rPr sz="1400" b="1" i="0">
                <a:solidFill>
                  <a:srgbClr val="1B1F24"/>
                </a:solidFill>
                <a:latin typeface="Arial"/>
                <a:cs typeface="Arial"/>
              </a:rPr>
              <a:t>الدرجة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— البيزنس 69.5% مقابل الإيكونومي 19.4%</a:t>
            </a:r>
          </a:p>
          <a:p>
            <a:pPr algn="r" rtl="1">
              <a:spcAft>
                <a:spcPts val="800"/>
              </a:spcAft>
            </a:pPr>
            <a:r>
              <a:rPr sz="1400" b="1" i="0">
                <a:solidFill>
                  <a:srgbClr val="1B1F24"/>
                </a:solidFill>
                <a:latin typeface="Arial"/>
                <a:cs typeface="Arial"/>
              </a:rPr>
              <a:t>غرض السفر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— العمل 58.8% مقابل الشخصي 10.0%</a:t>
            </a:r>
          </a:p>
          <a:p>
            <a:pPr algn="r" rtl="1">
              <a:spcAft>
                <a:spcPts val="800"/>
              </a:spcAft>
            </a:pPr>
            <a:r>
              <a:rPr sz="1400" b="1" i="0">
                <a:solidFill>
                  <a:srgbClr val="1B1F24"/>
                </a:solidFill>
                <a:latin typeface="Arial"/>
                <a:cs typeface="Arial"/>
              </a:rPr>
              <a:t>الولاء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— الدائم 48.1% مقابل غير الدائم 25.2%</a:t>
            </a:r>
          </a:p>
          <a:p>
            <a:pPr algn="r" rtl="1">
              <a:spcAft>
                <a:spcPts val="800"/>
              </a:spcAft>
            </a:pPr>
            <a:r>
              <a:rPr sz="1400" b="1" i="0">
                <a:solidFill>
                  <a:srgbClr val="1B1F24"/>
                </a:solidFill>
                <a:latin typeface="Arial"/>
                <a:cs typeface="Arial"/>
              </a:rPr>
              <a:t>النوع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— لا يوجد فرق (p = 0.24)</a:t>
            </a:r>
          </a:p>
          <a:p>
            <a:pPr algn="r" rtl="1">
              <a:spcAft>
                <a:spcPts val="0"/>
              </a:spcAft>
            </a:pPr>
            <a:r>
              <a:rPr sz="1200" b="0" i="0">
                <a:solidFill>
                  <a:srgbClr val="5B636E"/>
                </a:solidFill>
                <a:latin typeface="Arial"/>
                <a:cs typeface="Arial"/>
              </a:rPr>
              <a:t>الأزرق = أعلى من المتوسط 43.9%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السؤال الثاني · العمر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الركاب في منتصف العمر هم الأكثر رضا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962095" y="146304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095" y="1600200"/>
            <a:ext cx="3063240" cy="44805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" y="1783080"/>
            <a:ext cx="26974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4000" b="1" i="0">
                <a:solidFill>
                  <a:srgbClr val="2A78D6"/>
                </a:solidFill>
                <a:latin typeface="Arial"/>
                <a:cs typeface="Arial"/>
              </a:rPr>
              <a:t>57.7%</a:t>
            </a:r>
          </a:p>
          <a:p>
            <a:pPr algn="r" rtl="1">
              <a:spcAft>
                <a:spcPts val="1400"/>
              </a:spcAft>
            </a:pPr>
            <a:r>
              <a:rPr sz="1400" b="1" i="0">
                <a:solidFill>
                  <a:srgbClr val="0B1F3A"/>
                </a:solidFill>
                <a:latin typeface="Arial"/>
                <a:cs typeface="Arial"/>
              </a:rPr>
              <a:t>من فئة 45–59 سنة راضون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الأطفال (18%) والشباب (36%) وكبار السن (27%) هم الأقل رضا — وهي فئات تسافر غالبًا لأسباب شخصية على الدرجة الاقتصادية.</a:t>
            </a:r>
          </a:p>
          <a:p>
            <a:pPr algn="r" rtl="1">
              <a:spcAft>
                <a:spcPts val="0"/>
              </a:spcAft>
            </a:pPr>
            <a:r>
              <a:rPr sz="1200" b="0" i="0">
                <a:solidFill>
                  <a:srgbClr val="5B636E"/>
                </a:solidFill>
                <a:latin typeface="Arial"/>
                <a:cs typeface="Arial"/>
              </a:rPr>
              <a:t>وسيط العمر: 43 للراضين مقابل 37 لغير الراضين (Mann-Whitney p &lt; 0.001)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السؤال الثالث · الخدمات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الصعود أونلاين والترفيه والواي فاي تصنع الفرق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27855" y="137160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095" y="1600200"/>
            <a:ext cx="3429000" cy="44805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" y="1783080"/>
            <a:ext cx="3063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700" b="1" i="0">
                <a:solidFill>
                  <a:srgbClr val="0B1F3A"/>
                </a:solidFill>
                <a:latin typeface="Arial"/>
                <a:cs typeface="Arial"/>
              </a:rPr>
              <a:t>أكبر فجوات التقييم</a:t>
            </a:r>
          </a:p>
          <a:p>
            <a:pPr algn="r" rtl="1">
              <a:spcAft>
                <a:spcPts val="400"/>
              </a:spcAft>
            </a:pPr>
            <a:r>
              <a:rPr sz="1400" b="1" i="0">
                <a:solidFill>
                  <a:srgbClr val="2A78D6"/>
                </a:solidFill>
                <a:latin typeface="Arial"/>
                <a:cs typeface="Arial"/>
              </a:rPr>
              <a:t>+1.44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الصعود أونلاين</a:t>
            </a:r>
          </a:p>
          <a:p>
            <a:pPr algn="r" rtl="1">
              <a:spcAft>
                <a:spcPts val="400"/>
              </a:spcAft>
            </a:pPr>
            <a:r>
              <a:rPr sz="1400" b="1" i="0">
                <a:solidFill>
                  <a:srgbClr val="2A78D6"/>
                </a:solidFill>
                <a:latin typeface="Arial"/>
                <a:cs typeface="Arial"/>
              </a:rPr>
              <a:t>+1.08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الترفيه</a:t>
            </a:r>
          </a:p>
          <a:p>
            <a:pPr algn="r" rtl="1">
              <a:spcAft>
                <a:spcPts val="400"/>
              </a:spcAft>
            </a:pPr>
            <a:r>
              <a:rPr sz="1400" b="1" i="0">
                <a:solidFill>
                  <a:srgbClr val="2A78D6"/>
                </a:solidFill>
                <a:latin typeface="Arial"/>
                <a:cs typeface="Arial"/>
              </a:rPr>
              <a:t>+1.00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الواي فاي</a:t>
            </a:r>
          </a:p>
          <a:p>
            <a:pPr algn="r" rtl="1">
              <a:spcAft>
                <a:spcPts val="1200"/>
              </a:spcAft>
            </a:pPr>
            <a:r>
              <a:rPr sz="1400" b="1" i="0">
                <a:solidFill>
                  <a:srgbClr val="2A78D6"/>
                </a:solidFill>
                <a:latin typeface="Arial"/>
                <a:cs typeface="Arial"/>
              </a:rPr>
              <a:t>+0.92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راحة المقعد</a:t>
            </a:r>
          </a:p>
          <a:p>
            <a:pPr algn="r" rtl="1">
              <a:spcAft>
                <a:spcPts val="1000"/>
              </a:spcAft>
            </a:pPr>
            <a:r>
              <a:rPr sz="1400" b="1" i="0">
                <a:solidFill>
                  <a:srgbClr val="EB6834"/>
                </a:solidFill>
                <a:latin typeface="Arial"/>
                <a:cs typeface="Arial"/>
              </a:rPr>
              <a:t>الواي فاي هو الأقل تقييمًا (2.81)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— ومع ذلك 99% ممن قيّموه بـ 5 راضون.</a:t>
            </a:r>
          </a:p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موقع البوابة وملاءمة المواعيد لا علاقة لهما بالرضا.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السؤال الرابع · التأخير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التأخير يقلل الرضا — لكن بدرجة محدودة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693615" y="146304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095" y="1600200"/>
            <a:ext cx="3703320" cy="12801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" y="17373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800" b="1" i="0">
                <a:solidFill>
                  <a:srgbClr val="EB6834"/>
                </a:solidFill>
                <a:latin typeface="Arial"/>
                <a:cs typeface="Arial"/>
              </a:rPr>
              <a:t>12.7 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" y="235000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انخفاض من الوصول في الموعد إلى تأخير أكثر من ساعة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095" y="3108960"/>
            <a:ext cx="3703320" cy="12801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" y="3246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800" b="1" i="0">
                <a:solidFill>
                  <a:srgbClr val="0B1F3A"/>
                </a:solidFill>
                <a:latin typeface="Arial"/>
                <a:cs typeface="Arial"/>
              </a:rPr>
              <a:t>56.3%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" y="385876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من الرحلات تصل في موعدها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095" y="4617720"/>
            <a:ext cx="3703320" cy="12801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" y="47548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800" b="1" i="0">
                <a:solidFill>
                  <a:srgbClr val="0B1F3A"/>
                </a:solidFill>
                <a:latin typeface="Arial"/>
                <a:cs typeface="Arial"/>
              </a:rPr>
              <a:t>V = 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" y="53675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ارتباط ضعيف جدًا (p &lt; 0.001)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السؤال الخامس · مسافة الرحلة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المسافة تؤثر فقط من خلال الدرجة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27855" y="137160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095" y="1600200"/>
            <a:ext cx="3429000" cy="44805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" y="1783080"/>
            <a:ext cx="3063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700" b="1" i="0">
                <a:solidFill>
                  <a:srgbClr val="0B1F3A"/>
                </a:solidFill>
                <a:latin typeface="Arial"/>
                <a:cs typeface="Arial"/>
              </a:rPr>
              <a:t>عامل خفي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بشكل عام يبدو ركاب الرحلات الطويلة أكثر رضا (70% مقابل 34% للقصيرة).</a:t>
            </a:r>
          </a:p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لكن الرحلات الطويلة غالبًا على درجة البيزنس (الوسيط 1,590 ميل مقابل حوالي 600 ميل في الإيكونومي).</a:t>
            </a:r>
          </a:p>
          <a:p>
            <a:pPr algn="r" rtl="1">
              <a:spcAft>
                <a:spcPts val="0"/>
              </a:spcAft>
            </a:pPr>
            <a:r>
              <a:rPr sz="1400" b="1" i="0">
                <a:solidFill>
                  <a:srgbClr val="1B1F24"/>
                </a:solidFill>
                <a:latin typeface="Arial"/>
                <a:cs typeface="Arial"/>
              </a:rPr>
              <a:t>داخل الإيكونومي، المسافة لا تغيّر شيئًا تقريبًا (17–21%).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فقط البيزنس يتحسن في الرحلات الطويلة (من 60% إلى 77%).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السؤال السادس · نوع السفر × الدرجة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المسافرون لأسباب شخصية غير سعداء في كل الدرجات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1095" y="1508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الإيكونومي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15407" y="1508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إيكونومي بلس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9719" y="1508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Arial"/>
                <a:cs typeface="Arial"/>
              </a:rPr>
              <a:t>البيزنس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68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0B1F3A"/>
                </a:solidFill>
                <a:latin typeface="Arial"/>
                <a:cs typeface="Arial"/>
              </a:rPr>
              <a:t>سفر عمل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1095" y="196596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9CC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1095" y="22860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0B1F3A"/>
                </a:solidFill>
                <a:latin typeface="Arial"/>
                <a:cs typeface="Arial"/>
              </a:rPr>
              <a:t>31.3%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1095" y="29718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Arial"/>
                <a:cs typeface="Arial"/>
              </a:rPr>
              <a:t>n = 5,047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5407" y="196596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9CC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5407" y="22860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0B1F3A"/>
                </a:solidFill>
                <a:latin typeface="Arial"/>
                <a:cs typeface="Arial"/>
              </a:rPr>
              <a:t>39.0%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5407" y="29718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Arial"/>
                <a:cs typeface="Arial"/>
              </a:rPr>
              <a:t>n = 1,012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9719" y="196596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9719" y="22860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72.1%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9719" y="29718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n = 11,979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4178807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0B1F3A"/>
                </a:solidFill>
                <a:latin typeface="Arial"/>
                <a:cs typeface="Arial"/>
              </a:rPr>
              <a:t>سفر شخصي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1095" y="3675887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1095" y="3995927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0B1F3A"/>
                </a:solidFill>
                <a:latin typeface="Arial"/>
                <a:cs typeface="Arial"/>
              </a:rPr>
              <a:t>10.2%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095" y="468172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Arial"/>
                <a:cs typeface="Arial"/>
              </a:rPr>
              <a:t>n = 6,517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15407" y="3675887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15407" y="3995927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0B1F3A"/>
                </a:solidFill>
                <a:latin typeface="Arial"/>
                <a:cs typeface="Arial"/>
              </a:rPr>
              <a:t>8.8%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5407" y="468172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Arial"/>
                <a:cs typeface="Arial"/>
              </a:rPr>
              <a:t>n = 905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39719" y="3675887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9719" y="3995927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0B1F3A"/>
                </a:solidFill>
                <a:latin typeface="Arial"/>
                <a:cs typeface="Arial"/>
              </a:rPr>
              <a:t>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9719" y="468172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Arial"/>
                <a:cs typeface="Arial"/>
              </a:rPr>
              <a:t>n = 516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0575" y="548640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i="0">
                <a:solidFill>
                  <a:srgbClr val="5B636E"/>
                </a:solidFill>
                <a:latin typeface="Arial"/>
                <a:cs typeface="Arial"/>
              </a:rPr>
              <a:t>نسبة الركاب الراضين لكل مزيج (اللون الأغمق = رضا أعلى)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095" y="1508760"/>
            <a:ext cx="2514600" cy="42976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" y="1691640"/>
            <a:ext cx="224028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2A78D6"/>
                </a:solidFill>
                <a:latin typeface="Arial"/>
                <a:cs typeface="Arial"/>
              </a:rPr>
              <a:t>الأسعد</a:t>
            </a:r>
          </a:p>
          <a:p>
            <a:pPr algn="r" rtl="1"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المسافرون للعمل على درجة البيزنس — 72%</a:t>
            </a:r>
          </a:p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EB6834"/>
                </a:solidFill>
                <a:latin typeface="Arial"/>
                <a:cs typeface="Arial"/>
              </a:rPr>
              <a:t>الأتعس</a:t>
            </a:r>
          </a:p>
          <a:p>
            <a:pPr algn="r" rtl="1"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المسافرون لأسباب شخصية — حوالي 9–10% في كل الدرجات، حتى البيزنس</a:t>
            </a:r>
          </a:p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الولاء لا يساعدهم: المسافرون الدائمون لأسباب شخصية راضون بنسبة 10% فقط.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ملخص العوامل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ما الذي يؤثر على الرضا أكثر؟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693615" y="146304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095" y="1600200"/>
            <a:ext cx="3703320" cy="44805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" y="1783080"/>
            <a:ext cx="33375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700" b="1" i="0">
                <a:solidFill>
                  <a:srgbClr val="0B1F3A"/>
                </a:solidFill>
                <a:latin typeface="Arial"/>
                <a:cs typeface="Arial"/>
              </a:rPr>
              <a:t>كيف تقرأ الرسم</a:t>
            </a:r>
          </a:p>
          <a:p>
            <a:pPr algn="r" rtl="1">
              <a:spcAft>
                <a:spcPts val="12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مقياس Cramér's V يوضح قوة ارتباط كل عامل بالرضا (0 = لا يوجد، 0.5 = قوي).</a:t>
            </a:r>
          </a:p>
          <a:p>
            <a:pPr algn="r" rtl="1">
              <a:spcAft>
                <a:spcPts val="1200"/>
              </a:spcAft>
            </a:pPr>
            <a:r>
              <a:rPr sz="1400" b="1" i="0">
                <a:solidFill>
                  <a:srgbClr val="1B1F24"/>
                </a:solidFill>
                <a:latin typeface="Arial"/>
                <a:cs typeface="Arial"/>
              </a:rPr>
              <a:t>جودة الخدمة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(الصعود أونلاين r = 0.59) قوية بقدر الدرجة.</a:t>
            </a:r>
          </a:p>
          <a:p>
            <a:pPr algn="r" rtl="1">
              <a:spcAft>
                <a:spcPts val="0"/>
              </a:spcAft>
            </a:pPr>
            <a:r>
              <a:rPr sz="1400" b="1" i="0">
                <a:solidFill>
                  <a:srgbClr val="1B1F24"/>
                </a:solidFill>
                <a:latin typeface="Arial"/>
                <a:cs typeface="Arial"/>
              </a:rPr>
              <a:t>التأخير والنوع </a:t>
            </a: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تأثيرهما ضئيل.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الخطوات القادمة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توصيات لشركة الطيران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رضا ركاب الطيران  ·  المشروع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095" y="1554480"/>
            <a:ext cx="11109960" cy="804672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11535" y="1700784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6775" y="1664207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i="0">
                <a:solidFill>
                  <a:srgbClr val="0B1F3A"/>
                </a:solidFill>
                <a:latin typeface="Arial"/>
                <a:cs typeface="Arial"/>
              </a:rPr>
              <a:t>إصلاح الرحلة الرقمية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1664207"/>
            <a:ext cx="6309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1B1F24"/>
                </a:solidFill>
                <a:latin typeface="Arial"/>
                <a:cs typeface="Arial"/>
              </a:rPr>
              <a:t>الواي فاي والصعود والحجز أونلاين: الأقل تقييمًا ومن أقوى العوامل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095" y="2496312"/>
            <a:ext cx="11109960" cy="804672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11535" y="2642616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6775" y="2606040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i="0">
                <a:solidFill>
                  <a:srgbClr val="0B1F3A"/>
                </a:solidFill>
                <a:latin typeface="Arial"/>
                <a:cs typeface="Arial"/>
              </a:rPr>
              <a:t>تطوير الدرجة الاقتصادية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2606040"/>
            <a:ext cx="6309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1B1F24"/>
                </a:solidFill>
                <a:latin typeface="Arial"/>
                <a:cs typeface="Arial"/>
              </a:rPr>
              <a:t>أقل من راكب من كل 5 في الإيكونومي راضٍ — المقاعد والترفيه ومساحة الأرجل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095" y="3438144"/>
            <a:ext cx="11109960" cy="804672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11535" y="3584448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6775" y="3547872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i="0">
                <a:solidFill>
                  <a:srgbClr val="0B1F3A"/>
                </a:solidFill>
                <a:latin typeface="Arial"/>
                <a:cs typeface="Arial"/>
              </a:rPr>
              <a:t>كسب المسافرين لأسباب شخصية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" y="3547872"/>
            <a:ext cx="6309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1B1F24"/>
                </a:solidFill>
                <a:latin typeface="Arial"/>
                <a:cs typeface="Arial"/>
              </a:rPr>
              <a:t>حوالي 10% فقط راضون: خدمات عائلية، أسعار مرنة، ترفيه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095" y="4379976"/>
            <a:ext cx="11109960" cy="804672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1535" y="452628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6775" y="4489704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i="0">
                <a:solidFill>
                  <a:srgbClr val="0B1F3A"/>
                </a:solidFill>
                <a:latin typeface="Arial"/>
                <a:cs typeface="Arial"/>
              </a:rPr>
              <a:t>استعادة العملاء غير الدائمين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4489704"/>
            <a:ext cx="6309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1B1F24"/>
                </a:solidFill>
                <a:latin typeface="Arial"/>
                <a:cs typeface="Arial"/>
              </a:rPr>
              <a:t>25% راضون — عروض ولاء موجّهة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095" y="5321808"/>
            <a:ext cx="11109960" cy="804672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1535" y="5468112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6775" y="5431536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i="0">
                <a:solidFill>
                  <a:srgbClr val="0B1F3A"/>
                </a:solidFill>
                <a:latin typeface="Arial"/>
                <a:cs typeface="Arial"/>
              </a:rPr>
              <a:t>تقليل التأخير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" y="5431536"/>
            <a:ext cx="6309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1B1F24"/>
                </a:solidFill>
                <a:latin typeface="Arial"/>
                <a:cs typeface="Arial"/>
              </a:rPr>
              <a:t>تأثير أصغر، لكن الرضا ينخفض مع كل فئة تأخير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6400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الخلاصة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255" y="10972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الرضا يُكتسب داخل الطائرة وعلى الإنترنت — لا بالمسافة ولا بالنوع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6895" y="274320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30175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43.9%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1215" y="38862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B8C7DB"/>
                </a:solidFill>
                <a:latin typeface="Arial"/>
                <a:cs typeface="Arial"/>
              </a:rPr>
              <a:t>راضون بشكل عام — هناك مجال كبير للتحسن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295" y="274320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3615" y="30175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72% مقابل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3615" y="38862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B8C7DB"/>
                </a:solidFill>
                <a:latin typeface="Arial"/>
                <a:cs typeface="Arial"/>
              </a:rPr>
              <a:t>المسافرون للعمل على البيزنس مقابل المسافرين لأسباب شخصية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" y="274320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6015" y="30175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+1.44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015" y="38862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B8C7DB"/>
                </a:solidFill>
                <a:latin typeface="Arial"/>
                <a:cs typeface="Arial"/>
              </a:rPr>
              <a:t>الصعود أونلاين: أكبر فجوة في الخدمات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" y="53949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i="0">
                <a:solidFill>
                  <a:srgbClr val="B8C7DB"/>
                </a:solidFill>
                <a:latin typeface="Arial"/>
                <a:cs typeface="Arial"/>
              </a:rPr>
              <a:t>تم تنظيف البيانات (تقييمات «لا ينطبق»، التأخير الناقص، التسميات غير المتسقة)، وتحليل أكثر من 10 متغيرات بستة أنواع من الرسوم، والتحقق من كل نتيجة باختبار إحصائي.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18464" y="1097280"/>
            <a:ext cx="4572000" cy="457200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7375" y="4023360"/>
            <a:ext cx="2011680" cy="20116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44975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  <a:cs typeface="Arial"/>
              </a:rPr>
              <a:t>شكرًا لكم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4975" y="32918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0" i="0">
                <a:solidFill>
                  <a:srgbClr val="B8C7DB"/>
                </a:solidFill>
                <a:latin typeface="Arial"/>
                <a:cs typeface="Arial"/>
              </a:rPr>
              <a:t>الأسئلة والنقاش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4975" y="4389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cs typeface="Arial"/>
              </a:rPr>
              <a:t>github.com/hahmed1936/Mid-Project</a:t>
            </a:r>
          </a:p>
          <a:p>
            <a:pPr algn="r" rtl="1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cs typeface="Arial"/>
              </a:rPr>
              <a:t>لوحة البيانات التفاعلية: Streamlit (الرابط في ملف README)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