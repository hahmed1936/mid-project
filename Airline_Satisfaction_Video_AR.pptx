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السلام عليكم، في الفيديو ده هشرح الكود الخاص بمشروع تحليل رضا ركاب الطيران، من أول تحميل البيانات وتقييم جودتها، مرورًا بالتنظيف، وبعدين التحليل الاستكشافي والاختبارات الإحصائية، لحد النتائج النهائية.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الفيديو مقسم لست أجزاء بنفس ترتيب النوتبوك. النوتبوك فيه 89 خلية وبيشتغل من أوله لآخره من غير أي أخطاء.</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البيانات عبارة عن استبيان رضا ركاب طيران: حوالي 26 ألف راكب و25 عمود. كل راكب عنده بيانات شخصية زي النوع والسن والولاء، وبيانات الرحلة زي نوع السفر والدرجة والمسافة والتأخير، وتقييم لـ 14 خدمة، وفي الآخر عمود الرضا وهو الهدف. وحددت ست أسئلة هجاوب عليها في باقي التحليل.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البداية بستورد المكتبات: pandas وnumpy للبيانات، matplotlib وseaborn للرسم، وscipy للاختبارات الإحصائية. وكمان بثبّت ألوان: الأزرق للراضي والبرتقالي لغير الراضي، وده بيخلي كل الرسوم متسقة.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قبل أي تنظيف لازم أفهم البيانات. عملت دالة quality_report بتطلع ملخص لكل عمود. وبعدين فحصت التكرار، وعرضت القيم الموجودة في الأعمدة النصية، واستخدمت describe والـ box plots علشان أشوف القيم الغريبة.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دي المشاكل اللي طلعت: 83 قيمة ناقصة في تأخير الوصول، وأهم مشكلة هي 4202 تقييم بصفر، والصفر هنا معناه إن السؤال ما ينطبقش على الراكب مش إنه أسوأ تقييم، ولو سبتها هتنزّل المتوسطات غلط. كمان في تسميات مش متسقة، وعمود index مالوش لازمة، وأسماء أعمدة صعبة في الكود، وقيم متطرفة في التأخير اتأكدت إنها حقيقية.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التنظيف ماشي بطريقة Define ثم Code ثم Test. بشتغل على نسخة من البيانات. حذفت العمود اللي مالوش لازمة، وعملت دالة تحوّل أسماء الأعمدة لـ snake case، ودالة توحد التسميات وبتطلع خطأ لو في قيمة نسيتها، وبعد كل خطوة بختبر النتيجة.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هنا أهم قرارات التنظيف. التأخير الناقص ملأته بتأخير الإقلاع لنفس الراكب لأن الاتنين مرتبطين جدًا. التقييمات بصفر حولتها لقيم فاضية علشان ما تأثرش على المتوسط. ما حذفتش القيم المتطرفة لأنها حقيقية. وضفت أعمدة جديدة زي الفئات العمرية وفئات المسافة والتأخير، وفي الآخر حفظت البيانات النظيفة في ملف.</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التحليل أحادي المتغير بدرس كل متغير لوحده. عملت دوال زي plot_category_counts وplot_numeric_distribution علشان ما أكررش الكود. استخدمت pie للرضا، وأعمدة للمتغيرات الفئوية، وهيستوجرام للسن والمسافة، ومقياس لوغاريتمي للتأخير لأن معظم القيم صفر.</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التحليل الثنائي ومتعدد المتغيرات بربط كل متغير بالرضا. وأي استنتاج لازم يكون وراه اختبار إحصائي: Chi-square مع Cramér's V للمتغيرات الفئوية علشان أعرف قوة العلاقة، وMann-Whitney للمتغيرات الرقمية، وSpearman للتقييمات. لو p-value أقل من 0.05 يبقى الفرق حقيقي.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استخدمت عشر أنواع رسوم مختلفة، والمطلوب خمسة على الأقل، ودرست أكتر من عشر متغيرات بالتحليل الأحادي والثنائي والمتعدد، والمطلوب ستة على الأقل.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أهم النتائج: 44 في المية بس راضيين. الدرجة ونوع السفر أقوى عاملين: البيزنس 70 في المية والسياحية 19. المسافرين لأسباب شخصية رضاهم حوالي 10 في المية في كل الدرجات. الصعود الإلكتروني أهم خدمة، والواي فاي أقل خدمة متقيمة رغم إنها مؤثرة جدًا. والتأخير بيقلل الرضا بس تأثيره ضعيف. والنوع ملوش أي تأثير.</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الخلاصة إن رضا الركاب بيعتمد على جودة الخدمة والتجربة الرقمية والدرجة، مش على المسافة ولا النوع. وأهم التوصيات: تحسين الواي فاي والصعود الإلكتروني، وتطوير الدرجة السياحية، وعروض للمسافرين لأسباب شخصية.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شكرًا لحسن الاستماع. كل الكود والبيانات والداشبورد موجودين على GitHub.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Oval 1"/>
          <p:cNvSpPr/>
          <p:nvPr/>
        </p:nvSpPr>
        <p:spPr>
          <a:xfrm>
            <a:off x="-1463040" y="-1097280"/>
            <a:ext cx="5852160" cy="5852160"/>
          </a:xfrm>
          <a:prstGeom prst="ellipse">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3566160"/>
            <a:ext cx="3108960" cy="310896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0"/>
            <a:ext cx="3108960" cy="640080"/>
          </a:xfrm>
          <a:prstGeom prst="rect">
            <a:avLst/>
          </a:prstGeom>
          <a:noFill/>
        </p:spPr>
        <p:txBody>
          <a:bodyPr wrap="square" lIns="0" rIns="0" tIns="0" bIns="0" anchor="t">
            <a:spAutoFit/>
          </a:bodyPr>
          <a:lstStyle/>
          <a:p>
            <a:pPr algn="ctr">
              <a:spcAft>
                <a:spcPts val="0"/>
              </a:spcAft>
            </a:pPr>
            <a:r>
              <a:rPr sz="3400" b="1">
                <a:solidFill>
                  <a:srgbClr val="FFFFFF"/>
                </a:solidFill>
                <a:latin typeface="Arial"/>
                <a:cs typeface="Arial"/>
              </a:rPr>
              <a:t>Python</a:t>
            </a:r>
          </a:p>
        </p:txBody>
      </p:sp>
      <p:sp>
        <p:nvSpPr>
          <p:cNvPr id="5" name="TextBox 4"/>
          <p:cNvSpPr txBox="1"/>
          <p:nvPr/>
        </p:nvSpPr>
        <p:spPr>
          <a:xfrm>
            <a:off x="548640" y="5257800"/>
            <a:ext cx="3108960" cy="365760"/>
          </a:xfrm>
          <a:prstGeom prst="rect">
            <a:avLst/>
          </a:prstGeom>
          <a:noFill/>
        </p:spPr>
        <p:txBody>
          <a:bodyPr wrap="square" lIns="0" rIns="0" tIns="0" bIns="0" anchor="t">
            <a:spAutoFit/>
          </a:bodyPr>
          <a:lstStyle/>
          <a:p>
            <a:pPr algn="ctr">
              <a:spcAft>
                <a:spcPts val="0"/>
              </a:spcAft>
            </a:pPr>
            <a:r>
              <a:rPr sz="1400" b="0">
                <a:solidFill>
                  <a:srgbClr val="FFFFFF"/>
                </a:solidFill>
                <a:latin typeface="Arial"/>
                <a:cs typeface="Arial"/>
              </a:rPr>
              <a:t>Jupyter Notebook</a:t>
            </a:r>
          </a:p>
        </p:txBody>
      </p:sp>
      <p:sp>
        <p:nvSpPr>
          <p:cNvPr id="6" name="TextBox 5"/>
          <p:cNvSpPr txBox="1"/>
          <p:nvPr/>
        </p:nvSpPr>
        <p:spPr>
          <a:xfrm>
            <a:off x="4114800" y="1188720"/>
            <a:ext cx="7498079" cy="365760"/>
          </a:xfrm>
          <a:prstGeom prst="rect">
            <a:avLst/>
          </a:prstGeom>
          <a:noFill/>
        </p:spPr>
        <p:txBody>
          <a:bodyPr wrap="square" lIns="0" rIns="0" tIns="0" bIns="0" anchor="t">
            <a:spAutoFit/>
          </a:bodyPr>
          <a:lstStyle/>
          <a:p>
            <a:pPr algn="r" rtl="1">
              <a:spcAft>
                <a:spcPts val="0"/>
              </a:spcAft>
            </a:pPr>
            <a:r>
              <a:rPr sz="1600" b="1">
                <a:solidFill>
                  <a:srgbClr val="B8C7DB"/>
                </a:solidFill>
                <a:latin typeface="Arial"/>
                <a:cs typeface="Arial"/>
              </a:rPr>
              <a:t>المشروع المرحلي  ·  تحليل البيانات</a:t>
            </a:r>
          </a:p>
        </p:txBody>
      </p:sp>
      <p:sp>
        <p:nvSpPr>
          <p:cNvPr id="7" name="TextBox 6"/>
          <p:cNvSpPr txBox="1"/>
          <p:nvPr/>
        </p:nvSpPr>
        <p:spPr>
          <a:xfrm>
            <a:off x="4114800" y="1737360"/>
            <a:ext cx="7498079" cy="1828800"/>
          </a:xfrm>
          <a:prstGeom prst="rect">
            <a:avLst/>
          </a:prstGeom>
          <a:noFill/>
        </p:spPr>
        <p:txBody>
          <a:bodyPr wrap="square" lIns="0" rIns="0" tIns="0" bIns="0" anchor="t">
            <a:spAutoFit/>
          </a:bodyPr>
          <a:lstStyle/>
          <a:p>
            <a:pPr algn="r" rtl="1">
              <a:spcAft>
                <a:spcPts val="0"/>
              </a:spcAft>
            </a:pPr>
            <a:r>
              <a:rPr sz="5000" b="1">
                <a:solidFill>
                  <a:srgbClr val="FFFFFF"/>
                </a:solidFill>
                <a:latin typeface="Arial"/>
                <a:cs typeface="Arial"/>
              </a:rPr>
              <a:t>شرح كود مشروع
رضا ركاب الطيران</a:t>
            </a:r>
          </a:p>
        </p:txBody>
      </p:sp>
      <p:sp>
        <p:nvSpPr>
          <p:cNvPr id="8" name="TextBox 7"/>
          <p:cNvSpPr txBox="1"/>
          <p:nvPr/>
        </p:nvSpPr>
        <p:spPr>
          <a:xfrm>
            <a:off x="4114800" y="3749039"/>
            <a:ext cx="7498079" cy="731520"/>
          </a:xfrm>
          <a:prstGeom prst="rect">
            <a:avLst/>
          </a:prstGeom>
          <a:noFill/>
        </p:spPr>
        <p:txBody>
          <a:bodyPr wrap="square" lIns="0" rIns="0" tIns="0" bIns="0" anchor="t">
            <a:spAutoFit/>
          </a:bodyPr>
          <a:lstStyle/>
          <a:p>
            <a:pPr algn="r" rtl="1">
              <a:spcAft>
                <a:spcPts val="0"/>
              </a:spcAft>
            </a:pPr>
            <a:r>
              <a:rPr sz="2200" b="0">
                <a:solidFill>
                  <a:srgbClr val="B8C7DB"/>
                </a:solidFill>
                <a:latin typeface="Arial"/>
                <a:cs typeface="Arial"/>
              </a:rPr>
              <a:t>من البيانات الخام إلى النتائج — خطوة بخطوة</a:t>
            </a:r>
          </a:p>
        </p:txBody>
      </p:sp>
      <p:sp>
        <p:nvSpPr>
          <p:cNvPr id="9" name="TextBox 8"/>
          <p:cNvSpPr txBox="1"/>
          <p:nvPr/>
        </p:nvSpPr>
        <p:spPr>
          <a:xfrm>
            <a:off x="4114800" y="5120640"/>
            <a:ext cx="7498079" cy="365760"/>
          </a:xfrm>
          <a:prstGeom prst="rect">
            <a:avLst/>
          </a:prstGeom>
          <a:noFill/>
        </p:spPr>
        <p:txBody>
          <a:bodyPr wrap="square" lIns="0" rIns="0" tIns="0" bIns="0" anchor="t">
            <a:spAutoFit/>
          </a:bodyPr>
          <a:lstStyle/>
          <a:p>
            <a:pPr algn="r" rtl="1">
              <a:spcAft>
                <a:spcPts val="0"/>
              </a:spcAft>
            </a:pPr>
            <a:r>
              <a:rPr sz="2000" b="1">
                <a:solidFill>
                  <a:srgbClr val="FFFFFF"/>
                </a:solidFill>
                <a:latin typeface="Arial"/>
                <a:cs typeface="Arial"/>
              </a:rPr>
              <a:t>هشام محمد</a:t>
            </a:r>
          </a:p>
        </p:txBody>
      </p:sp>
      <p:sp>
        <p:nvSpPr>
          <p:cNvPr id="10" name="TextBox 9"/>
          <p:cNvSpPr txBox="1"/>
          <p:nvPr/>
        </p:nvSpPr>
        <p:spPr>
          <a:xfrm>
            <a:off x="4114800" y="5577840"/>
            <a:ext cx="7498079" cy="365760"/>
          </a:xfrm>
          <a:prstGeom prst="rect">
            <a:avLst/>
          </a:prstGeom>
          <a:noFill/>
        </p:spPr>
        <p:txBody>
          <a:bodyPr wrap="square" lIns="0" rIns="0" tIns="0" bIns="0" anchor="t">
            <a:spAutoFit/>
          </a:bodyPr>
          <a:lstStyle/>
          <a:p>
            <a:pPr algn="r" rtl="1">
              <a:spcAft>
                <a:spcPts val="0"/>
              </a:spcAft>
            </a:pPr>
            <a:r>
              <a:rPr sz="1400" b="0">
                <a:solidFill>
                  <a:srgbClr val="B8C7DB"/>
                </a:solidFill>
                <a:latin typeface="Arial"/>
                <a:cs typeface="Arial"/>
              </a:rPr>
              <a:t>Epsilon AI  ·  برنامج علوم البيانات</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المحتوى</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خطة الفيديو</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2</a:t>
            </a:r>
          </a:p>
        </p:txBody>
      </p:sp>
      <p:sp>
        <p:nvSpPr>
          <p:cNvPr id="6" name="Oval 5"/>
          <p:cNvSpPr/>
          <p:nvPr/>
        </p:nvSpPr>
        <p:spPr>
          <a:xfrm>
            <a:off x="11109960" y="155448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1</a:t>
            </a:r>
          </a:p>
        </p:txBody>
      </p:sp>
      <p:sp>
        <p:nvSpPr>
          <p:cNvPr id="7" name="TextBox 6"/>
          <p:cNvSpPr txBox="1"/>
          <p:nvPr/>
        </p:nvSpPr>
        <p:spPr>
          <a:xfrm>
            <a:off x="3657600" y="1536192"/>
            <a:ext cx="7223760" cy="365760"/>
          </a:xfrm>
          <a:prstGeom prst="rect">
            <a:avLst/>
          </a:prstGeom>
          <a:noFill/>
        </p:spPr>
        <p:txBody>
          <a:bodyPr wrap="square" lIns="0" rIns="0" tIns="0" bIns="0" anchor="t">
            <a:spAutoFit/>
          </a:bodyPr>
          <a:lstStyle/>
          <a:p>
            <a:pPr algn="r" rtl="1">
              <a:spcAft>
                <a:spcPts val="0"/>
              </a:spcAft>
            </a:pPr>
            <a:r>
              <a:rPr sz="2100" b="1">
                <a:solidFill>
                  <a:srgbClr val="0B1F3A"/>
                </a:solidFill>
                <a:latin typeface="Arial"/>
                <a:cs typeface="Arial"/>
              </a:rPr>
              <a:t>البيانات والأسئلة</a:t>
            </a:r>
          </a:p>
        </p:txBody>
      </p:sp>
      <p:sp>
        <p:nvSpPr>
          <p:cNvPr id="8" name="TextBox 7"/>
          <p:cNvSpPr txBox="1"/>
          <p:nvPr/>
        </p:nvSpPr>
        <p:spPr>
          <a:xfrm>
            <a:off x="3657600" y="1901952"/>
            <a:ext cx="7223760" cy="320040"/>
          </a:xfrm>
          <a:prstGeom prst="rect">
            <a:avLst/>
          </a:prstGeom>
          <a:noFill/>
        </p:spPr>
        <p:txBody>
          <a:bodyPr wrap="square" lIns="0" rIns="0" tIns="0" bIns="0" anchor="t">
            <a:spAutoFit/>
          </a:bodyPr>
          <a:lstStyle/>
          <a:p>
            <a:pPr algn="r" rtl="1">
              <a:spcAft>
                <a:spcPts val="0"/>
              </a:spcAft>
            </a:pPr>
            <a:r>
              <a:rPr sz="1400" b="0">
                <a:solidFill>
                  <a:srgbClr val="5B636E"/>
                </a:solidFill>
                <a:latin typeface="Arial"/>
                <a:cs typeface="Arial"/>
              </a:rPr>
              <a:t>المجال، الأعمدة، والأسئلة البحثية الستة</a:t>
            </a:r>
          </a:p>
        </p:txBody>
      </p:sp>
      <p:sp>
        <p:nvSpPr>
          <p:cNvPr id="9" name="Oval 8"/>
          <p:cNvSpPr/>
          <p:nvPr/>
        </p:nvSpPr>
        <p:spPr>
          <a:xfrm>
            <a:off x="11109960" y="2340864"/>
            <a:ext cx="502920" cy="5029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2</a:t>
            </a:r>
          </a:p>
        </p:txBody>
      </p:sp>
      <p:sp>
        <p:nvSpPr>
          <p:cNvPr id="10" name="TextBox 9"/>
          <p:cNvSpPr txBox="1"/>
          <p:nvPr/>
        </p:nvSpPr>
        <p:spPr>
          <a:xfrm>
            <a:off x="3657600" y="2322576"/>
            <a:ext cx="7223760" cy="365760"/>
          </a:xfrm>
          <a:prstGeom prst="rect">
            <a:avLst/>
          </a:prstGeom>
          <a:noFill/>
        </p:spPr>
        <p:txBody>
          <a:bodyPr wrap="square" lIns="0" rIns="0" tIns="0" bIns="0" anchor="t">
            <a:spAutoFit/>
          </a:bodyPr>
          <a:lstStyle/>
          <a:p>
            <a:pPr algn="r" rtl="1">
              <a:spcAft>
                <a:spcPts val="0"/>
              </a:spcAft>
            </a:pPr>
            <a:r>
              <a:rPr sz="2100" b="1">
                <a:solidFill>
                  <a:srgbClr val="0B1F3A"/>
                </a:solidFill>
                <a:latin typeface="Arial"/>
                <a:cs typeface="Arial"/>
              </a:rPr>
              <a:t>المكتبات والإعدادات</a:t>
            </a:r>
          </a:p>
        </p:txBody>
      </p:sp>
      <p:sp>
        <p:nvSpPr>
          <p:cNvPr id="11" name="TextBox 10"/>
          <p:cNvSpPr txBox="1"/>
          <p:nvPr/>
        </p:nvSpPr>
        <p:spPr>
          <a:xfrm>
            <a:off x="3657600" y="2688336"/>
            <a:ext cx="7223760" cy="320040"/>
          </a:xfrm>
          <a:prstGeom prst="rect">
            <a:avLst/>
          </a:prstGeom>
          <a:noFill/>
        </p:spPr>
        <p:txBody>
          <a:bodyPr wrap="square" lIns="0" rIns="0" tIns="0" bIns="0" anchor="t">
            <a:spAutoFit/>
          </a:bodyPr>
          <a:lstStyle/>
          <a:p>
            <a:pPr algn="r" rtl="1">
              <a:spcAft>
                <a:spcPts val="0"/>
              </a:spcAft>
            </a:pPr>
            <a:r>
              <a:rPr sz="1400" b="0">
                <a:solidFill>
                  <a:srgbClr val="5B636E"/>
                </a:solidFill>
                <a:latin typeface="Arial"/>
                <a:cs typeface="Arial"/>
              </a:rPr>
              <a:t>الاستيراد والألوان الثابتة للرسوم</a:t>
            </a:r>
          </a:p>
        </p:txBody>
      </p:sp>
      <p:sp>
        <p:nvSpPr>
          <p:cNvPr id="12" name="Oval 11"/>
          <p:cNvSpPr/>
          <p:nvPr/>
        </p:nvSpPr>
        <p:spPr>
          <a:xfrm>
            <a:off x="11109960" y="3127248"/>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3</a:t>
            </a:r>
          </a:p>
        </p:txBody>
      </p:sp>
      <p:sp>
        <p:nvSpPr>
          <p:cNvPr id="13" name="TextBox 12"/>
          <p:cNvSpPr txBox="1"/>
          <p:nvPr/>
        </p:nvSpPr>
        <p:spPr>
          <a:xfrm>
            <a:off x="3657600" y="3108960"/>
            <a:ext cx="7223760" cy="365760"/>
          </a:xfrm>
          <a:prstGeom prst="rect">
            <a:avLst/>
          </a:prstGeom>
          <a:noFill/>
        </p:spPr>
        <p:txBody>
          <a:bodyPr wrap="square" lIns="0" rIns="0" tIns="0" bIns="0" anchor="t">
            <a:spAutoFit/>
          </a:bodyPr>
          <a:lstStyle/>
          <a:p>
            <a:pPr algn="r" rtl="1">
              <a:spcAft>
                <a:spcPts val="0"/>
              </a:spcAft>
            </a:pPr>
            <a:r>
              <a:rPr sz="2100" b="1">
                <a:solidFill>
                  <a:srgbClr val="0B1F3A"/>
                </a:solidFill>
                <a:latin typeface="Arial"/>
                <a:cs typeface="Arial"/>
              </a:rPr>
              <a:t>تقييم جودة البيانات</a:t>
            </a:r>
          </a:p>
        </p:txBody>
      </p:sp>
      <p:sp>
        <p:nvSpPr>
          <p:cNvPr id="14" name="TextBox 13"/>
          <p:cNvSpPr txBox="1"/>
          <p:nvPr/>
        </p:nvSpPr>
        <p:spPr>
          <a:xfrm>
            <a:off x="3657600" y="3474720"/>
            <a:ext cx="7223760" cy="320040"/>
          </a:xfrm>
          <a:prstGeom prst="rect">
            <a:avLst/>
          </a:prstGeom>
          <a:noFill/>
        </p:spPr>
        <p:txBody>
          <a:bodyPr wrap="square" lIns="0" rIns="0" tIns="0" bIns="0" anchor="t">
            <a:spAutoFit/>
          </a:bodyPr>
          <a:lstStyle/>
          <a:p>
            <a:pPr algn="r" rtl="1">
              <a:spcAft>
                <a:spcPts val="0"/>
              </a:spcAft>
            </a:pPr>
            <a:r>
              <a:rPr sz="1400" b="0">
                <a:solidFill>
                  <a:srgbClr val="5B636E"/>
                </a:solidFill>
                <a:latin typeface="Arial"/>
                <a:cs typeface="Arial"/>
              </a:rPr>
              <a:t>اكتشاف المشاكل قبل التنظيف</a:t>
            </a:r>
          </a:p>
        </p:txBody>
      </p:sp>
      <p:sp>
        <p:nvSpPr>
          <p:cNvPr id="15" name="Oval 14"/>
          <p:cNvSpPr/>
          <p:nvPr/>
        </p:nvSpPr>
        <p:spPr>
          <a:xfrm>
            <a:off x="11109960" y="3913632"/>
            <a:ext cx="502920" cy="5029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4</a:t>
            </a:r>
          </a:p>
        </p:txBody>
      </p:sp>
      <p:sp>
        <p:nvSpPr>
          <p:cNvPr id="16" name="TextBox 15"/>
          <p:cNvSpPr txBox="1"/>
          <p:nvPr/>
        </p:nvSpPr>
        <p:spPr>
          <a:xfrm>
            <a:off x="3657600" y="3895344"/>
            <a:ext cx="7223760" cy="365760"/>
          </a:xfrm>
          <a:prstGeom prst="rect">
            <a:avLst/>
          </a:prstGeom>
          <a:noFill/>
        </p:spPr>
        <p:txBody>
          <a:bodyPr wrap="square" lIns="0" rIns="0" tIns="0" bIns="0" anchor="t">
            <a:spAutoFit/>
          </a:bodyPr>
          <a:lstStyle/>
          <a:p>
            <a:pPr algn="r" rtl="1">
              <a:spcAft>
                <a:spcPts val="0"/>
              </a:spcAft>
            </a:pPr>
            <a:r>
              <a:rPr sz="2100" b="1">
                <a:solidFill>
                  <a:srgbClr val="0B1F3A"/>
                </a:solidFill>
                <a:latin typeface="Arial"/>
                <a:cs typeface="Arial"/>
              </a:rPr>
              <a:t>تنظيف البيانات</a:t>
            </a:r>
          </a:p>
        </p:txBody>
      </p:sp>
      <p:sp>
        <p:nvSpPr>
          <p:cNvPr id="17" name="TextBox 16"/>
          <p:cNvSpPr txBox="1"/>
          <p:nvPr/>
        </p:nvSpPr>
        <p:spPr>
          <a:xfrm>
            <a:off x="3657600" y="4261104"/>
            <a:ext cx="7223760" cy="320040"/>
          </a:xfrm>
          <a:prstGeom prst="rect">
            <a:avLst/>
          </a:prstGeom>
          <a:noFill/>
        </p:spPr>
        <p:txBody>
          <a:bodyPr wrap="square" lIns="0" rIns="0" tIns="0" bIns="0" anchor="t">
            <a:spAutoFit/>
          </a:bodyPr>
          <a:lstStyle/>
          <a:p>
            <a:pPr algn="r" rtl="1">
              <a:spcAft>
                <a:spcPts val="0"/>
              </a:spcAft>
            </a:pPr>
            <a:r>
              <a:rPr sz="1400" b="0">
                <a:solidFill>
                  <a:srgbClr val="5B636E"/>
                </a:solidFill>
                <a:latin typeface="Arial"/>
                <a:cs typeface="Arial"/>
              </a:rPr>
              <a:t>Define → Code → Test لكل مشكلة</a:t>
            </a:r>
          </a:p>
        </p:txBody>
      </p:sp>
      <p:sp>
        <p:nvSpPr>
          <p:cNvPr id="18" name="Oval 17"/>
          <p:cNvSpPr/>
          <p:nvPr/>
        </p:nvSpPr>
        <p:spPr>
          <a:xfrm>
            <a:off x="11109960" y="4700016"/>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5</a:t>
            </a:r>
          </a:p>
        </p:txBody>
      </p:sp>
      <p:sp>
        <p:nvSpPr>
          <p:cNvPr id="19" name="TextBox 18"/>
          <p:cNvSpPr txBox="1"/>
          <p:nvPr/>
        </p:nvSpPr>
        <p:spPr>
          <a:xfrm>
            <a:off x="3657600" y="4681728"/>
            <a:ext cx="7223760" cy="365760"/>
          </a:xfrm>
          <a:prstGeom prst="rect">
            <a:avLst/>
          </a:prstGeom>
          <a:noFill/>
        </p:spPr>
        <p:txBody>
          <a:bodyPr wrap="square" lIns="0" rIns="0" tIns="0" bIns="0" anchor="t">
            <a:spAutoFit/>
          </a:bodyPr>
          <a:lstStyle/>
          <a:p>
            <a:pPr algn="r" rtl="1">
              <a:spcAft>
                <a:spcPts val="0"/>
              </a:spcAft>
            </a:pPr>
            <a:r>
              <a:rPr sz="2100" b="1">
                <a:solidFill>
                  <a:srgbClr val="0B1F3A"/>
                </a:solidFill>
                <a:latin typeface="Arial"/>
                <a:cs typeface="Arial"/>
              </a:rPr>
              <a:t>التحليل الاستكشافي</a:t>
            </a:r>
          </a:p>
        </p:txBody>
      </p:sp>
      <p:sp>
        <p:nvSpPr>
          <p:cNvPr id="20" name="TextBox 19"/>
          <p:cNvSpPr txBox="1"/>
          <p:nvPr/>
        </p:nvSpPr>
        <p:spPr>
          <a:xfrm>
            <a:off x="3657600" y="5047488"/>
            <a:ext cx="7223760" cy="320040"/>
          </a:xfrm>
          <a:prstGeom prst="rect">
            <a:avLst/>
          </a:prstGeom>
          <a:noFill/>
        </p:spPr>
        <p:txBody>
          <a:bodyPr wrap="square" lIns="0" rIns="0" tIns="0" bIns="0" anchor="t">
            <a:spAutoFit/>
          </a:bodyPr>
          <a:lstStyle/>
          <a:p>
            <a:pPr algn="r" rtl="1">
              <a:spcAft>
                <a:spcPts val="0"/>
              </a:spcAft>
            </a:pPr>
            <a:r>
              <a:rPr sz="1400" b="0">
                <a:solidFill>
                  <a:srgbClr val="5B636E"/>
                </a:solidFill>
                <a:latin typeface="Arial"/>
                <a:cs typeface="Arial"/>
              </a:rPr>
              <a:t>أحادي المتغير، ثنائي ومتعدد المتغيرات، واختبارات إحصائية</a:t>
            </a:r>
          </a:p>
        </p:txBody>
      </p:sp>
      <p:sp>
        <p:nvSpPr>
          <p:cNvPr id="21" name="Oval 20"/>
          <p:cNvSpPr/>
          <p:nvPr/>
        </p:nvSpPr>
        <p:spPr>
          <a:xfrm>
            <a:off x="11109960" y="5486400"/>
            <a:ext cx="502920" cy="50292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Arial"/>
              </a:rPr>
              <a:t>6</a:t>
            </a:r>
          </a:p>
        </p:txBody>
      </p:sp>
      <p:sp>
        <p:nvSpPr>
          <p:cNvPr id="22" name="TextBox 21"/>
          <p:cNvSpPr txBox="1"/>
          <p:nvPr/>
        </p:nvSpPr>
        <p:spPr>
          <a:xfrm>
            <a:off x="3657600" y="5468112"/>
            <a:ext cx="7223760" cy="365760"/>
          </a:xfrm>
          <a:prstGeom prst="rect">
            <a:avLst/>
          </a:prstGeom>
          <a:noFill/>
        </p:spPr>
        <p:txBody>
          <a:bodyPr wrap="square" lIns="0" rIns="0" tIns="0" bIns="0" anchor="t">
            <a:spAutoFit/>
          </a:bodyPr>
          <a:lstStyle/>
          <a:p>
            <a:pPr algn="r" rtl="1">
              <a:spcAft>
                <a:spcPts val="0"/>
              </a:spcAft>
            </a:pPr>
            <a:r>
              <a:rPr sz="2100" b="1">
                <a:solidFill>
                  <a:srgbClr val="0B1F3A"/>
                </a:solidFill>
                <a:latin typeface="Arial"/>
                <a:cs typeface="Arial"/>
              </a:rPr>
              <a:t>النتائج والخلاصة</a:t>
            </a:r>
          </a:p>
        </p:txBody>
      </p:sp>
      <p:sp>
        <p:nvSpPr>
          <p:cNvPr id="23" name="TextBox 22"/>
          <p:cNvSpPr txBox="1"/>
          <p:nvPr/>
        </p:nvSpPr>
        <p:spPr>
          <a:xfrm>
            <a:off x="3657600" y="5833872"/>
            <a:ext cx="7223760" cy="320040"/>
          </a:xfrm>
          <a:prstGeom prst="rect">
            <a:avLst/>
          </a:prstGeom>
          <a:noFill/>
        </p:spPr>
        <p:txBody>
          <a:bodyPr wrap="square" lIns="0" rIns="0" tIns="0" bIns="0" anchor="t">
            <a:spAutoFit/>
          </a:bodyPr>
          <a:lstStyle/>
          <a:p>
            <a:pPr algn="r" rtl="1">
              <a:spcAft>
                <a:spcPts val="0"/>
              </a:spcAft>
            </a:pPr>
            <a:r>
              <a:rPr sz="1400" b="0">
                <a:solidFill>
                  <a:srgbClr val="5B636E"/>
                </a:solidFill>
                <a:latin typeface="Arial"/>
                <a:cs typeface="Arial"/>
              </a:rPr>
              <a:t>الإجابة على الأسئلة والتوصيات</a:t>
            </a:r>
          </a:p>
        </p:txBody>
      </p:sp>
      <p:sp>
        <p:nvSpPr>
          <p:cNvPr id="24" name="Oval 23"/>
          <p:cNvSpPr/>
          <p:nvPr/>
        </p:nvSpPr>
        <p:spPr>
          <a:xfrm>
            <a:off x="548640" y="2011680"/>
            <a:ext cx="2560320" cy="2560320"/>
          </a:xfrm>
          <a:prstGeom prst="ellipse">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2697480"/>
            <a:ext cx="2560320" cy="640080"/>
          </a:xfrm>
          <a:prstGeom prst="rect">
            <a:avLst/>
          </a:prstGeom>
          <a:noFill/>
        </p:spPr>
        <p:txBody>
          <a:bodyPr wrap="square" lIns="0" rIns="0" tIns="0" bIns="0" anchor="t">
            <a:spAutoFit/>
          </a:bodyPr>
          <a:lstStyle/>
          <a:p>
            <a:pPr algn="ctr">
              <a:spcAft>
                <a:spcPts val="0"/>
              </a:spcAft>
            </a:pPr>
            <a:r>
              <a:rPr sz="4800" b="1">
                <a:solidFill>
                  <a:srgbClr val="2A78D6"/>
                </a:solidFill>
                <a:latin typeface="Arial"/>
                <a:cs typeface="Arial"/>
              </a:rPr>
              <a:t>89</a:t>
            </a:r>
          </a:p>
        </p:txBody>
      </p:sp>
      <p:sp>
        <p:nvSpPr>
          <p:cNvPr id="26" name="TextBox 25"/>
          <p:cNvSpPr txBox="1"/>
          <p:nvPr/>
        </p:nvSpPr>
        <p:spPr>
          <a:xfrm>
            <a:off x="548640" y="3474720"/>
            <a:ext cx="2560320" cy="365760"/>
          </a:xfrm>
          <a:prstGeom prst="rect">
            <a:avLst/>
          </a:prstGeom>
          <a:noFill/>
        </p:spPr>
        <p:txBody>
          <a:bodyPr wrap="square" lIns="0" rIns="0" tIns="0" bIns="0" anchor="t">
            <a:spAutoFit/>
          </a:bodyPr>
          <a:lstStyle/>
          <a:p>
            <a:pPr algn="ctr" rtl="1">
              <a:spcAft>
                <a:spcPts val="0"/>
              </a:spcAft>
            </a:pPr>
            <a:r>
              <a:rPr sz="1500" b="0">
                <a:solidFill>
                  <a:srgbClr val="0B1F3A"/>
                </a:solidFill>
                <a:latin typeface="Arial"/>
                <a:cs typeface="Arial"/>
              </a:rPr>
              <a:t>خلية في النوتبوك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الأول — البيانات</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البيانات والأسئلة البحثية</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3</a:t>
            </a:r>
          </a:p>
        </p:txBody>
      </p:sp>
      <p:sp>
        <p:nvSpPr>
          <p:cNvPr id="6" name="Rounded Rectangle 5"/>
          <p:cNvSpPr/>
          <p:nvPr/>
        </p:nvSpPr>
        <p:spPr>
          <a:xfrm>
            <a:off x="9098280" y="1600200"/>
            <a:ext cx="2514600" cy="196596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98280" y="1920240"/>
            <a:ext cx="2514600" cy="822960"/>
          </a:xfrm>
          <a:prstGeom prst="rect">
            <a:avLst/>
          </a:prstGeom>
          <a:noFill/>
        </p:spPr>
        <p:txBody>
          <a:bodyPr wrap="square" lIns="0" rIns="0" tIns="0" bIns="0" anchor="t">
            <a:spAutoFit/>
          </a:bodyPr>
          <a:lstStyle/>
          <a:p>
            <a:pPr algn="ctr">
              <a:spcAft>
                <a:spcPts val="0"/>
              </a:spcAft>
            </a:pPr>
            <a:r>
              <a:rPr sz="4000" b="1">
                <a:solidFill>
                  <a:srgbClr val="0B1F3A"/>
                </a:solidFill>
                <a:latin typeface="Arial"/>
                <a:cs typeface="Arial"/>
              </a:rPr>
              <a:t>25,976</a:t>
            </a:r>
          </a:p>
        </p:txBody>
      </p:sp>
      <p:sp>
        <p:nvSpPr>
          <p:cNvPr id="8" name="TextBox 7"/>
          <p:cNvSpPr txBox="1"/>
          <p:nvPr/>
        </p:nvSpPr>
        <p:spPr>
          <a:xfrm>
            <a:off x="9235440" y="2834640"/>
            <a:ext cx="2240280" cy="548640"/>
          </a:xfrm>
          <a:prstGeom prst="rect">
            <a:avLst/>
          </a:prstGeom>
          <a:noFill/>
        </p:spPr>
        <p:txBody>
          <a:bodyPr wrap="square" lIns="0" rIns="0" tIns="0" bIns="0" anchor="t">
            <a:spAutoFit/>
          </a:bodyPr>
          <a:lstStyle/>
          <a:p>
            <a:pPr algn="ctr" rtl="1">
              <a:spcAft>
                <a:spcPts val="0"/>
              </a:spcAft>
            </a:pPr>
            <a:r>
              <a:rPr sz="1500" b="0">
                <a:solidFill>
                  <a:srgbClr val="5B636E"/>
                </a:solidFill>
                <a:latin typeface="Arial"/>
                <a:cs typeface="Arial"/>
              </a:rPr>
              <a:t>راكب</a:t>
            </a:r>
          </a:p>
        </p:txBody>
      </p:sp>
      <p:sp>
        <p:nvSpPr>
          <p:cNvPr id="9" name="Rounded Rectangle 8"/>
          <p:cNvSpPr/>
          <p:nvPr/>
        </p:nvSpPr>
        <p:spPr>
          <a:xfrm>
            <a:off x="6400799" y="1600200"/>
            <a:ext cx="2514600" cy="196596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799" y="1920240"/>
            <a:ext cx="2514600" cy="822960"/>
          </a:xfrm>
          <a:prstGeom prst="rect">
            <a:avLst/>
          </a:prstGeom>
          <a:noFill/>
        </p:spPr>
        <p:txBody>
          <a:bodyPr wrap="square" lIns="0" rIns="0" tIns="0" bIns="0" anchor="t">
            <a:spAutoFit/>
          </a:bodyPr>
          <a:lstStyle/>
          <a:p>
            <a:pPr algn="ctr">
              <a:spcAft>
                <a:spcPts val="0"/>
              </a:spcAft>
            </a:pPr>
            <a:r>
              <a:rPr sz="4000" b="1">
                <a:solidFill>
                  <a:srgbClr val="0B1F3A"/>
                </a:solidFill>
                <a:latin typeface="Arial"/>
                <a:cs typeface="Arial"/>
              </a:rPr>
              <a:t>25</a:t>
            </a:r>
          </a:p>
        </p:txBody>
      </p:sp>
      <p:sp>
        <p:nvSpPr>
          <p:cNvPr id="11" name="TextBox 10"/>
          <p:cNvSpPr txBox="1"/>
          <p:nvPr/>
        </p:nvSpPr>
        <p:spPr>
          <a:xfrm>
            <a:off x="6537959" y="2834640"/>
            <a:ext cx="2240280" cy="548640"/>
          </a:xfrm>
          <a:prstGeom prst="rect">
            <a:avLst/>
          </a:prstGeom>
          <a:noFill/>
        </p:spPr>
        <p:txBody>
          <a:bodyPr wrap="square" lIns="0" rIns="0" tIns="0" bIns="0" anchor="t">
            <a:spAutoFit/>
          </a:bodyPr>
          <a:lstStyle/>
          <a:p>
            <a:pPr algn="ctr" rtl="1">
              <a:spcAft>
                <a:spcPts val="0"/>
              </a:spcAft>
            </a:pPr>
            <a:r>
              <a:rPr sz="1500" b="0">
                <a:solidFill>
                  <a:srgbClr val="5B636E"/>
                </a:solidFill>
                <a:latin typeface="Arial"/>
                <a:cs typeface="Arial"/>
              </a:rPr>
              <a:t>عمود</a:t>
            </a:r>
          </a:p>
        </p:txBody>
      </p:sp>
      <p:sp>
        <p:nvSpPr>
          <p:cNvPr id="12" name="Rounded Rectangle 11"/>
          <p:cNvSpPr/>
          <p:nvPr/>
        </p:nvSpPr>
        <p:spPr>
          <a:xfrm>
            <a:off x="9098280" y="3840480"/>
            <a:ext cx="2514600" cy="196596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4160520"/>
            <a:ext cx="2514600" cy="822960"/>
          </a:xfrm>
          <a:prstGeom prst="rect">
            <a:avLst/>
          </a:prstGeom>
          <a:noFill/>
        </p:spPr>
        <p:txBody>
          <a:bodyPr wrap="square" lIns="0" rIns="0" tIns="0" bIns="0" anchor="t">
            <a:spAutoFit/>
          </a:bodyPr>
          <a:lstStyle/>
          <a:p>
            <a:pPr algn="ctr">
              <a:spcAft>
                <a:spcPts val="0"/>
              </a:spcAft>
            </a:pPr>
            <a:r>
              <a:rPr sz="4000" b="1">
                <a:solidFill>
                  <a:srgbClr val="0B1F3A"/>
                </a:solidFill>
                <a:latin typeface="Arial"/>
                <a:cs typeface="Arial"/>
              </a:rPr>
              <a:t>14</a:t>
            </a:r>
          </a:p>
        </p:txBody>
      </p:sp>
      <p:sp>
        <p:nvSpPr>
          <p:cNvPr id="14" name="TextBox 13"/>
          <p:cNvSpPr txBox="1"/>
          <p:nvPr/>
        </p:nvSpPr>
        <p:spPr>
          <a:xfrm>
            <a:off x="9235440" y="5074920"/>
            <a:ext cx="2240280" cy="548640"/>
          </a:xfrm>
          <a:prstGeom prst="rect">
            <a:avLst/>
          </a:prstGeom>
          <a:noFill/>
        </p:spPr>
        <p:txBody>
          <a:bodyPr wrap="square" lIns="0" rIns="0" tIns="0" bIns="0" anchor="t">
            <a:spAutoFit/>
          </a:bodyPr>
          <a:lstStyle/>
          <a:p>
            <a:pPr algn="ctr" rtl="1">
              <a:spcAft>
                <a:spcPts val="0"/>
              </a:spcAft>
            </a:pPr>
            <a:r>
              <a:rPr sz="1500" b="0">
                <a:solidFill>
                  <a:srgbClr val="5B636E"/>
                </a:solidFill>
                <a:latin typeface="Arial"/>
                <a:cs typeface="Arial"/>
              </a:rPr>
              <a:t>خدمة متقيّمة من 1 لـ 5</a:t>
            </a:r>
          </a:p>
        </p:txBody>
      </p:sp>
      <p:sp>
        <p:nvSpPr>
          <p:cNvPr id="15" name="Rounded Rectangle 14"/>
          <p:cNvSpPr/>
          <p:nvPr/>
        </p:nvSpPr>
        <p:spPr>
          <a:xfrm>
            <a:off x="6400799" y="3840480"/>
            <a:ext cx="2514600" cy="196596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799" y="4160520"/>
            <a:ext cx="2514600" cy="822960"/>
          </a:xfrm>
          <a:prstGeom prst="rect">
            <a:avLst/>
          </a:prstGeom>
          <a:noFill/>
        </p:spPr>
        <p:txBody>
          <a:bodyPr wrap="square" lIns="0" rIns="0" tIns="0" bIns="0" anchor="t">
            <a:spAutoFit/>
          </a:bodyPr>
          <a:lstStyle/>
          <a:p>
            <a:pPr algn="ctr">
              <a:spcAft>
                <a:spcPts val="0"/>
              </a:spcAft>
            </a:pPr>
            <a:r>
              <a:rPr sz="4000" b="1">
                <a:solidFill>
                  <a:srgbClr val="0B1F3A"/>
                </a:solidFill>
                <a:latin typeface="Arial"/>
                <a:cs typeface="Arial"/>
              </a:rPr>
              <a:t>2</a:t>
            </a:r>
          </a:p>
        </p:txBody>
      </p:sp>
      <p:sp>
        <p:nvSpPr>
          <p:cNvPr id="17" name="TextBox 16"/>
          <p:cNvSpPr txBox="1"/>
          <p:nvPr/>
        </p:nvSpPr>
        <p:spPr>
          <a:xfrm>
            <a:off x="6537959" y="5074920"/>
            <a:ext cx="2240280" cy="548640"/>
          </a:xfrm>
          <a:prstGeom prst="rect">
            <a:avLst/>
          </a:prstGeom>
          <a:noFill/>
        </p:spPr>
        <p:txBody>
          <a:bodyPr wrap="square" lIns="0" rIns="0" tIns="0" bIns="0" anchor="t">
            <a:spAutoFit/>
          </a:bodyPr>
          <a:lstStyle/>
          <a:p>
            <a:pPr algn="ctr" rtl="1">
              <a:spcAft>
                <a:spcPts val="0"/>
              </a:spcAft>
            </a:pPr>
            <a:r>
              <a:rPr sz="1500" b="0">
                <a:solidFill>
                  <a:srgbClr val="5B636E"/>
                </a:solidFill>
                <a:latin typeface="Arial"/>
                <a:cs typeface="Arial"/>
              </a:rPr>
              <a:t>فئة للرضا</a:t>
            </a:r>
          </a:p>
        </p:txBody>
      </p:sp>
      <p:sp>
        <p:nvSpPr>
          <p:cNvPr id="18" name="TextBox 17"/>
          <p:cNvSpPr txBox="1"/>
          <p:nvPr/>
        </p:nvSpPr>
        <p:spPr>
          <a:xfrm>
            <a:off x="548640" y="1600200"/>
            <a:ext cx="5577840" cy="457200"/>
          </a:xfrm>
          <a:prstGeom prst="rect">
            <a:avLst/>
          </a:prstGeom>
          <a:noFill/>
        </p:spPr>
        <p:txBody>
          <a:bodyPr wrap="square" lIns="0" rIns="0" tIns="0" bIns="0" anchor="t">
            <a:spAutoFit/>
          </a:bodyPr>
          <a:lstStyle/>
          <a:p>
            <a:pPr algn="r" rtl="1">
              <a:spcAft>
                <a:spcPts val="0"/>
              </a:spcAft>
            </a:pPr>
            <a:r>
              <a:rPr sz="2000" b="1">
                <a:solidFill>
                  <a:srgbClr val="0B1F3A"/>
                </a:solidFill>
                <a:latin typeface="Arial"/>
                <a:cs typeface="Arial"/>
              </a:rPr>
              <a:t>الأسئلة البحثية</a:t>
            </a:r>
          </a:p>
        </p:txBody>
      </p:sp>
      <p:sp>
        <p:nvSpPr>
          <p:cNvPr id="19" name="TextBox 18"/>
          <p:cNvSpPr txBox="1"/>
          <p:nvPr/>
        </p:nvSpPr>
        <p:spPr>
          <a:xfrm>
            <a:off x="548640" y="2148840"/>
            <a:ext cx="5577840" cy="3931920"/>
          </a:xfrm>
          <a:prstGeom prst="rect">
            <a:avLst/>
          </a:prstGeom>
          <a:noFill/>
        </p:spPr>
        <p:txBody>
          <a:bodyPr wrap="square" lIns="0" rIns="0" tIns="0" bIns="0" anchor="t">
            <a:spAutoFit/>
          </a:bodyPr>
          <a:lstStyle/>
          <a:p>
            <a:pPr algn="r" rtl="1">
              <a:spcAft>
                <a:spcPts val="1000"/>
              </a:spcAft>
            </a:pPr>
            <a:r>
              <a:rPr sz="1600" b="1">
                <a:solidFill>
                  <a:srgbClr val="2A78D6"/>
                </a:solidFill>
                <a:latin typeface="Arial"/>
                <a:cs typeface="Arial"/>
              </a:rPr>
              <a:t>Q1   </a:t>
            </a:r>
            <a:r>
              <a:rPr sz="1600" b="0">
                <a:solidFill>
                  <a:srgbClr val="1B1F24"/>
                </a:solidFill>
                <a:latin typeface="Arial"/>
                <a:cs typeface="Arial"/>
              </a:rPr>
              <a:t>ما نسبة الركاب الراضين؟</a:t>
            </a:r>
          </a:p>
          <a:p>
            <a:pPr algn="r" rtl="1">
              <a:spcAft>
                <a:spcPts val="1000"/>
              </a:spcAft>
            </a:pPr>
            <a:r>
              <a:rPr sz="1600" b="1">
                <a:solidFill>
                  <a:srgbClr val="2A78D6"/>
                </a:solidFill>
                <a:latin typeface="Arial"/>
                <a:cs typeface="Arial"/>
              </a:rPr>
              <a:t>Q2   </a:t>
            </a:r>
            <a:r>
              <a:rPr sz="1600" b="0">
                <a:solidFill>
                  <a:srgbClr val="1B1F24"/>
                </a:solidFill>
                <a:latin typeface="Arial"/>
                <a:cs typeface="Arial"/>
              </a:rPr>
              <a:t>ما الشرائح الأكثر والأقل رضا؟</a:t>
            </a:r>
          </a:p>
          <a:p>
            <a:pPr algn="r" rtl="1">
              <a:spcAft>
                <a:spcPts val="1000"/>
              </a:spcAft>
            </a:pPr>
            <a:r>
              <a:rPr sz="1600" b="1">
                <a:solidFill>
                  <a:srgbClr val="2A78D6"/>
                </a:solidFill>
                <a:latin typeface="Arial"/>
                <a:cs typeface="Arial"/>
              </a:rPr>
              <a:t>Q3   </a:t>
            </a:r>
            <a:r>
              <a:rPr sz="1600" b="0">
                <a:solidFill>
                  <a:srgbClr val="1B1F24"/>
                </a:solidFill>
                <a:latin typeface="Arial"/>
                <a:cs typeface="Arial"/>
              </a:rPr>
              <a:t>ما الخدمات الأكثر تأثيرًا على الرضا؟</a:t>
            </a:r>
          </a:p>
          <a:p>
            <a:pPr algn="r" rtl="1">
              <a:spcAft>
                <a:spcPts val="1000"/>
              </a:spcAft>
            </a:pPr>
            <a:r>
              <a:rPr sz="1600" b="1">
                <a:solidFill>
                  <a:srgbClr val="2A78D6"/>
                </a:solidFill>
                <a:latin typeface="Arial"/>
                <a:cs typeface="Arial"/>
              </a:rPr>
              <a:t>Q4   </a:t>
            </a:r>
            <a:r>
              <a:rPr sz="1600" b="0">
                <a:solidFill>
                  <a:srgbClr val="1B1F24"/>
                </a:solidFill>
                <a:latin typeface="Arial"/>
                <a:cs typeface="Arial"/>
              </a:rPr>
              <a:t>هل التأخير يقلل الرضا؟</a:t>
            </a:r>
          </a:p>
          <a:p>
            <a:pPr algn="r" rtl="1">
              <a:spcAft>
                <a:spcPts val="1000"/>
              </a:spcAft>
            </a:pPr>
            <a:r>
              <a:rPr sz="1600" b="1">
                <a:solidFill>
                  <a:srgbClr val="2A78D6"/>
                </a:solidFill>
                <a:latin typeface="Arial"/>
                <a:cs typeface="Arial"/>
              </a:rPr>
              <a:t>Q5   </a:t>
            </a:r>
            <a:r>
              <a:rPr sz="1600" b="0">
                <a:solidFill>
                  <a:srgbClr val="1B1F24"/>
                </a:solidFill>
                <a:latin typeface="Arial"/>
                <a:cs typeface="Arial"/>
              </a:rPr>
              <a:t>هل المسافة تؤثر؟ وهل يعتمد ذلك على الدرجة؟</a:t>
            </a:r>
          </a:p>
          <a:p>
            <a:pPr algn="r" rtl="1">
              <a:spcAft>
                <a:spcPts val="1000"/>
              </a:spcAft>
            </a:pPr>
            <a:r>
              <a:rPr sz="1600" b="1">
                <a:solidFill>
                  <a:srgbClr val="2A78D6"/>
                </a:solidFill>
                <a:latin typeface="Arial"/>
                <a:cs typeface="Arial"/>
              </a:rPr>
              <a:t>Q6   </a:t>
            </a:r>
            <a:r>
              <a:rPr sz="1600" b="0">
                <a:solidFill>
                  <a:srgbClr val="1B1F24"/>
                </a:solidFill>
                <a:latin typeface="Arial"/>
                <a:cs typeface="Arial"/>
              </a:rPr>
              <a:t>أي مزيج من نوع السفر والدرجة هو الأسعد / الأتعس؟</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الثاني — الإعداد</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المكتبات والإعدادات</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4</a:t>
            </a:r>
          </a:p>
        </p:txBody>
      </p:sp>
      <p:sp>
        <p:nvSpPr>
          <p:cNvPr id="6" name="Rounded Rectangle 5"/>
          <p:cNvSpPr/>
          <p:nvPr/>
        </p:nvSpPr>
        <p:spPr>
          <a:xfrm>
            <a:off x="548640" y="1554480"/>
            <a:ext cx="6766560" cy="4480560"/>
          </a:xfrm>
          <a:prstGeom prst="roundRect">
            <a:avLst>
              <a:gd name="adj" fmla="val 6000"/>
            </a:avLst>
          </a:prstGeom>
          <a:solidFill>
            <a:srgbClr val="141C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83080"/>
            <a:ext cx="6217920" cy="4114800"/>
          </a:xfrm>
          <a:prstGeom prst="rect">
            <a:avLst/>
          </a:prstGeom>
          <a:noFill/>
        </p:spPr>
        <p:txBody>
          <a:bodyPr wrap="square" lIns="0" rIns="0" tIns="0" bIns="0" anchor="t">
            <a:spAutoFit/>
          </a:bodyPr>
          <a:lstStyle/>
          <a:p>
            <a:pPr algn="l">
              <a:spcAft>
                <a:spcPts val="0"/>
              </a:spcAft>
            </a:pPr>
            <a:r>
              <a:rPr sz="1300" b="0">
                <a:solidFill>
                  <a:srgbClr val="8FD69B"/>
                </a:solidFill>
                <a:latin typeface="Courier New"/>
                <a:cs typeface="Courier New"/>
              </a:rPr>
              <a:t># Core data handling</a:t>
            </a:r>
          </a:p>
          <a:p>
            <a:pPr algn="l">
              <a:spcAft>
                <a:spcPts val="0"/>
              </a:spcAft>
            </a:pPr>
            <a:r>
              <a:rPr sz="1300" b="0">
                <a:solidFill>
                  <a:srgbClr val="E6EDF7"/>
                </a:solidFill>
                <a:latin typeface="Courier New"/>
                <a:cs typeface="Courier New"/>
              </a:rPr>
              <a:t>import numpy as np</a:t>
            </a:r>
          </a:p>
          <a:p>
            <a:pPr algn="l">
              <a:spcAft>
                <a:spcPts val="0"/>
              </a:spcAft>
            </a:pPr>
            <a:r>
              <a:rPr sz="1300" b="0">
                <a:solidFill>
                  <a:srgbClr val="E6EDF7"/>
                </a:solidFill>
                <a:latin typeface="Courier New"/>
                <a:cs typeface="Courier New"/>
              </a:rPr>
              <a:t>import pandas as pd</a:t>
            </a:r>
          </a:p>
          <a:p>
            <a:pPr algn="l">
              <a:spcAft>
                <a:spcPts val="0"/>
              </a:spcAft>
            </a:pPr>
            <a:r>
              <a:rPr sz="1300" b="0">
                <a:solidFill>
                  <a:srgbClr val="E6EDF7"/>
                </a:solidFill>
                <a:latin typeface="Courier New"/>
                <a:cs typeface="Courier New"/>
              </a:rPr>
              <a:t> </a:t>
            </a:r>
          </a:p>
          <a:p>
            <a:pPr algn="l">
              <a:spcAft>
                <a:spcPts val="0"/>
              </a:spcAft>
            </a:pPr>
            <a:r>
              <a:rPr sz="1300" b="0">
                <a:solidFill>
                  <a:srgbClr val="8FD69B"/>
                </a:solidFill>
                <a:latin typeface="Courier New"/>
                <a:cs typeface="Courier New"/>
              </a:rPr>
              <a:t># Visualisation</a:t>
            </a:r>
          </a:p>
          <a:p>
            <a:pPr algn="l">
              <a:spcAft>
                <a:spcPts val="0"/>
              </a:spcAft>
            </a:pPr>
            <a:r>
              <a:rPr sz="1300" b="0">
                <a:solidFill>
                  <a:srgbClr val="E6EDF7"/>
                </a:solidFill>
                <a:latin typeface="Courier New"/>
                <a:cs typeface="Courier New"/>
              </a:rPr>
              <a:t>import matplotlib.pyplot as plt</a:t>
            </a:r>
          </a:p>
          <a:p>
            <a:pPr algn="l">
              <a:spcAft>
                <a:spcPts val="0"/>
              </a:spcAft>
            </a:pPr>
            <a:r>
              <a:rPr sz="1300" b="0">
                <a:solidFill>
                  <a:srgbClr val="E6EDF7"/>
                </a:solidFill>
                <a:latin typeface="Courier New"/>
                <a:cs typeface="Courier New"/>
              </a:rPr>
              <a:t>import seaborn as sns</a:t>
            </a:r>
          </a:p>
          <a:p>
            <a:pPr algn="l">
              <a:spcAft>
                <a:spcPts val="0"/>
              </a:spcAft>
            </a:pPr>
            <a:r>
              <a:rPr sz="1300" b="0">
                <a:solidFill>
                  <a:srgbClr val="E6EDF7"/>
                </a:solidFill>
                <a:latin typeface="Courier New"/>
                <a:cs typeface="Courier New"/>
              </a:rPr>
              <a:t> </a:t>
            </a:r>
          </a:p>
          <a:p>
            <a:pPr algn="l">
              <a:spcAft>
                <a:spcPts val="0"/>
              </a:spcAft>
            </a:pPr>
            <a:r>
              <a:rPr sz="1300" b="0">
                <a:solidFill>
                  <a:srgbClr val="8FD69B"/>
                </a:solidFill>
                <a:latin typeface="Courier New"/>
                <a:cs typeface="Courier New"/>
              </a:rPr>
              <a:t># Statistics</a:t>
            </a:r>
          </a:p>
          <a:p>
            <a:pPr algn="l">
              <a:spcAft>
                <a:spcPts val="0"/>
              </a:spcAft>
            </a:pPr>
            <a:r>
              <a:rPr sz="1300" b="0">
                <a:solidFill>
                  <a:srgbClr val="E6EDF7"/>
                </a:solidFill>
                <a:latin typeface="Courier New"/>
                <a:cs typeface="Courier New"/>
              </a:rPr>
              <a:t>from scipy import stats</a:t>
            </a:r>
          </a:p>
          <a:p>
            <a:pPr algn="l">
              <a:spcAft>
                <a:spcPts val="0"/>
              </a:spcAft>
            </a:pPr>
            <a:r>
              <a:rPr sz="1300" b="0">
                <a:solidFill>
                  <a:srgbClr val="E6EDF7"/>
                </a:solidFill>
                <a:latin typeface="Courier New"/>
                <a:cs typeface="Courier New"/>
              </a:rPr>
              <a:t> </a:t>
            </a:r>
          </a:p>
          <a:p>
            <a:pPr algn="l">
              <a:spcAft>
                <a:spcPts val="0"/>
              </a:spcAft>
            </a:pPr>
            <a:r>
              <a:rPr sz="1300" b="0">
                <a:solidFill>
                  <a:srgbClr val="8FD69B"/>
                </a:solidFill>
                <a:latin typeface="Courier New"/>
                <a:cs typeface="Courier New"/>
              </a:rPr>
              <a:t># Fixed colours for every chart</a:t>
            </a:r>
          </a:p>
          <a:p>
            <a:pPr algn="l">
              <a:spcAft>
                <a:spcPts val="0"/>
              </a:spcAft>
            </a:pPr>
            <a:r>
              <a:rPr sz="1300" b="0">
                <a:solidFill>
                  <a:srgbClr val="E6EDF7"/>
                </a:solidFill>
                <a:latin typeface="Courier New"/>
                <a:cs typeface="Courier New"/>
              </a:rPr>
              <a:t>SATISFIED_COLOR = "#2a78d6"     # blue</a:t>
            </a:r>
          </a:p>
          <a:p>
            <a:pPr algn="l">
              <a:spcAft>
                <a:spcPts val="0"/>
              </a:spcAft>
            </a:pPr>
            <a:r>
              <a:rPr sz="1300" b="0">
                <a:solidFill>
                  <a:srgbClr val="E6EDF7"/>
                </a:solidFill>
                <a:latin typeface="Courier New"/>
                <a:cs typeface="Courier New"/>
              </a:rPr>
              <a:t>DISSATISFIED_COLOR = "#eb6834"  # orange</a:t>
            </a:r>
          </a:p>
          <a:p>
            <a:pPr algn="l">
              <a:spcAft>
                <a:spcPts val="0"/>
              </a:spcAft>
            </a:pPr>
            <a:r>
              <a:rPr sz="1300" b="0">
                <a:solidFill>
                  <a:srgbClr val="E6EDF7"/>
                </a:solidFill>
                <a:latin typeface="Courier New"/>
                <a:cs typeface="Courier New"/>
              </a:rPr>
              <a:t>DATA_PATH = "Data.csv"</a:t>
            </a:r>
          </a:p>
        </p:txBody>
      </p:sp>
      <p:sp>
        <p:nvSpPr>
          <p:cNvPr id="8" name="TextBox 7"/>
          <p:cNvSpPr txBox="1"/>
          <p:nvPr/>
        </p:nvSpPr>
        <p:spPr>
          <a:xfrm>
            <a:off x="7680960" y="1600200"/>
            <a:ext cx="3959352" cy="4480560"/>
          </a:xfrm>
          <a:prstGeom prst="rect">
            <a:avLst/>
          </a:prstGeom>
          <a:noFill/>
        </p:spPr>
        <p:txBody>
          <a:bodyPr wrap="square" lIns="0" rIns="0" tIns="0" bIns="0" anchor="t">
            <a:spAutoFit/>
          </a:bodyPr>
          <a:lstStyle/>
          <a:p>
            <a:pPr algn="r" rtl="1">
              <a:spcAft>
                <a:spcPts val="1000"/>
              </a:spcAft>
            </a:pPr>
            <a:r>
              <a:rPr sz="2000" b="1">
                <a:solidFill>
                  <a:srgbClr val="0B1F3A"/>
                </a:solidFill>
                <a:latin typeface="Arial"/>
                <a:cs typeface="Arial"/>
              </a:rPr>
              <a:t>ليه المكتبات دي؟</a:t>
            </a:r>
          </a:p>
          <a:p>
            <a:pPr algn="r" rtl="1">
              <a:spcAft>
                <a:spcPts val="800"/>
              </a:spcAft>
            </a:pPr>
            <a:r>
              <a:rPr sz="1600" b="1">
                <a:solidFill>
                  <a:srgbClr val="2A78D6"/>
                </a:solidFill>
                <a:latin typeface="Arial"/>
                <a:cs typeface="Arial"/>
              </a:rPr>
              <a:t>pandas / numpy</a:t>
            </a:r>
            <a:r>
              <a:rPr sz="1600" b="0">
                <a:solidFill>
                  <a:srgbClr val="1B1F24"/>
                </a:solidFill>
                <a:latin typeface="Arial"/>
                <a:cs typeface="Arial"/>
              </a:rPr>
              <a:t> للتعامل مع البيانات</a:t>
            </a:r>
          </a:p>
          <a:p>
            <a:pPr algn="r" rtl="1">
              <a:spcAft>
                <a:spcPts val="800"/>
              </a:spcAft>
            </a:pPr>
            <a:r>
              <a:rPr sz="1600" b="1">
                <a:solidFill>
                  <a:srgbClr val="2A78D6"/>
                </a:solidFill>
                <a:latin typeface="Arial"/>
                <a:cs typeface="Arial"/>
              </a:rPr>
              <a:t>matplotlib / seaborn</a:t>
            </a:r>
            <a:r>
              <a:rPr sz="1600" b="0">
                <a:solidFill>
                  <a:srgbClr val="1B1F24"/>
                </a:solidFill>
                <a:latin typeface="Arial"/>
                <a:cs typeface="Arial"/>
              </a:rPr>
              <a:t> للرسوم البيانية</a:t>
            </a:r>
          </a:p>
          <a:p>
            <a:pPr algn="r" rtl="1">
              <a:spcAft>
                <a:spcPts val="1600"/>
              </a:spcAft>
            </a:pPr>
            <a:r>
              <a:rPr sz="1600" b="1">
                <a:solidFill>
                  <a:srgbClr val="2A78D6"/>
                </a:solidFill>
                <a:latin typeface="Arial"/>
                <a:cs typeface="Arial"/>
              </a:rPr>
              <a:t>scipy.stats</a:t>
            </a:r>
            <a:r>
              <a:rPr sz="1600" b="0">
                <a:solidFill>
                  <a:srgbClr val="1B1F24"/>
                </a:solidFill>
                <a:latin typeface="Arial"/>
                <a:cs typeface="Arial"/>
              </a:rPr>
              <a:t> للاختبارات الإحصائية</a:t>
            </a:r>
          </a:p>
          <a:p>
            <a:pPr algn="r" rtl="1">
              <a:spcAft>
                <a:spcPts val="0"/>
              </a:spcAft>
            </a:pPr>
            <a:r>
              <a:rPr sz="1500" b="0">
                <a:solidFill>
                  <a:srgbClr val="5B636E"/>
                </a:solidFill>
                <a:latin typeface="Arial"/>
                <a:cs typeface="Arial"/>
              </a:rPr>
              <a:t>ثبّتت لون لكل فئة: الأزرق = راضي، البرتقالي = غير راضي — نفس اللون في كل الرسوم علشان القارئ ما يتلخبطش.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الثالث — التقييم</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تقييم جودة البيانات</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5</a:t>
            </a:r>
          </a:p>
        </p:txBody>
      </p:sp>
      <p:sp>
        <p:nvSpPr>
          <p:cNvPr id="6" name="Rounded Rectangle 5"/>
          <p:cNvSpPr/>
          <p:nvPr/>
        </p:nvSpPr>
        <p:spPr>
          <a:xfrm>
            <a:off x="548640" y="1554480"/>
            <a:ext cx="6766560" cy="4480560"/>
          </a:xfrm>
          <a:prstGeom prst="roundRect">
            <a:avLst>
              <a:gd name="adj" fmla="val 6000"/>
            </a:avLst>
          </a:prstGeom>
          <a:solidFill>
            <a:srgbClr val="141C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83080"/>
            <a:ext cx="6217920" cy="4114800"/>
          </a:xfrm>
          <a:prstGeom prst="rect">
            <a:avLst/>
          </a:prstGeom>
          <a:noFill/>
        </p:spPr>
        <p:txBody>
          <a:bodyPr wrap="square" lIns="0" rIns="0" tIns="0" bIns="0" anchor="t">
            <a:spAutoFit/>
          </a:bodyPr>
          <a:lstStyle/>
          <a:p>
            <a:pPr algn="l">
              <a:spcAft>
                <a:spcPts val="0"/>
              </a:spcAft>
            </a:pPr>
            <a:r>
              <a:rPr sz="1300" b="0">
                <a:solidFill>
                  <a:srgbClr val="E6EDF7"/>
                </a:solidFill>
                <a:latin typeface="Courier New"/>
                <a:cs typeface="Courier New"/>
              </a:rPr>
              <a:t>raw_df = pd.read_csv(DATA_PATH)</a:t>
            </a:r>
          </a:p>
          <a:p>
            <a:pPr algn="l">
              <a:spcAft>
                <a:spcPts val="0"/>
              </a:spcAft>
            </a:pPr>
            <a:r>
              <a:rPr sz="1300" b="0">
                <a:solidFill>
                  <a:srgbClr val="E6EDF7"/>
                </a:solidFill>
                <a:latin typeface="Courier New"/>
                <a:cs typeface="Courier New"/>
              </a:rPr>
              <a:t> </a:t>
            </a:r>
          </a:p>
          <a:p>
            <a:pPr algn="l">
              <a:spcAft>
                <a:spcPts val="0"/>
              </a:spcAft>
            </a:pPr>
            <a:r>
              <a:rPr sz="1300" b="0">
                <a:solidFill>
                  <a:srgbClr val="E6EDF7"/>
                </a:solidFill>
                <a:latin typeface="Courier New"/>
                <a:cs typeface="Courier New"/>
              </a:rPr>
              <a:t>def quality_report(df):</a:t>
            </a:r>
          </a:p>
          <a:p>
            <a:pPr algn="l">
              <a:spcAft>
                <a:spcPts val="0"/>
              </a:spcAft>
            </a:pPr>
            <a:r>
              <a:rPr sz="1300" b="0">
                <a:solidFill>
                  <a:srgbClr val="E6EDF7"/>
                </a:solidFill>
                <a:latin typeface="Courier New"/>
                <a:cs typeface="Courier New"/>
              </a:rPr>
              <a:t>    """Per-column quality summary."""</a:t>
            </a:r>
          </a:p>
          <a:p>
            <a:pPr algn="l">
              <a:spcAft>
                <a:spcPts val="0"/>
              </a:spcAft>
            </a:pPr>
            <a:r>
              <a:rPr sz="1300" b="0">
                <a:solidFill>
                  <a:srgbClr val="E6EDF7"/>
                </a:solidFill>
                <a:latin typeface="Courier New"/>
                <a:cs typeface="Courier New"/>
              </a:rPr>
              <a:t>    return pd.DataFrame({</a:t>
            </a:r>
          </a:p>
          <a:p>
            <a:pPr algn="l">
              <a:spcAft>
                <a:spcPts val="0"/>
              </a:spcAft>
            </a:pPr>
            <a:r>
              <a:rPr sz="1300" b="0">
                <a:solidFill>
                  <a:srgbClr val="E6EDF7"/>
                </a:solidFill>
                <a:latin typeface="Courier New"/>
                <a:cs typeface="Courier New"/>
              </a:rPr>
              <a:t>        "dtype": df.dtypes.astype(str),</a:t>
            </a:r>
          </a:p>
          <a:p>
            <a:pPr algn="l">
              <a:spcAft>
                <a:spcPts val="0"/>
              </a:spcAft>
            </a:pPr>
            <a:r>
              <a:rPr sz="1300" b="0">
                <a:solidFill>
                  <a:srgbClr val="E6EDF7"/>
                </a:solidFill>
                <a:latin typeface="Courier New"/>
                <a:cs typeface="Courier New"/>
              </a:rPr>
              <a:t>        "missing": df.isna().sum(),</a:t>
            </a:r>
          </a:p>
          <a:p>
            <a:pPr algn="l">
              <a:spcAft>
                <a:spcPts val="0"/>
              </a:spcAft>
            </a:pPr>
            <a:r>
              <a:rPr sz="1300" b="0">
                <a:solidFill>
                  <a:srgbClr val="E6EDF7"/>
                </a:solidFill>
                <a:latin typeface="Courier New"/>
                <a:cs typeface="Courier New"/>
              </a:rPr>
              <a:t>        "unique": df.nunique(),</a:t>
            </a:r>
          </a:p>
          <a:p>
            <a:pPr algn="l">
              <a:spcAft>
                <a:spcPts val="0"/>
              </a:spcAft>
            </a:pPr>
            <a:r>
              <a:rPr sz="1300" b="0">
                <a:solidFill>
                  <a:srgbClr val="E6EDF7"/>
                </a:solidFill>
                <a:latin typeface="Courier New"/>
                <a:cs typeface="Courier New"/>
              </a:rPr>
              <a:t>    })</a:t>
            </a:r>
          </a:p>
          <a:p>
            <a:pPr algn="l">
              <a:spcAft>
                <a:spcPts val="0"/>
              </a:spcAft>
            </a:pPr>
            <a:r>
              <a:rPr sz="1300" b="0">
                <a:solidFill>
                  <a:srgbClr val="E6EDF7"/>
                </a:solidFill>
                <a:latin typeface="Courier New"/>
                <a:cs typeface="Courier New"/>
              </a:rPr>
              <a:t> </a:t>
            </a:r>
          </a:p>
          <a:p>
            <a:pPr algn="l">
              <a:spcAft>
                <a:spcPts val="0"/>
              </a:spcAft>
            </a:pPr>
            <a:r>
              <a:rPr sz="1300" b="0">
                <a:solidFill>
                  <a:srgbClr val="E6EDF7"/>
                </a:solidFill>
                <a:latin typeface="Courier New"/>
                <a:cs typeface="Courier New"/>
              </a:rPr>
              <a:t>raw_df.duplicated().sum()           # duplicates</a:t>
            </a:r>
          </a:p>
          <a:p>
            <a:pPr algn="l">
              <a:spcAft>
                <a:spcPts val="0"/>
              </a:spcAft>
            </a:pPr>
            <a:r>
              <a:rPr sz="1300" b="0">
                <a:solidFill>
                  <a:srgbClr val="E6EDF7"/>
                </a:solidFill>
                <a:latin typeface="Courier New"/>
                <a:cs typeface="Courier New"/>
              </a:rPr>
              <a:t>(raw_df[service_columns] == 0).sum() # 0 = N/A</a:t>
            </a:r>
          </a:p>
        </p:txBody>
      </p:sp>
      <p:sp>
        <p:nvSpPr>
          <p:cNvPr id="8" name="TextBox 7"/>
          <p:cNvSpPr txBox="1"/>
          <p:nvPr/>
        </p:nvSpPr>
        <p:spPr>
          <a:xfrm>
            <a:off x="7680960" y="1600200"/>
            <a:ext cx="3959352" cy="4480560"/>
          </a:xfrm>
          <a:prstGeom prst="rect">
            <a:avLst/>
          </a:prstGeom>
          <a:noFill/>
        </p:spPr>
        <p:txBody>
          <a:bodyPr wrap="square" lIns="0" rIns="0" tIns="0" bIns="0" anchor="t">
            <a:spAutoFit/>
          </a:bodyPr>
          <a:lstStyle/>
          <a:p>
            <a:pPr algn="r" rtl="1">
              <a:spcAft>
                <a:spcPts val="1000"/>
              </a:spcAft>
            </a:pPr>
            <a:r>
              <a:rPr sz="2000" b="1">
                <a:solidFill>
                  <a:srgbClr val="0B1F3A"/>
                </a:solidFill>
                <a:latin typeface="Arial"/>
                <a:cs typeface="Arial"/>
              </a:rPr>
              <a:t>إزاي اكتشفت المشاكل؟</a:t>
            </a:r>
          </a:p>
          <a:p>
            <a:pPr algn="r" rtl="1">
              <a:spcAft>
                <a:spcPts val="800"/>
              </a:spcAft>
            </a:pPr>
            <a:r>
              <a:rPr sz="1500" b="0">
                <a:solidFill>
                  <a:srgbClr val="1B1F24"/>
                </a:solidFill>
                <a:latin typeface="Arial"/>
                <a:cs typeface="Arial"/>
              </a:rPr>
              <a:t>دالة quality_report بتعرض لكل عمود: النوع، القيم الناقصة، وعدد القيم المختلفة.</a:t>
            </a:r>
          </a:p>
          <a:p>
            <a:pPr algn="r" rtl="1">
              <a:spcAft>
                <a:spcPts val="800"/>
              </a:spcAft>
            </a:pPr>
            <a:r>
              <a:rPr sz="1500" b="0">
                <a:solidFill>
                  <a:srgbClr val="1B1F24"/>
                </a:solidFill>
                <a:latin typeface="Arial"/>
                <a:cs typeface="Arial"/>
              </a:rPr>
              <a:t>فحص التكرار: مفيش صفوف ولا id مكررة.</a:t>
            </a:r>
          </a:p>
          <a:p>
            <a:pPr algn="r" rtl="1">
              <a:spcAft>
                <a:spcPts val="800"/>
              </a:spcAft>
            </a:pPr>
            <a:r>
              <a:rPr sz="1500" b="0">
                <a:solidFill>
                  <a:srgbClr val="1B1F24"/>
                </a:solidFill>
                <a:latin typeface="Arial"/>
                <a:cs typeface="Arial"/>
              </a:rPr>
              <a:t>value_counts للأعمدة النصية كشف التسميات غير المتسقة.</a:t>
            </a:r>
          </a:p>
          <a:p>
            <a:pPr algn="r" rtl="1">
              <a:spcAft>
                <a:spcPts val="0"/>
              </a:spcAft>
            </a:pPr>
            <a:r>
              <a:rPr sz="1500" b="0">
                <a:solidFill>
                  <a:srgbClr val="1B1F24"/>
                </a:solidFill>
                <a:latin typeface="Arial"/>
                <a:cs typeface="Arial"/>
              </a:rPr>
              <a:t>describe وbox plots كشفوا القيم المتطرفة والتقييمات بصفر.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الثالث — التقييم</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المشاكل اللي لقيتها في البيانات</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6</a:t>
            </a:r>
          </a:p>
        </p:txBody>
      </p:sp>
      <p:sp>
        <p:nvSpPr>
          <p:cNvPr id="6" name="Rounded Rectangle 5"/>
          <p:cNvSpPr/>
          <p:nvPr/>
        </p:nvSpPr>
        <p:spPr>
          <a:xfrm>
            <a:off x="8092440" y="160020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1828800"/>
            <a:ext cx="2999232" cy="685800"/>
          </a:xfrm>
          <a:prstGeom prst="rect">
            <a:avLst/>
          </a:prstGeom>
          <a:noFill/>
        </p:spPr>
        <p:txBody>
          <a:bodyPr wrap="square" lIns="0" rIns="0" tIns="0" bIns="0" anchor="t">
            <a:spAutoFit/>
          </a:bodyPr>
          <a:lstStyle/>
          <a:p>
            <a:pPr algn="r">
              <a:spcAft>
                <a:spcPts val="0"/>
              </a:spcAft>
            </a:pPr>
            <a:r>
              <a:rPr sz="3600" b="1">
                <a:solidFill>
                  <a:srgbClr val="EB6834"/>
                </a:solidFill>
                <a:latin typeface="Arial"/>
                <a:cs typeface="Arial"/>
              </a:rPr>
              <a:t>83</a:t>
            </a:r>
          </a:p>
        </p:txBody>
      </p:sp>
      <p:sp>
        <p:nvSpPr>
          <p:cNvPr id="8" name="TextBox 7"/>
          <p:cNvSpPr txBox="1"/>
          <p:nvPr/>
        </p:nvSpPr>
        <p:spPr>
          <a:xfrm>
            <a:off x="8366760" y="2606040"/>
            <a:ext cx="2999232" cy="91440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قيمة ناقصة في Arrival Delay ومتخزنة float</a:t>
            </a:r>
          </a:p>
        </p:txBody>
      </p:sp>
      <p:sp>
        <p:nvSpPr>
          <p:cNvPr id="9" name="Rounded Rectangle 8"/>
          <p:cNvSpPr/>
          <p:nvPr/>
        </p:nvSpPr>
        <p:spPr>
          <a:xfrm>
            <a:off x="4325112" y="160020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1" y="1828800"/>
            <a:ext cx="2999232" cy="685800"/>
          </a:xfrm>
          <a:prstGeom prst="rect">
            <a:avLst/>
          </a:prstGeom>
          <a:noFill/>
        </p:spPr>
        <p:txBody>
          <a:bodyPr wrap="square" lIns="0" rIns="0" tIns="0" bIns="0" anchor="t">
            <a:spAutoFit/>
          </a:bodyPr>
          <a:lstStyle/>
          <a:p>
            <a:pPr algn="r">
              <a:spcAft>
                <a:spcPts val="0"/>
              </a:spcAft>
            </a:pPr>
            <a:r>
              <a:rPr sz="3600" b="1">
                <a:solidFill>
                  <a:srgbClr val="EB6834"/>
                </a:solidFill>
                <a:latin typeface="Arial"/>
                <a:cs typeface="Arial"/>
              </a:rPr>
              <a:t>4,202</a:t>
            </a:r>
          </a:p>
        </p:txBody>
      </p:sp>
      <p:sp>
        <p:nvSpPr>
          <p:cNvPr id="11" name="TextBox 10"/>
          <p:cNvSpPr txBox="1"/>
          <p:nvPr/>
        </p:nvSpPr>
        <p:spPr>
          <a:xfrm>
            <a:off x="4599431" y="2606040"/>
            <a:ext cx="2999232" cy="91440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تقييم بصفر = «لا ينطبق» وليس أسوأ تقييم</a:t>
            </a:r>
          </a:p>
        </p:txBody>
      </p:sp>
      <p:sp>
        <p:nvSpPr>
          <p:cNvPr id="12" name="Rounded Rectangle 11"/>
          <p:cNvSpPr/>
          <p:nvPr/>
        </p:nvSpPr>
        <p:spPr>
          <a:xfrm>
            <a:off x="557783" y="160020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3" y="1828800"/>
            <a:ext cx="2999232" cy="685800"/>
          </a:xfrm>
          <a:prstGeom prst="rect">
            <a:avLst/>
          </a:prstGeom>
          <a:noFill/>
        </p:spPr>
        <p:txBody>
          <a:bodyPr wrap="square" lIns="0" rIns="0" tIns="0" bIns="0" anchor="t">
            <a:spAutoFit/>
          </a:bodyPr>
          <a:lstStyle/>
          <a:p>
            <a:pPr algn="r">
              <a:spcAft>
                <a:spcPts val="0"/>
              </a:spcAft>
            </a:pPr>
            <a:r>
              <a:rPr sz="3600" b="1">
                <a:solidFill>
                  <a:srgbClr val="EB6834"/>
                </a:solidFill>
                <a:latin typeface="Arial"/>
                <a:cs typeface="Arial"/>
              </a:rPr>
              <a:t>4</a:t>
            </a:r>
          </a:p>
        </p:txBody>
      </p:sp>
      <p:sp>
        <p:nvSpPr>
          <p:cNvPr id="14" name="TextBox 13"/>
          <p:cNvSpPr txBox="1"/>
          <p:nvPr/>
        </p:nvSpPr>
        <p:spPr>
          <a:xfrm>
            <a:off x="832103" y="2606040"/>
            <a:ext cx="2999232" cy="91440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أعمدة فيها تسميات غير متسقة مثل disloyal Customer و Eco</a:t>
            </a:r>
          </a:p>
        </p:txBody>
      </p:sp>
      <p:sp>
        <p:nvSpPr>
          <p:cNvPr id="15" name="Rounded Rectangle 14"/>
          <p:cNvSpPr/>
          <p:nvPr/>
        </p:nvSpPr>
        <p:spPr>
          <a:xfrm>
            <a:off x="8092440" y="393192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4160520"/>
            <a:ext cx="2999232" cy="685800"/>
          </a:xfrm>
          <a:prstGeom prst="rect">
            <a:avLst/>
          </a:prstGeom>
          <a:noFill/>
        </p:spPr>
        <p:txBody>
          <a:bodyPr wrap="square" lIns="0" rIns="0" tIns="0" bIns="0" anchor="t">
            <a:spAutoFit/>
          </a:bodyPr>
          <a:lstStyle/>
          <a:p>
            <a:pPr algn="r">
              <a:spcAft>
                <a:spcPts val="0"/>
              </a:spcAft>
            </a:pPr>
            <a:r>
              <a:rPr sz="3600" b="1">
                <a:solidFill>
                  <a:srgbClr val="EB6834"/>
                </a:solidFill>
                <a:latin typeface="Arial"/>
                <a:cs typeface="Arial"/>
              </a:rPr>
              <a:t>1</a:t>
            </a:r>
          </a:p>
        </p:txBody>
      </p:sp>
      <p:sp>
        <p:nvSpPr>
          <p:cNvPr id="17" name="TextBox 16"/>
          <p:cNvSpPr txBox="1"/>
          <p:nvPr/>
        </p:nvSpPr>
        <p:spPr>
          <a:xfrm>
            <a:off x="8366760" y="4937760"/>
            <a:ext cx="2999232" cy="91440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عمود Unnamed: 0 مالوش لازمة</a:t>
            </a:r>
          </a:p>
        </p:txBody>
      </p:sp>
      <p:sp>
        <p:nvSpPr>
          <p:cNvPr id="18" name="Rounded Rectangle 17"/>
          <p:cNvSpPr/>
          <p:nvPr/>
        </p:nvSpPr>
        <p:spPr>
          <a:xfrm>
            <a:off x="4325112" y="393192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1" y="4160520"/>
            <a:ext cx="2999232" cy="685800"/>
          </a:xfrm>
          <a:prstGeom prst="rect">
            <a:avLst/>
          </a:prstGeom>
          <a:noFill/>
        </p:spPr>
        <p:txBody>
          <a:bodyPr wrap="square" lIns="0" rIns="0" tIns="0" bIns="0" anchor="t">
            <a:spAutoFit/>
          </a:bodyPr>
          <a:lstStyle/>
          <a:p>
            <a:pPr algn="r">
              <a:spcAft>
                <a:spcPts val="0"/>
              </a:spcAft>
            </a:pPr>
            <a:r>
              <a:rPr sz="3600" b="1">
                <a:solidFill>
                  <a:srgbClr val="EB6834"/>
                </a:solidFill>
                <a:latin typeface="Arial"/>
                <a:cs typeface="Arial"/>
              </a:rPr>
              <a:t>3,538</a:t>
            </a:r>
          </a:p>
        </p:txBody>
      </p:sp>
      <p:sp>
        <p:nvSpPr>
          <p:cNvPr id="20" name="TextBox 19"/>
          <p:cNvSpPr txBox="1"/>
          <p:nvPr/>
        </p:nvSpPr>
        <p:spPr>
          <a:xfrm>
            <a:off x="4599431" y="4937760"/>
            <a:ext cx="2999232" cy="91440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قيمة متطرفة في التأخير — طلعت حقيقية</a:t>
            </a:r>
          </a:p>
        </p:txBody>
      </p:sp>
      <p:sp>
        <p:nvSpPr>
          <p:cNvPr id="21" name="Rounded Rectangle 20"/>
          <p:cNvSpPr/>
          <p:nvPr/>
        </p:nvSpPr>
        <p:spPr>
          <a:xfrm>
            <a:off x="557783" y="393192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4160520"/>
            <a:ext cx="2999232" cy="685800"/>
          </a:xfrm>
          <a:prstGeom prst="rect">
            <a:avLst/>
          </a:prstGeom>
          <a:noFill/>
        </p:spPr>
        <p:txBody>
          <a:bodyPr wrap="square" lIns="0" rIns="0" tIns="0" bIns="0" anchor="t">
            <a:spAutoFit/>
          </a:bodyPr>
          <a:lstStyle/>
          <a:p>
            <a:pPr algn="r">
              <a:spcAft>
                <a:spcPts val="0"/>
              </a:spcAft>
            </a:pPr>
            <a:r>
              <a:rPr sz="3600" b="1">
                <a:solidFill>
                  <a:srgbClr val="EB6834"/>
                </a:solidFill>
                <a:latin typeface="Arial"/>
                <a:cs typeface="Arial"/>
              </a:rPr>
              <a:t>14</a:t>
            </a:r>
          </a:p>
        </p:txBody>
      </p:sp>
      <p:sp>
        <p:nvSpPr>
          <p:cNvPr id="23" name="TextBox 22"/>
          <p:cNvSpPr txBox="1"/>
          <p:nvPr/>
        </p:nvSpPr>
        <p:spPr>
          <a:xfrm>
            <a:off x="832103" y="4937760"/>
            <a:ext cx="2999232" cy="91440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اسم عمود فيه مسافات وشرطات</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الرابع — التنظيف</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تنظيف الأعمدة والتسميات</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7</a:t>
            </a:r>
          </a:p>
        </p:txBody>
      </p:sp>
      <p:sp>
        <p:nvSpPr>
          <p:cNvPr id="6" name="Rounded Rectangle 5"/>
          <p:cNvSpPr/>
          <p:nvPr/>
        </p:nvSpPr>
        <p:spPr>
          <a:xfrm>
            <a:off x="548640" y="1554480"/>
            <a:ext cx="6766560" cy="4526280"/>
          </a:xfrm>
          <a:prstGeom prst="roundRect">
            <a:avLst>
              <a:gd name="adj" fmla="val 6000"/>
            </a:avLst>
          </a:prstGeom>
          <a:solidFill>
            <a:srgbClr val="141C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83080"/>
            <a:ext cx="6217920" cy="4160520"/>
          </a:xfrm>
          <a:prstGeom prst="rect">
            <a:avLst/>
          </a:prstGeom>
          <a:noFill/>
        </p:spPr>
        <p:txBody>
          <a:bodyPr wrap="square" lIns="0" rIns="0" tIns="0" bIns="0" anchor="t">
            <a:spAutoFit/>
          </a:bodyPr>
          <a:lstStyle/>
          <a:p>
            <a:pPr algn="l">
              <a:spcAft>
                <a:spcPts val="0"/>
              </a:spcAft>
            </a:pPr>
            <a:r>
              <a:rPr sz="1200" b="0">
                <a:solidFill>
                  <a:srgbClr val="E6EDF7"/>
                </a:solidFill>
                <a:latin typeface="Courier New"/>
                <a:cs typeface="Courier New"/>
              </a:rPr>
              <a:t>clean_df = raw_df.copy()</a:t>
            </a:r>
          </a:p>
          <a:p>
            <a:pPr algn="l">
              <a:spcAft>
                <a:spcPts val="0"/>
              </a:spcAft>
            </a:pPr>
            <a:r>
              <a:rPr sz="1200" b="0">
                <a:solidFill>
                  <a:srgbClr val="E6EDF7"/>
                </a:solidFill>
                <a:latin typeface="Courier New"/>
                <a:cs typeface="Courier New"/>
              </a:rPr>
              <a:t>clean_df = clean_df.drop(columns=["Unnamed: 0"])</a:t>
            </a:r>
          </a:p>
          <a:p>
            <a:pPr algn="l">
              <a:spcAft>
                <a:spcPts val="0"/>
              </a:spcAft>
            </a:pPr>
            <a:r>
              <a:rPr sz="1200" b="0">
                <a:solidFill>
                  <a:srgbClr val="E6EDF7"/>
                </a:solidFill>
                <a:latin typeface="Courier New"/>
                <a:cs typeface="Courier New"/>
              </a:rPr>
              <a:t> </a:t>
            </a:r>
          </a:p>
          <a:p>
            <a:pPr algn="l">
              <a:spcAft>
                <a:spcPts val="0"/>
              </a:spcAft>
            </a:pPr>
            <a:r>
              <a:rPr sz="1200" b="0">
                <a:solidFill>
                  <a:srgbClr val="E6EDF7"/>
                </a:solidFill>
                <a:latin typeface="Courier New"/>
                <a:cs typeface="Courier New"/>
              </a:rPr>
              <a:t>def to_snake_case(name):</a:t>
            </a:r>
          </a:p>
          <a:p>
            <a:pPr algn="l">
              <a:spcAft>
                <a:spcPts val="0"/>
              </a:spcAft>
            </a:pPr>
            <a:r>
              <a:rPr sz="1200" b="0">
                <a:solidFill>
                  <a:srgbClr val="E6EDF7"/>
                </a:solidFill>
                <a:latin typeface="Courier New"/>
                <a:cs typeface="Courier New"/>
              </a:rPr>
              <a:t>    return (name.strip().lower()</a:t>
            </a:r>
          </a:p>
          <a:p>
            <a:pPr algn="l">
              <a:spcAft>
                <a:spcPts val="0"/>
              </a:spcAft>
            </a:pPr>
            <a:r>
              <a:rPr sz="1200" b="0">
                <a:solidFill>
                  <a:srgbClr val="E6EDF7"/>
                </a:solidFill>
                <a:latin typeface="Courier New"/>
                <a:cs typeface="Courier New"/>
              </a:rPr>
              <a:t>            .replace("/", " ").replace("-", " ")</a:t>
            </a:r>
          </a:p>
          <a:p>
            <a:pPr algn="l">
              <a:spcAft>
                <a:spcPts val="0"/>
              </a:spcAft>
            </a:pPr>
            <a:r>
              <a:rPr sz="1200" b="0">
                <a:solidFill>
                  <a:srgbClr val="E6EDF7"/>
                </a:solidFill>
                <a:latin typeface="Courier New"/>
                <a:cs typeface="Courier New"/>
              </a:rPr>
              <a:t>            .replace(" in minutes", "")</a:t>
            </a:r>
          </a:p>
          <a:p>
            <a:pPr algn="l">
              <a:spcAft>
                <a:spcPts val="0"/>
              </a:spcAft>
            </a:pPr>
            <a:r>
              <a:rPr sz="1200" b="0">
                <a:solidFill>
                  <a:srgbClr val="E6EDF7"/>
                </a:solidFill>
                <a:latin typeface="Courier New"/>
                <a:cs typeface="Courier New"/>
              </a:rPr>
              <a:t>            .replace(" ", "_"))</a:t>
            </a:r>
          </a:p>
          <a:p>
            <a:pPr algn="l">
              <a:spcAft>
                <a:spcPts val="0"/>
              </a:spcAft>
            </a:pPr>
            <a:r>
              <a:rPr sz="1200" b="0">
                <a:solidFill>
                  <a:srgbClr val="E6EDF7"/>
                </a:solidFill>
                <a:latin typeface="Courier New"/>
                <a:cs typeface="Courier New"/>
              </a:rPr>
              <a:t> </a:t>
            </a:r>
          </a:p>
          <a:p>
            <a:pPr algn="l">
              <a:spcAft>
                <a:spcPts val="0"/>
              </a:spcAft>
            </a:pPr>
            <a:r>
              <a:rPr sz="1200" b="0">
                <a:solidFill>
                  <a:srgbClr val="E6EDF7"/>
                </a:solidFill>
                <a:latin typeface="Courier New"/>
                <a:cs typeface="Courier New"/>
              </a:rPr>
              <a:t>def standardise_labels(df, mappings):</a:t>
            </a:r>
          </a:p>
          <a:p>
            <a:pPr algn="l">
              <a:spcAft>
                <a:spcPts val="0"/>
              </a:spcAft>
            </a:pPr>
            <a:r>
              <a:rPr sz="1200" b="0">
                <a:solidFill>
                  <a:srgbClr val="E6EDF7"/>
                </a:solidFill>
                <a:latin typeface="Courier New"/>
                <a:cs typeface="Courier New"/>
              </a:rPr>
              <a:t>    for column, mapping in mappings.items():</a:t>
            </a:r>
          </a:p>
          <a:p>
            <a:pPr algn="l">
              <a:spcAft>
                <a:spcPts val="0"/>
              </a:spcAft>
            </a:pPr>
            <a:r>
              <a:rPr sz="1200" b="0">
                <a:solidFill>
                  <a:srgbClr val="E6EDF7"/>
                </a:solidFill>
                <a:latin typeface="Courier New"/>
                <a:cs typeface="Courier New"/>
              </a:rPr>
              <a:t>        unmapped = set(df[column].unique()) - set(mapping)</a:t>
            </a:r>
          </a:p>
          <a:p>
            <a:pPr algn="l">
              <a:spcAft>
                <a:spcPts val="0"/>
              </a:spcAft>
            </a:pPr>
            <a:r>
              <a:rPr sz="1200" b="0">
                <a:solidFill>
                  <a:srgbClr val="E6EDF7"/>
                </a:solidFill>
                <a:latin typeface="Courier New"/>
                <a:cs typeface="Courier New"/>
              </a:rPr>
              <a:t>        if unmapped:</a:t>
            </a:r>
          </a:p>
          <a:p>
            <a:pPr algn="l">
              <a:spcAft>
                <a:spcPts val="0"/>
              </a:spcAft>
            </a:pPr>
            <a:r>
              <a:rPr sz="1200" b="0">
                <a:solidFill>
                  <a:srgbClr val="E6EDF7"/>
                </a:solidFill>
                <a:latin typeface="Courier New"/>
                <a:cs typeface="Courier New"/>
              </a:rPr>
              <a:t>            raise ValueError(unmapped)</a:t>
            </a:r>
          </a:p>
          <a:p>
            <a:pPr algn="l">
              <a:spcAft>
                <a:spcPts val="0"/>
              </a:spcAft>
            </a:pPr>
            <a:r>
              <a:rPr sz="1200" b="0">
                <a:solidFill>
                  <a:srgbClr val="E6EDF7"/>
                </a:solidFill>
                <a:latin typeface="Courier New"/>
                <a:cs typeface="Courier New"/>
              </a:rPr>
              <a:t>        df[column] = df[column].map(mapping)</a:t>
            </a:r>
          </a:p>
          <a:p>
            <a:pPr algn="l">
              <a:spcAft>
                <a:spcPts val="0"/>
              </a:spcAft>
            </a:pPr>
            <a:r>
              <a:rPr sz="1200" b="0">
                <a:solidFill>
                  <a:srgbClr val="E6EDF7"/>
                </a:solidFill>
                <a:latin typeface="Courier New"/>
                <a:cs typeface="Courier New"/>
              </a:rPr>
              <a:t>    return df</a:t>
            </a:r>
          </a:p>
        </p:txBody>
      </p:sp>
      <p:sp>
        <p:nvSpPr>
          <p:cNvPr id="8" name="TextBox 7"/>
          <p:cNvSpPr txBox="1"/>
          <p:nvPr/>
        </p:nvSpPr>
        <p:spPr>
          <a:xfrm>
            <a:off x="7680960" y="1600200"/>
            <a:ext cx="3959352" cy="4480560"/>
          </a:xfrm>
          <a:prstGeom prst="rect">
            <a:avLst/>
          </a:prstGeom>
          <a:noFill/>
        </p:spPr>
        <p:txBody>
          <a:bodyPr wrap="square" lIns="0" rIns="0" tIns="0" bIns="0" anchor="t">
            <a:spAutoFit/>
          </a:bodyPr>
          <a:lstStyle/>
          <a:p>
            <a:pPr algn="r">
              <a:spcAft>
                <a:spcPts val="1000"/>
              </a:spcAft>
            </a:pPr>
            <a:r>
              <a:rPr sz="2000" b="1">
                <a:solidFill>
                  <a:srgbClr val="0B1F3A"/>
                </a:solidFill>
                <a:latin typeface="Arial"/>
                <a:cs typeface="Arial"/>
              </a:rPr>
              <a:t>Define → Code → Test</a:t>
            </a:r>
          </a:p>
          <a:p>
            <a:pPr algn="r" rtl="1">
              <a:spcAft>
                <a:spcPts val="800"/>
              </a:spcAft>
            </a:pPr>
            <a:r>
              <a:rPr sz="1500" b="0">
                <a:solidFill>
                  <a:srgbClr val="1B1F24"/>
                </a:solidFill>
                <a:latin typeface="Arial"/>
                <a:cs typeface="Arial"/>
              </a:rPr>
              <a:t>بشتغل على نسخة copy علشان البيانات الأصلية تفضل زي ما هي.</a:t>
            </a:r>
          </a:p>
          <a:p>
            <a:pPr algn="r" rtl="1">
              <a:spcAft>
                <a:spcPts val="800"/>
              </a:spcAft>
            </a:pPr>
            <a:r>
              <a:rPr sz="1500" b="0">
                <a:solidFill>
                  <a:srgbClr val="1B1F24"/>
                </a:solidFill>
                <a:latin typeface="Arial"/>
                <a:cs typeface="Arial"/>
              </a:rPr>
              <a:t>to_snake_case: تحويل كل أسماء الأعمدة لشكل موحد سهل في الكود.</a:t>
            </a:r>
          </a:p>
          <a:p>
            <a:pPr algn="r" rtl="1">
              <a:spcAft>
                <a:spcPts val="800"/>
              </a:spcAft>
            </a:pPr>
            <a:r>
              <a:rPr sz="1500" b="0">
                <a:solidFill>
                  <a:srgbClr val="1B1F24"/>
                </a:solidFill>
                <a:latin typeface="Arial"/>
                <a:cs typeface="Arial"/>
              </a:rPr>
              <a:t>standardise_labels: توحيد التسميات، ولو في قيمة مش متغطية بيطلع Error — ده بيضمن إن مفيش حاجة اتنست.</a:t>
            </a:r>
          </a:p>
          <a:p>
            <a:pPr algn="r" rtl="1">
              <a:spcAft>
                <a:spcPts val="0"/>
              </a:spcAft>
            </a:pPr>
            <a:r>
              <a:rPr sz="1500" b="0">
                <a:solidFill>
                  <a:srgbClr val="5B636E"/>
                </a:solidFill>
                <a:latin typeface="Arial"/>
                <a:cs typeface="Arial"/>
              </a:rPr>
              <a:t>بعد كل خطوة في Test بـ assert أو print.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الرابع — التنظيف</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تنظيف القيم الناقصة والتقييمات بصفر</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8</a:t>
            </a:r>
          </a:p>
        </p:txBody>
      </p:sp>
      <p:sp>
        <p:nvSpPr>
          <p:cNvPr id="6" name="Rounded Rectangle 5"/>
          <p:cNvSpPr/>
          <p:nvPr/>
        </p:nvSpPr>
        <p:spPr>
          <a:xfrm>
            <a:off x="548640" y="1554480"/>
            <a:ext cx="6766560" cy="4526280"/>
          </a:xfrm>
          <a:prstGeom prst="roundRect">
            <a:avLst>
              <a:gd name="adj" fmla="val 6000"/>
            </a:avLst>
          </a:prstGeom>
          <a:solidFill>
            <a:srgbClr val="141C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83080"/>
            <a:ext cx="6217920" cy="4160520"/>
          </a:xfrm>
          <a:prstGeom prst="rect">
            <a:avLst/>
          </a:prstGeom>
          <a:noFill/>
        </p:spPr>
        <p:txBody>
          <a:bodyPr wrap="square" lIns="0" rIns="0" tIns="0" bIns="0" anchor="t">
            <a:spAutoFit/>
          </a:bodyPr>
          <a:lstStyle/>
          <a:p>
            <a:pPr algn="l">
              <a:spcAft>
                <a:spcPts val="0"/>
              </a:spcAft>
            </a:pPr>
            <a:r>
              <a:rPr sz="1200" b="0">
                <a:solidFill>
                  <a:srgbClr val="8FD69B"/>
                </a:solidFill>
                <a:latin typeface="Courier New"/>
                <a:cs typeface="Courier New"/>
              </a:rPr>
              <a:t># Missing arrival delay -&gt; same passenger's departure delay</a:t>
            </a:r>
          </a:p>
          <a:p>
            <a:pPr algn="l">
              <a:spcAft>
                <a:spcPts val="0"/>
              </a:spcAft>
            </a:pPr>
            <a:r>
              <a:rPr sz="1200" b="0">
                <a:solidFill>
                  <a:srgbClr val="E6EDF7"/>
                </a:solidFill>
                <a:latin typeface="Courier New"/>
                <a:cs typeface="Courier New"/>
              </a:rPr>
              <a:t>clean_df["arrival_delay"] = (clean_df["arrival_delay"]</a:t>
            </a:r>
          </a:p>
          <a:p>
            <a:pPr algn="l">
              <a:spcAft>
                <a:spcPts val="0"/>
              </a:spcAft>
            </a:pPr>
            <a:r>
              <a:rPr sz="1200" b="0">
                <a:solidFill>
                  <a:srgbClr val="E6EDF7"/>
                </a:solidFill>
                <a:latin typeface="Courier New"/>
                <a:cs typeface="Courier New"/>
              </a:rPr>
              <a:t>    .fillna(clean_df["departure_delay"]).astype(int))</a:t>
            </a:r>
          </a:p>
          <a:p>
            <a:pPr algn="l">
              <a:spcAft>
                <a:spcPts val="0"/>
              </a:spcAft>
            </a:pPr>
            <a:r>
              <a:rPr sz="1200" b="0">
                <a:solidFill>
                  <a:srgbClr val="E6EDF7"/>
                </a:solidFill>
                <a:latin typeface="Courier New"/>
                <a:cs typeface="Courier New"/>
              </a:rPr>
              <a:t> </a:t>
            </a:r>
          </a:p>
          <a:p>
            <a:pPr algn="l">
              <a:spcAft>
                <a:spcPts val="0"/>
              </a:spcAft>
            </a:pPr>
            <a:r>
              <a:rPr sz="1200" b="0">
                <a:solidFill>
                  <a:srgbClr val="8FD69B"/>
                </a:solidFill>
                <a:latin typeface="Courier New"/>
                <a:cs typeface="Courier New"/>
              </a:rPr>
              <a:t># Rating 0 = "Not Applicable" -&gt; NaN</a:t>
            </a:r>
          </a:p>
          <a:p>
            <a:pPr algn="l">
              <a:spcAft>
                <a:spcPts val="0"/>
              </a:spcAft>
            </a:pPr>
            <a:r>
              <a:rPr sz="1200" b="0">
                <a:solidFill>
                  <a:srgbClr val="E6EDF7"/>
                </a:solidFill>
                <a:latin typeface="Courier New"/>
                <a:cs typeface="Courier New"/>
              </a:rPr>
              <a:t>clean_df[service_columns] = (clean_df[service_columns]</a:t>
            </a:r>
          </a:p>
          <a:p>
            <a:pPr algn="l">
              <a:spcAft>
                <a:spcPts val="0"/>
              </a:spcAft>
            </a:pPr>
            <a:r>
              <a:rPr sz="1200" b="0">
                <a:solidFill>
                  <a:srgbClr val="E6EDF7"/>
                </a:solidFill>
                <a:latin typeface="Courier New"/>
                <a:cs typeface="Courier New"/>
              </a:rPr>
              <a:t>    .replace(0, np.nan))</a:t>
            </a:r>
          </a:p>
          <a:p>
            <a:pPr algn="l">
              <a:spcAft>
                <a:spcPts val="0"/>
              </a:spcAft>
            </a:pPr>
            <a:r>
              <a:rPr sz="1200" b="0">
                <a:solidFill>
                  <a:srgbClr val="E6EDF7"/>
                </a:solidFill>
                <a:latin typeface="Courier New"/>
                <a:cs typeface="Courier New"/>
              </a:rPr>
              <a:t> </a:t>
            </a:r>
          </a:p>
          <a:p>
            <a:pPr algn="l">
              <a:spcAft>
                <a:spcPts val="0"/>
              </a:spcAft>
            </a:pPr>
            <a:r>
              <a:rPr sz="1200" b="0">
                <a:solidFill>
                  <a:srgbClr val="8FD69B"/>
                </a:solidFill>
                <a:latin typeface="Courier New"/>
                <a:cs typeface="Courier New"/>
              </a:rPr>
              <a:t># New features</a:t>
            </a:r>
          </a:p>
          <a:p>
            <a:pPr algn="l">
              <a:spcAft>
                <a:spcPts val="0"/>
              </a:spcAft>
            </a:pPr>
            <a:r>
              <a:rPr sz="1200" b="0">
                <a:solidFill>
                  <a:srgbClr val="E6EDF7"/>
                </a:solidFill>
                <a:latin typeface="Courier New"/>
                <a:cs typeface="Courier New"/>
              </a:rPr>
              <a:t>clean_df = add_features(clean_df)   # age / distance /</a:t>
            </a:r>
          </a:p>
          <a:p>
            <a:pPr algn="l">
              <a:spcAft>
                <a:spcPts val="0"/>
              </a:spcAft>
            </a:pPr>
            <a:r>
              <a:rPr sz="1200" b="0">
                <a:solidFill>
                  <a:srgbClr val="8FD69B"/>
                </a:solidFill>
                <a:latin typeface="Courier New"/>
                <a:cs typeface="Courier New"/>
              </a:rPr>
              <a:t>                                    # delay groups ...</a:t>
            </a:r>
          </a:p>
          <a:p>
            <a:pPr algn="l">
              <a:spcAft>
                <a:spcPts val="0"/>
              </a:spcAft>
            </a:pPr>
            <a:r>
              <a:rPr sz="1200" b="0">
                <a:solidFill>
                  <a:srgbClr val="E6EDF7"/>
                </a:solidFill>
                <a:latin typeface="Courier New"/>
                <a:cs typeface="Courier New"/>
              </a:rPr>
              <a:t>clean_df.to_csv("Data_Cleaned.csv", index=False)</a:t>
            </a:r>
          </a:p>
        </p:txBody>
      </p:sp>
      <p:sp>
        <p:nvSpPr>
          <p:cNvPr id="8" name="TextBox 7"/>
          <p:cNvSpPr txBox="1"/>
          <p:nvPr/>
        </p:nvSpPr>
        <p:spPr>
          <a:xfrm>
            <a:off x="7680960" y="1600200"/>
            <a:ext cx="3959352" cy="4480560"/>
          </a:xfrm>
          <a:prstGeom prst="rect">
            <a:avLst/>
          </a:prstGeom>
          <a:noFill/>
        </p:spPr>
        <p:txBody>
          <a:bodyPr wrap="square" lIns="0" rIns="0" tIns="0" bIns="0" anchor="t">
            <a:spAutoFit/>
          </a:bodyPr>
          <a:lstStyle/>
          <a:p>
            <a:pPr algn="r" rtl="1">
              <a:spcAft>
                <a:spcPts val="1000"/>
              </a:spcAft>
            </a:pPr>
            <a:r>
              <a:rPr sz="2000" b="1">
                <a:solidFill>
                  <a:srgbClr val="0B1F3A"/>
                </a:solidFill>
                <a:latin typeface="Arial"/>
                <a:cs typeface="Arial"/>
              </a:rPr>
              <a:t>قرارات مهمة</a:t>
            </a:r>
          </a:p>
          <a:p>
            <a:pPr algn="r" rtl="1">
              <a:spcAft>
                <a:spcPts val="800"/>
              </a:spcAft>
            </a:pPr>
            <a:r>
              <a:rPr sz="1500" b="0">
                <a:solidFill>
                  <a:srgbClr val="1B1F24"/>
                </a:solidFill>
                <a:latin typeface="Arial"/>
                <a:cs typeface="Arial"/>
              </a:rPr>
              <a:t>ملء التأخير الناقص بتأخير الإقلاع لنفس الراكب، لأن الارتباط بينهم 0.96 — أدق من المتوسط أو الوسيط.</a:t>
            </a:r>
          </a:p>
          <a:p>
            <a:pPr algn="r" rtl="1">
              <a:spcAft>
                <a:spcPts val="800"/>
              </a:spcAft>
            </a:pPr>
            <a:r>
              <a:rPr sz="1500" b="0">
                <a:solidFill>
                  <a:srgbClr val="1B1F24"/>
                </a:solidFill>
                <a:latin typeface="Arial"/>
                <a:cs typeface="Arial"/>
              </a:rPr>
              <a:t>الصفر اتحول لـ NaN فبيتجاهل في المتوسطات.</a:t>
            </a:r>
          </a:p>
          <a:p>
            <a:pPr algn="r" rtl="1">
              <a:spcAft>
                <a:spcPts val="800"/>
              </a:spcAft>
            </a:pPr>
            <a:r>
              <a:rPr sz="1500" b="0">
                <a:solidFill>
                  <a:srgbClr val="1B1F24"/>
                </a:solidFill>
                <a:latin typeface="Arial"/>
                <a:cs typeface="Arial"/>
              </a:rPr>
              <a:t>القيم المتطرفة اتسابت لأنها حقيقية، واتقسمت لفئات.</a:t>
            </a:r>
          </a:p>
          <a:p>
            <a:pPr algn="r" rtl="1">
              <a:spcAft>
                <a:spcPts val="0"/>
              </a:spcAft>
            </a:pPr>
            <a:r>
              <a:rPr sz="1300" b="0">
                <a:solidFill>
                  <a:srgbClr val="5B636E"/>
                </a:solidFill>
                <a:latin typeface="Arial"/>
                <a:cs typeface="Arial"/>
              </a:rPr>
              <a:t>أعمدة جديدة: age_group, distance_group, delay_group, average_service_rating, is_satisfied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الخامس — التحليل الاستكشافي</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التحليل أحادي المتغير</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9</a:t>
            </a:r>
          </a:p>
        </p:txBody>
      </p:sp>
      <p:sp>
        <p:nvSpPr>
          <p:cNvPr id="6" name="Rounded Rectangle 5"/>
          <p:cNvSpPr/>
          <p:nvPr/>
        </p:nvSpPr>
        <p:spPr>
          <a:xfrm>
            <a:off x="548640" y="1554480"/>
            <a:ext cx="6035040" cy="2926080"/>
          </a:xfrm>
          <a:prstGeom prst="roundRect">
            <a:avLst>
              <a:gd name="adj" fmla="val 6000"/>
            </a:avLst>
          </a:prstGeom>
          <a:solidFill>
            <a:srgbClr val="141C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83080"/>
            <a:ext cx="5486400" cy="2560320"/>
          </a:xfrm>
          <a:prstGeom prst="rect">
            <a:avLst/>
          </a:prstGeom>
          <a:noFill/>
        </p:spPr>
        <p:txBody>
          <a:bodyPr wrap="square" lIns="0" rIns="0" tIns="0" bIns="0" anchor="t">
            <a:spAutoFit/>
          </a:bodyPr>
          <a:lstStyle/>
          <a:p>
            <a:pPr algn="l">
              <a:spcAft>
                <a:spcPts val="0"/>
              </a:spcAft>
            </a:pPr>
            <a:r>
              <a:rPr sz="1200" b="0">
                <a:solidFill>
                  <a:srgbClr val="E6EDF7"/>
                </a:solidFill>
                <a:latin typeface="Courier New"/>
                <a:cs typeface="Courier New"/>
              </a:rPr>
              <a:t>def plot_category_counts(df, column, ax):</a:t>
            </a:r>
          </a:p>
          <a:p>
            <a:pPr algn="l">
              <a:spcAft>
                <a:spcPts val="0"/>
              </a:spcAft>
            </a:pPr>
            <a:r>
              <a:rPr sz="1200" b="0">
                <a:solidFill>
                  <a:srgbClr val="E6EDF7"/>
                </a:solidFill>
                <a:latin typeface="Courier New"/>
                <a:cs typeface="Courier New"/>
              </a:rPr>
              <a:t>    counts = df[column].value_counts()</a:t>
            </a:r>
          </a:p>
          <a:p>
            <a:pPr algn="l">
              <a:spcAft>
                <a:spcPts val="0"/>
              </a:spcAft>
            </a:pPr>
            <a:r>
              <a:rPr sz="1200" b="0">
                <a:solidFill>
                  <a:srgbClr val="E6EDF7"/>
                </a:solidFill>
                <a:latin typeface="Courier New"/>
                <a:cs typeface="Courier New"/>
              </a:rPr>
              <a:t>    ax.bar(counts.index, counts.values)</a:t>
            </a:r>
          </a:p>
          <a:p>
            <a:pPr algn="l">
              <a:spcAft>
                <a:spcPts val="0"/>
              </a:spcAft>
            </a:pPr>
            <a:r>
              <a:rPr sz="1200" b="0">
                <a:solidFill>
                  <a:srgbClr val="E6EDF7"/>
                </a:solidFill>
                <a:latin typeface="Courier New"/>
                <a:cs typeface="Courier New"/>
              </a:rPr>
              <a:t>    ...</a:t>
            </a:r>
          </a:p>
          <a:p>
            <a:pPr algn="l">
              <a:spcAft>
                <a:spcPts val="0"/>
              </a:spcAft>
            </a:pPr>
            <a:r>
              <a:rPr sz="1200" b="0">
                <a:solidFill>
                  <a:srgbClr val="E6EDF7"/>
                </a:solidFill>
                <a:latin typeface="Courier New"/>
                <a:cs typeface="Courier New"/>
              </a:rPr>
              <a:t> </a:t>
            </a:r>
          </a:p>
          <a:p>
            <a:pPr algn="l">
              <a:spcAft>
                <a:spcPts val="0"/>
              </a:spcAft>
            </a:pPr>
            <a:r>
              <a:rPr sz="1200" b="0">
                <a:solidFill>
                  <a:srgbClr val="E6EDF7"/>
                </a:solidFill>
                <a:latin typeface="Courier New"/>
                <a:cs typeface="Courier New"/>
              </a:rPr>
              <a:t>for column, ax in zip(profile_columns, axes.flat):</a:t>
            </a:r>
          </a:p>
          <a:p>
            <a:pPr algn="l">
              <a:spcAft>
                <a:spcPts val="0"/>
              </a:spcAft>
            </a:pPr>
            <a:r>
              <a:rPr sz="1200" b="0">
                <a:solidFill>
                  <a:srgbClr val="E6EDF7"/>
                </a:solidFill>
                <a:latin typeface="Courier New"/>
                <a:cs typeface="Courier New"/>
              </a:rPr>
              <a:t>    plot_category_counts(clean_df, column, ax)</a:t>
            </a:r>
          </a:p>
        </p:txBody>
      </p:sp>
      <p:sp>
        <p:nvSpPr>
          <p:cNvPr id="8" name="TextBox 7"/>
          <p:cNvSpPr txBox="1"/>
          <p:nvPr/>
        </p:nvSpPr>
        <p:spPr>
          <a:xfrm>
            <a:off x="548640" y="4709160"/>
            <a:ext cx="6035040" cy="1463040"/>
          </a:xfrm>
          <a:prstGeom prst="rect">
            <a:avLst/>
          </a:prstGeom>
          <a:noFill/>
        </p:spPr>
        <p:txBody>
          <a:bodyPr wrap="square" lIns="0" rIns="0" tIns="0" bIns="0" anchor="t">
            <a:spAutoFit/>
          </a:bodyPr>
          <a:lstStyle/>
          <a:p>
            <a:pPr algn="r" rtl="1">
              <a:spcAft>
                <a:spcPts val="0"/>
              </a:spcAft>
            </a:pPr>
            <a:r>
              <a:rPr sz="1500" b="0">
                <a:solidFill>
                  <a:srgbClr val="5B636E"/>
                </a:solidFill>
                <a:latin typeface="Arial"/>
                <a:cs typeface="Arial"/>
              </a:rPr>
              <a:t>دوال قابلة لإعادة الاستخدام بدل تكرار نفس الكود لكل عمود — وده من معايير التقييم.</a:t>
            </a:r>
          </a:p>
        </p:txBody>
      </p:sp>
      <p:sp>
        <p:nvSpPr>
          <p:cNvPr id="9" name="Rounded Rectangle 8"/>
          <p:cNvSpPr/>
          <p:nvPr/>
        </p:nvSpPr>
        <p:spPr>
          <a:xfrm>
            <a:off x="6949440" y="1554480"/>
            <a:ext cx="4690872" cy="77724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0" y="1737360"/>
            <a:ext cx="2377440" cy="457200"/>
          </a:xfrm>
          <a:prstGeom prst="rect">
            <a:avLst/>
          </a:prstGeom>
          <a:noFill/>
        </p:spPr>
        <p:txBody>
          <a:bodyPr wrap="square" lIns="0" rIns="0" tIns="0" bIns="0" anchor="t">
            <a:spAutoFit/>
          </a:bodyPr>
          <a:lstStyle/>
          <a:p>
            <a:pPr algn="r" rtl="1">
              <a:spcAft>
                <a:spcPts val="0"/>
              </a:spcAft>
            </a:pPr>
            <a:r>
              <a:rPr sz="1500" b="1">
                <a:solidFill>
                  <a:srgbClr val="0B1F3A"/>
                </a:solidFill>
                <a:latin typeface="Arial"/>
                <a:cs typeface="Arial"/>
              </a:rPr>
              <a:t>الرضا</a:t>
            </a:r>
          </a:p>
        </p:txBody>
      </p:sp>
      <p:sp>
        <p:nvSpPr>
          <p:cNvPr id="11" name="TextBox 10"/>
          <p:cNvSpPr txBox="1"/>
          <p:nvPr/>
        </p:nvSpPr>
        <p:spPr>
          <a:xfrm>
            <a:off x="7132320" y="1755648"/>
            <a:ext cx="1920240" cy="457200"/>
          </a:xfrm>
          <a:prstGeom prst="rect">
            <a:avLst/>
          </a:prstGeom>
          <a:noFill/>
        </p:spPr>
        <p:txBody>
          <a:bodyPr wrap="square" lIns="0" rIns="0" tIns="0" bIns="0" anchor="t">
            <a:spAutoFit/>
          </a:bodyPr>
          <a:lstStyle/>
          <a:p>
            <a:pPr algn="l">
              <a:spcAft>
                <a:spcPts val="0"/>
              </a:spcAft>
            </a:pPr>
            <a:r>
              <a:rPr sz="1300" b="1">
                <a:solidFill>
                  <a:srgbClr val="2A78D6"/>
                </a:solidFill>
                <a:latin typeface="Arial"/>
                <a:cs typeface="Arial"/>
              </a:rPr>
              <a:t>Pie chart</a:t>
            </a:r>
          </a:p>
        </p:txBody>
      </p:sp>
      <p:sp>
        <p:nvSpPr>
          <p:cNvPr id="12" name="Rounded Rectangle 11"/>
          <p:cNvSpPr/>
          <p:nvPr/>
        </p:nvSpPr>
        <p:spPr>
          <a:xfrm>
            <a:off x="6949440" y="2468880"/>
            <a:ext cx="4690872" cy="77724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2651760"/>
            <a:ext cx="2377440" cy="457200"/>
          </a:xfrm>
          <a:prstGeom prst="rect">
            <a:avLst/>
          </a:prstGeom>
          <a:noFill/>
        </p:spPr>
        <p:txBody>
          <a:bodyPr wrap="square" lIns="0" rIns="0" tIns="0" bIns="0" anchor="t">
            <a:spAutoFit/>
          </a:bodyPr>
          <a:lstStyle/>
          <a:p>
            <a:pPr algn="r" rtl="1">
              <a:spcAft>
                <a:spcPts val="0"/>
              </a:spcAft>
            </a:pPr>
            <a:r>
              <a:rPr sz="1500" b="1">
                <a:solidFill>
                  <a:srgbClr val="0B1F3A"/>
                </a:solidFill>
                <a:latin typeface="Arial"/>
                <a:cs typeface="Arial"/>
              </a:rPr>
              <a:t>النوع، الولاء، نوع السفر، الدرجة</a:t>
            </a:r>
          </a:p>
        </p:txBody>
      </p:sp>
      <p:sp>
        <p:nvSpPr>
          <p:cNvPr id="14" name="TextBox 13"/>
          <p:cNvSpPr txBox="1"/>
          <p:nvPr/>
        </p:nvSpPr>
        <p:spPr>
          <a:xfrm>
            <a:off x="7132320" y="2670048"/>
            <a:ext cx="1920240" cy="457200"/>
          </a:xfrm>
          <a:prstGeom prst="rect">
            <a:avLst/>
          </a:prstGeom>
          <a:noFill/>
        </p:spPr>
        <p:txBody>
          <a:bodyPr wrap="square" lIns="0" rIns="0" tIns="0" bIns="0" anchor="t">
            <a:spAutoFit/>
          </a:bodyPr>
          <a:lstStyle/>
          <a:p>
            <a:pPr algn="l">
              <a:spcAft>
                <a:spcPts val="0"/>
              </a:spcAft>
            </a:pPr>
            <a:r>
              <a:rPr sz="1300" b="1">
                <a:solidFill>
                  <a:srgbClr val="2A78D6"/>
                </a:solidFill>
                <a:latin typeface="Arial"/>
                <a:cs typeface="Arial"/>
              </a:rPr>
              <a:t>Bar charts</a:t>
            </a:r>
          </a:p>
        </p:txBody>
      </p:sp>
      <p:sp>
        <p:nvSpPr>
          <p:cNvPr id="15" name="Rounded Rectangle 14"/>
          <p:cNvSpPr/>
          <p:nvPr/>
        </p:nvSpPr>
        <p:spPr>
          <a:xfrm>
            <a:off x="6949440" y="3383280"/>
            <a:ext cx="4690872" cy="77724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0" y="3566160"/>
            <a:ext cx="2377440" cy="457200"/>
          </a:xfrm>
          <a:prstGeom prst="rect">
            <a:avLst/>
          </a:prstGeom>
          <a:noFill/>
        </p:spPr>
        <p:txBody>
          <a:bodyPr wrap="square" lIns="0" rIns="0" tIns="0" bIns="0" anchor="t">
            <a:spAutoFit/>
          </a:bodyPr>
          <a:lstStyle/>
          <a:p>
            <a:pPr algn="r" rtl="1">
              <a:spcAft>
                <a:spcPts val="0"/>
              </a:spcAft>
            </a:pPr>
            <a:r>
              <a:rPr sz="1500" b="1">
                <a:solidFill>
                  <a:srgbClr val="0B1F3A"/>
                </a:solidFill>
                <a:latin typeface="Arial"/>
                <a:cs typeface="Arial"/>
              </a:rPr>
              <a:t>السن والمسافة</a:t>
            </a:r>
          </a:p>
        </p:txBody>
      </p:sp>
      <p:sp>
        <p:nvSpPr>
          <p:cNvPr id="17" name="TextBox 16"/>
          <p:cNvSpPr txBox="1"/>
          <p:nvPr/>
        </p:nvSpPr>
        <p:spPr>
          <a:xfrm>
            <a:off x="7132320" y="3584448"/>
            <a:ext cx="1920240" cy="457200"/>
          </a:xfrm>
          <a:prstGeom prst="rect">
            <a:avLst/>
          </a:prstGeom>
          <a:noFill/>
        </p:spPr>
        <p:txBody>
          <a:bodyPr wrap="square" lIns="0" rIns="0" tIns="0" bIns="0" anchor="t">
            <a:spAutoFit/>
          </a:bodyPr>
          <a:lstStyle/>
          <a:p>
            <a:pPr algn="l">
              <a:spcAft>
                <a:spcPts val="0"/>
              </a:spcAft>
            </a:pPr>
            <a:r>
              <a:rPr sz="1300" b="1">
                <a:solidFill>
                  <a:srgbClr val="2A78D6"/>
                </a:solidFill>
                <a:latin typeface="Arial"/>
                <a:cs typeface="Arial"/>
              </a:rPr>
              <a:t>Histogram + KDE</a:t>
            </a:r>
          </a:p>
        </p:txBody>
      </p:sp>
      <p:sp>
        <p:nvSpPr>
          <p:cNvPr id="18" name="Rounded Rectangle 17"/>
          <p:cNvSpPr/>
          <p:nvPr/>
        </p:nvSpPr>
        <p:spPr>
          <a:xfrm>
            <a:off x="6949440" y="4297680"/>
            <a:ext cx="4690872" cy="77724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0" y="4480560"/>
            <a:ext cx="2377440" cy="457200"/>
          </a:xfrm>
          <a:prstGeom prst="rect">
            <a:avLst/>
          </a:prstGeom>
          <a:noFill/>
        </p:spPr>
        <p:txBody>
          <a:bodyPr wrap="square" lIns="0" rIns="0" tIns="0" bIns="0" anchor="t">
            <a:spAutoFit/>
          </a:bodyPr>
          <a:lstStyle/>
          <a:p>
            <a:pPr algn="r" rtl="1">
              <a:spcAft>
                <a:spcPts val="0"/>
              </a:spcAft>
            </a:pPr>
            <a:r>
              <a:rPr sz="1500" b="1">
                <a:solidFill>
                  <a:srgbClr val="0B1F3A"/>
                </a:solidFill>
                <a:latin typeface="Arial"/>
                <a:cs typeface="Arial"/>
              </a:rPr>
              <a:t>التأخير</a:t>
            </a:r>
          </a:p>
        </p:txBody>
      </p:sp>
      <p:sp>
        <p:nvSpPr>
          <p:cNvPr id="20" name="TextBox 19"/>
          <p:cNvSpPr txBox="1"/>
          <p:nvPr/>
        </p:nvSpPr>
        <p:spPr>
          <a:xfrm>
            <a:off x="7132320" y="4498848"/>
            <a:ext cx="1920240" cy="457200"/>
          </a:xfrm>
          <a:prstGeom prst="rect">
            <a:avLst/>
          </a:prstGeom>
          <a:noFill/>
        </p:spPr>
        <p:txBody>
          <a:bodyPr wrap="square" lIns="0" rIns="0" tIns="0" bIns="0" anchor="t">
            <a:spAutoFit/>
          </a:bodyPr>
          <a:lstStyle/>
          <a:p>
            <a:pPr algn="l">
              <a:spcAft>
                <a:spcPts val="0"/>
              </a:spcAft>
            </a:pPr>
            <a:r>
              <a:rPr sz="1300" b="1">
                <a:solidFill>
                  <a:srgbClr val="2A78D6"/>
                </a:solidFill>
                <a:latin typeface="Arial"/>
                <a:cs typeface="Arial"/>
              </a:rPr>
              <a:t>Histogram (log scale)</a:t>
            </a:r>
          </a:p>
        </p:txBody>
      </p:sp>
      <p:sp>
        <p:nvSpPr>
          <p:cNvPr id="21" name="Rounded Rectangle 20"/>
          <p:cNvSpPr/>
          <p:nvPr/>
        </p:nvSpPr>
        <p:spPr>
          <a:xfrm>
            <a:off x="6949440" y="5212080"/>
            <a:ext cx="4690872" cy="77724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0" y="5394960"/>
            <a:ext cx="2377440" cy="457200"/>
          </a:xfrm>
          <a:prstGeom prst="rect">
            <a:avLst/>
          </a:prstGeom>
          <a:noFill/>
        </p:spPr>
        <p:txBody>
          <a:bodyPr wrap="square" lIns="0" rIns="0" tIns="0" bIns="0" anchor="t">
            <a:spAutoFit/>
          </a:bodyPr>
          <a:lstStyle/>
          <a:p>
            <a:pPr algn="r" rtl="1">
              <a:spcAft>
                <a:spcPts val="0"/>
              </a:spcAft>
            </a:pPr>
            <a:r>
              <a:rPr sz="1500" b="1">
                <a:solidFill>
                  <a:srgbClr val="0B1F3A"/>
                </a:solidFill>
                <a:latin typeface="Arial"/>
                <a:cs typeface="Arial"/>
              </a:rPr>
              <a:t>الخدمات الـ 14</a:t>
            </a:r>
          </a:p>
        </p:txBody>
      </p:sp>
      <p:sp>
        <p:nvSpPr>
          <p:cNvPr id="23" name="TextBox 22"/>
          <p:cNvSpPr txBox="1"/>
          <p:nvPr/>
        </p:nvSpPr>
        <p:spPr>
          <a:xfrm>
            <a:off x="7132320" y="5413248"/>
            <a:ext cx="1920240" cy="457200"/>
          </a:xfrm>
          <a:prstGeom prst="rect">
            <a:avLst/>
          </a:prstGeom>
          <a:noFill/>
        </p:spPr>
        <p:txBody>
          <a:bodyPr wrap="square" lIns="0" rIns="0" tIns="0" bIns="0" anchor="t">
            <a:spAutoFit/>
          </a:bodyPr>
          <a:lstStyle/>
          <a:p>
            <a:pPr algn="l">
              <a:spcAft>
                <a:spcPts val="0"/>
              </a:spcAft>
            </a:pPr>
            <a:r>
              <a:rPr sz="1300" b="1">
                <a:solidFill>
                  <a:srgbClr val="2A78D6"/>
                </a:solidFill>
                <a:latin typeface="Arial"/>
                <a:cs typeface="Arial"/>
              </a:rPr>
              <a:t>Bar + Heatmap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الخامس — التحليل الاستكشافي</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التحليل ثنائي ومتعدد المتغيرات + الإحصاء</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10</a:t>
            </a:r>
          </a:p>
        </p:txBody>
      </p:sp>
      <p:sp>
        <p:nvSpPr>
          <p:cNvPr id="6" name="Rounded Rectangle 5"/>
          <p:cNvSpPr/>
          <p:nvPr/>
        </p:nvSpPr>
        <p:spPr>
          <a:xfrm>
            <a:off x="548640" y="1554480"/>
            <a:ext cx="6766560" cy="4526280"/>
          </a:xfrm>
          <a:prstGeom prst="roundRect">
            <a:avLst>
              <a:gd name="adj" fmla="val 6000"/>
            </a:avLst>
          </a:prstGeom>
          <a:solidFill>
            <a:srgbClr val="141C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783080"/>
            <a:ext cx="6217920" cy="4160520"/>
          </a:xfrm>
          <a:prstGeom prst="rect">
            <a:avLst/>
          </a:prstGeom>
          <a:noFill/>
        </p:spPr>
        <p:txBody>
          <a:bodyPr wrap="square" lIns="0" rIns="0" tIns="0" bIns="0" anchor="t">
            <a:spAutoFit/>
          </a:bodyPr>
          <a:lstStyle/>
          <a:p>
            <a:pPr algn="l">
              <a:spcAft>
                <a:spcPts val="0"/>
              </a:spcAft>
            </a:pPr>
            <a:r>
              <a:rPr sz="1200" b="0">
                <a:solidFill>
                  <a:srgbClr val="E6EDF7"/>
                </a:solidFill>
                <a:latin typeface="Courier New"/>
                <a:cs typeface="Courier New"/>
              </a:rPr>
              <a:t>def chi_square_test(df, column):</a:t>
            </a:r>
          </a:p>
          <a:p>
            <a:pPr algn="l">
              <a:spcAft>
                <a:spcPts val="0"/>
              </a:spcAft>
            </a:pPr>
            <a:r>
              <a:rPr sz="1200" b="0">
                <a:solidFill>
                  <a:srgbClr val="E6EDF7"/>
                </a:solidFill>
                <a:latin typeface="Courier New"/>
                <a:cs typeface="Courier New"/>
              </a:rPr>
              <a:t>    table = pd.crosstab(df[column], df["satisfaction"])</a:t>
            </a:r>
          </a:p>
          <a:p>
            <a:pPr algn="l">
              <a:spcAft>
                <a:spcPts val="0"/>
              </a:spcAft>
            </a:pPr>
            <a:r>
              <a:rPr sz="1200" b="0">
                <a:solidFill>
                  <a:srgbClr val="E6EDF7"/>
                </a:solidFill>
                <a:latin typeface="Courier New"/>
                <a:cs typeface="Courier New"/>
              </a:rPr>
              <a:t>    chi2, p_value, _, _ = stats.chi2_contingency(table)</a:t>
            </a:r>
          </a:p>
          <a:p>
            <a:pPr algn="l">
              <a:spcAft>
                <a:spcPts val="0"/>
              </a:spcAft>
            </a:pPr>
            <a:r>
              <a:rPr sz="1200" b="0">
                <a:solidFill>
                  <a:srgbClr val="E6EDF7"/>
                </a:solidFill>
                <a:latin typeface="Courier New"/>
                <a:cs typeface="Courier New"/>
              </a:rPr>
              <a:t>    cramers_v = np.sqrt(chi2 / (table.values.sum()</a:t>
            </a:r>
          </a:p>
          <a:p>
            <a:pPr algn="l">
              <a:spcAft>
                <a:spcPts val="0"/>
              </a:spcAft>
            </a:pPr>
            <a:r>
              <a:rPr sz="1200" b="0">
                <a:solidFill>
                  <a:srgbClr val="E6EDF7"/>
                </a:solidFill>
                <a:latin typeface="Courier New"/>
                <a:cs typeface="Courier New"/>
              </a:rPr>
              <a:t>                                * (min(table.shape) - 1)))</a:t>
            </a:r>
          </a:p>
          <a:p>
            <a:pPr algn="l">
              <a:spcAft>
                <a:spcPts val="0"/>
              </a:spcAft>
            </a:pPr>
            <a:r>
              <a:rPr sz="1200" b="0">
                <a:solidFill>
                  <a:srgbClr val="E6EDF7"/>
                </a:solidFill>
                <a:latin typeface="Courier New"/>
                <a:cs typeface="Courier New"/>
              </a:rPr>
              <a:t>    return p_value, cramers_v</a:t>
            </a:r>
          </a:p>
          <a:p>
            <a:pPr algn="l">
              <a:spcAft>
                <a:spcPts val="0"/>
              </a:spcAft>
            </a:pPr>
            <a:r>
              <a:rPr sz="1200" b="0">
                <a:solidFill>
                  <a:srgbClr val="E6EDF7"/>
                </a:solidFill>
                <a:latin typeface="Courier New"/>
                <a:cs typeface="Courier New"/>
              </a:rPr>
              <a:t> </a:t>
            </a:r>
          </a:p>
          <a:p>
            <a:pPr algn="l">
              <a:spcAft>
                <a:spcPts val="0"/>
              </a:spcAft>
            </a:pPr>
            <a:r>
              <a:rPr sz="1200" b="0">
                <a:solidFill>
                  <a:srgbClr val="E6EDF7"/>
                </a:solidFill>
                <a:latin typeface="Courier New"/>
                <a:cs typeface="Courier New"/>
              </a:rPr>
              <a:t>def mann_whitney_test(df, column):</a:t>
            </a:r>
          </a:p>
          <a:p>
            <a:pPr algn="l">
              <a:spcAft>
                <a:spcPts val="0"/>
              </a:spcAft>
            </a:pPr>
            <a:r>
              <a:rPr sz="1200" b="0">
                <a:solidFill>
                  <a:srgbClr val="E6EDF7"/>
                </a:solidFill>
                <a:latin typeface="Courier New"/>
                <a:cs typeface="Courier New"/>
              </a:rPr>
              <a:t>    satisfied = df.loc[df["satisfaction"] == "Satisfied",</a:t>
            </a:r>
          </a:p>
          <a:p>
            <a:pPr algn="l">
              <a:spcAft>
                <a:spcPts val="0"/>
              </a:spcAft>
            </a:pPr>
            <a:r>
              <a:rPr sz="1200" b="0">
                <a:solidFill>
                  <a:srgbClr val="E6EDF7"/>
                </a:solidFill>
                <a:latin typeface="Courier New"/>
                <a:cs typeface="Courier New"/>
              </a:rPr>
              <a:t>                       column].dropna()</a:t>
            </a:r>
          </a:p>
          <a:p>
            <a:pPr algn="l">
              <a:spcAft>
                <a:spcPts val="0"/>
              </a:spcAft>
            </a:pPr>
            <a:r>
              <a:rPr sz="1200" b="0">
                <a:solidFill>
                  <a:srgbClr val="E6EDF7"/>
                </a:solidFill>
                <a:latin typeface="Courier New"/>
                <a:cs typeface="Courier New"/>
              </a:rPr>
              <a:t>    dissatisfied = df.loc[df["satisfaction"] ==</a:t>
            </a:r>
          </a:p>
          <a:p>
            <a:pPr algn="l">
              <a:spcAft>
                <a:spcPts val="0"/>
              </a:spcAft>
            </a:pPr>
            <a:r>
              <a:rPr sz="1200" b="0">
                <a:solidFill>
                  <a:srgbClr val="E6EDF7"/>
                </a:solidFill>
                <a:latin typeface="Courier New"/>
                <a:cs typeface="Courier New"/>
              </a:rPr>
              <a:t>                   "Neutral or Dissatisfied", column].dropna()</a:t>
            </a:r>
          </a:p>
          <a:p>
            <a:pPr algn="l">
              <a:spcAft>
                <a:spcPts val="0"/>
              </a:spcAft>
            </a:pPr>
            <a:r>
              <a:rPr sz="1200" b="0">
                <a:solidFill>
                  <a:srgbClr val="E6EDF7"/>
                </a:solidFill>
                <a:latin typeface="Courier New"/>
                <a:cs typeface="Courier New"/>
              </a:rPr>
              <a:t>    return stats.mannwhitneyu(satisfied, dissatisfied)</a:t>
            </a:r>
          </a:p>
        </p:txBody>
      </p:sp>
      <p:sp>
        <p:nvSpPr>
          <p:cNvPr id="8" name="TextBox 7"/>
          <p:cNvSpPr txBox="1"/>
          <p:nvPr/>
        </p:nvSpPr>
        <p:spPr>
          <a:xfrm>
            <a:off x="7680960" y="1600200"/>
            <a:ext cx="3959352" cy="4480560"/>
          </a:xfrm>
          <a:prstGeom prst="rect">
            <a:avLst/>
          </a:prstGeom>
          <a:noFill/>
        </p:spPr>
        <p:txBody>
          <a:bodyPr wrap="square" lIns="0" rIns="0" tIns="0" bIns="0" anchor="t">
            <a:spAutoFit/>
          </a:bodyPr>
          <a:lstStyle/>
          <a:p>
            <a:pPr algn="r" rtl="1">
              <a:spcAft>
                <a:spcPts val="1000"/>
              </a:spcAft>
            </a:pPr>
            <a:r>
              <a:rPr sz="2000" b="1">
                <a:solidFill>
                  <a:srgbClr val="0B1F3A"/>
                </a:solidFill>
                <a:latin typeface="Arial"/>
                <a:cs typeface="Arial"/>
              </a:rPr>
              <a:t>كل نتيجة ليها اختبار</a:t>
            </a:r>
          </a:p>
          <a:p>
            <a:pPr algn="r" rtl="1">
              <a:spcAft>
                <a:spcPts val="800"/>
              </a:spcAft>
            </a:pPr>
            <a:r>
              <a:rPr sz="1500" b="1">
                <a:solidFill>
                  <a:srgbClr val="2A78D6"/>
                </a:solidFill>
                <a:latin typeface="Arial"/>
                <a:cs typeface="Arial"/>
              </a:rPr>
              <a:t>Chi-square + Cramér's V</a:t>
            </a:r>
            <a:r>
              <a:rPr sz="1500" b="0">
                <a:solidFill>
                  <a:srgbClr val="1B1F24"/>
                </a:solidFill>
                <a:latin typeface="Arial"/>
                <a:cs typeface="Arial"/>
              </a:rPr>
              <a:t> للمتغيرات الفئوية مع الرضا</a:t>
            </a:r>
          </a:p>
          <a:p>
            <a:pPr algn="r" rtl="1">
              <a:spcAft>
                <a:spcPts val="800"/>
              </a:spcAft>
            </a:pPr>
            <a:r>
              <a:rPr sz="1500" b="1">
                <a:solidFill>
                  <a:srgbClr val="2A78D6"/>
                </a:solidFill>
                <a:latin typeface="Arial"/>
                <a:cs typeface="Arial"/>
              </a:rPr>
              <a:t>Mann-Whitney</a:t>
            </a:r>
            <a:r>
              <a:rPr sz="1500" b="0">
                <a:solidFill>
                  <a:srgbClr val="1B1F24"/>
                </a:solidFill>
                <a:latin typeface="Arial"/>
                <a:cs typeface="Arial"/>
              </a:rPr>
              <a:t> للمتغيرات الرقمية لأنها مش طبيعية التوزيع</a:t>
            </a:r>
          </a:p>
          <a:p>
            <a:pPr algn="r" rtl="1">
              <a:spcAft>
                <a:spcPts val="1200"/>
              </a:spcAft>
            </a:pPr>
            <a:r>
              <a:rPr sz="1500" b="1">
                <a:solidFill>
                  <a:srgbClr val="2A78D6"/>
                </a:solidFill>
                <a:latin typeface="Arial"/>
                <a:cs typeface="Arial"/>
              </a:rPr>
              <a:t>Spearman</a:t>
            </a:r>
            <a:r>
              <a:rPr sz="1500" b="0">
                <a:solidFill>
                  <a:srgbClr val="1B1F24"/>
                </a:solidFill>
                <a:latin typeface="Arial"/>
                <a:cs typeface="Arial"/>
              </a:rPr>
              <a:t> لارتباط التقييمات بالرضا</a:t>
            </a:r>
          </a:p>
          <a:p>
            <a:pPr algn="r" rtl="1">
              <a:spcAft>
                <a:spcPts val="0"/>
              </a:spcAft>
            </a:pPr>
            <a:r>
              <a:rPr sz="1500" b="0">
                <a:solidFill>
                  <a:srgbClr val="5B636E"/>
                </a:solidFill>
                <a:latin typeface="Arial"/>
                <a:cs typeface="Arial"/>
              </a:rPr>
              <a:t>p-value أقل من 0.05 = فرق حقيقي مش صدفة.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الخامس — التحليل الاستكشافي</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أنواع الرسوم المستخدمة</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11</a:t>
            </a:r>
          </a:p>
        </p:txBody>
      </p:sp>
      <p:sp>
        <p:nvSpPr>
          <p:cNvPr id="6" name="Rounded Rectangle 5"/>
          <p:cNvSpPr/>
          <p:nvPr/>
        </p:nvSpPr>
        <p:spPr>
          <a:xfrm>
            <a:off x="9445752" y="16459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222992" y="175564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a:t>
            </a:r>
          </a:p>
        </p:txBody>
      </p:sp>
      <p:sp>
        <p:nvSpPr>
          <p:cNvPr id="8" name="TextBox 7"/>
          <p:cNvSpPr txBox="1"/>
          <p:nvPr/>
        </p:nvSpPr>
        <p:spPr>
          <a:xfrm>
            <a:off x="9537192" y="2304288"/>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Pie</a:t>
            </a:r>
          </a:p>
        </p:txBody>
      </p:sp>
      <p:sp>
        <p:nvSpPr>
          <p:cNvPr id="9" name="Rounded Rectangle 8"/>
          <p:cNvSpPr/>
          <p:nvPr/>
        </p:nvSpPr>
        <p:spPr>
          <a:xfrm>
            <a:off x="7223760" y="16459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01000" y="175564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2</a:t>
            </a:r>
          </a:p>
        </p:txBody>
      </p:sp>
      <p:sp>
        <p:nvSpPr>
          <p:cNvPr id="11" name="TextBox 10"/>
          <p:cNvSpPr txBox="1"/>
          <p:nvPr/>
        </p:nvSpPr>
        <p:spPr>
          <a:xfrm>
            <a:off x="7315200" y="2304288"/>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Bar / Count</a:t>
            </a:r>
          </a:p>
        </p:txBody>
      </p:sp>
      <p:sp>
        <p:nvSpPr>
          <p:cNvPr id="12" name="Rounded Rectangle 11"/>
          <p:cNvSpPr/>
          <p:nvPr/>
        </p:nvSpPr>
        <p:spPr>
          <a:xfrm>
            <a:off x="5001768" y="16459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79007" y="175564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3</a:t>
            </a:r>
          </a:p>
        </p:txBody>
      </p:sp>
      <p:sp>
        <p:nvSpPr>
          <p:cNvPr id="14" name="TextBox 13"/>
          <p:cNvSpPr txBox="1"/>
          <p:nvPr/>
        </p:nvSpPr>
        <p:spPr>
          <a:xfrm>
            <a:off x="5093207" y="2304288"/>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Stacked bar</a:t>
            </a:r>
          </a:p>
        </p:txBody>
      </p:sp>
      <p:sp>
        <p:nvSpPr>
          <p:cNvPr id="15" name="Rounded Rectangle 14"/>
          <p:cNvSpPr/>
          <p:nvPr/>
        </p:nvSpPr>
        <p:spPr>
          <a:xfrm>
            <a:off x="2779775" y="16459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7015" y="175564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4</a:t>
            </a:r>
          </a:p>
        </p:txBody>
      </p:sp>
      <p:sp>
        <p:nvSpPr>
          <p:cNvPr id="17" name="TextBox 16"/>
          <p:cNvSpPr txBox="1"/>
          <p:nvPr/>
        </p:nvSpPr>
        <p:spPr>
          <a:xfrm>
            <a:off x="2871215" y="2304288"/>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Histogram + KDE</a:t>
            </a:r>
          </a:p>
        </p:txBody>
      </p:sp>
      <p:sp>
        <p:nvSpPr>
          <p:cNvPr id="18" name="Rounded Rectangle 17"/>
          <p:cNvSpPr/>
          <p:nvPr/>
        </p:nvSpPr>
        <p:spPr>
          <a:xfrm>
            <a:off x="557783" y="16459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35023" y="175564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5</a:t>
            </a:r>
          </a:p>
        </p:txBody>
      </p:sp>
      <p:sp>
        <p:nvSpPr>
          <p:cNvPr id="20" name="TextBox 19"/>
          <p:cNvSpPr txBox="1"/>
          <p:nvPr/>
        </p:nvSpPr>
        <p:spPr>
          <a:xfrm>
            <a:off x="649223" y="2304288"/>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Box plot</a:t>
            </a:r>
          </a:p>
        </p:txBody>
      </p:sp>
      <p:sp>
        <p:nvSpPr>
          <p:cNvPr id="21" name="Rounded Rectangle 20"/>
          <p:cNvSpPr/>
          <p:nvPr/>
        </p:nvSpPr>
        <p:spPr>
          <a:xfrm>
            <a:off x="9445752" y="30175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22992" y="312724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6</a:t>
            </a:r>
          </a:p>
        </p:txBody>
      </p:sp>
      <p:sp>
        <p:nvSpPr>
          <p:cNvPr id="23" name="TextBox 22"/>
          <p:cNvSpPr txBox="1"/>
          <p:nvPr/>
        </p:nvSpPr>
        <p:spPr>
          <a:xfrm>
            <a:off x="9537192" y="3675887"/>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Violin</a:t>
            </a:r>
          </a:p>
        </p:txBody>
      </p:sp>
      <p:sp>
        <p:nvSpPr>
          <p:cNvPr id="24" name="Rounded Rectangle 23"/>
          <p:cNvSpPr/>
          <p:nvPr/>
        </p:nvSpPr>
        <p:spPr>
          <a:xfrm>
            <a:off x="7223760" y="30175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001000" y="312724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7</a:t>
            </a:r>
          </a:p>
        </p:txBody>
      </p:sp>
      <p:sp>
        <p:nvSpPr>
          <p:cNvPr id="26" name="TextBox 25"/>
          <p:cNvSpPr txBox="1"/>
          <p:nvPr/>
        </p:nvSpPr>
        <p:spPr>
          <a:xfrm>
            <a:off x="7315200" y="3675887"/>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Heatmap</a:t>
            </a:r>
          </a:p>
        </p:txBody>
      </p:sp>
      <p:sp>
        <p:nvSpPr>
          <p:cNvPr id="27" name="Rounded Rectangle 26"/>
          <p:cNvSpPr/>
          <p:nvPr/>
        </p:nvSpPr>
        <p:spPr>
          <a:xfrm>
            <a:off x="5001768" y="30175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779007" y="312724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8</a:t>
            </a:r>
          </a:p>
        </p:txBody>
      </p:sp>
      <p:sp>
        <p:nvSpPr>
          <p:cNvPr id="29" name="TextBox 28"/>
          <p:cNvSpPr txBox="1"/>
          <p:nvPr/>
        </p:nvSpPr>
        <p:spPr>
          <a:xfrm>
            <a:off x="5093207" y="3675887"/>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Scatter</a:t>
            </a:r>
          </a:p>
        </p:txBody>
      </p:sp>
      <p:sp>
        <p:nvSpPr>
          <p:cNvPr id="30" name="Rounded Rectangle 29"/>
          <p:cNvSpPr/>
          <p:nvPr/>
        </p:nvSpPr>
        <p:spPr>
          <a:xfrm>
            <a:off x="2779775" y="30175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57015" y="3127248"/>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9</a:t>
            </a:r>
          </a:p>
        </p:txBody>
      </p:sp>
      <p:sp>
        <p:nvSpPr>
          <p:cNvPr id="32" name="TextBox 31"/>
          <p:cNvSpPr txBox="1"/>
          <p:nvPr/>
        </p:nvSpPr>
        <p:spPr>
          <a:xfrm>
            <a:off x="2871215" y="3675887"/>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Line</a:t>
            </a:r>
          </a:p>
        </p:txBody>
      </p:sp>
      <p:sp>
        <p:nvSpPr>
          <p:cNvPr id="33" name="Rounded Rectangle 32"/>
          <p:cNvSpPr/>
          <p:nvPr/>
        </p:nvSpPr>
        <p:spPr>
          <a:xfrm>
            <a:off x="557783" y="3017520"/>
            <a:ext cx="2057400" cy="11430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35023" y="312724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10</a:t>
            </a:r>
          </a:p>
        </p:txBody>
      </p:sp>
      <p:sp>
        <p:nvSpPr>
          <p:cNvPr id="35" name="TextBox 34"/>
          <p:cNvSpPr txBox="1"/>
          <p:nvPr/>
        </p:nvSpPr>
        <p:spPr>
          <a:xfrm>
            <a:off x="649223" y="3675887"/>
            <a:ext cx="1874519" cy="411480"/>
          </a:xfrm>
          <a:prstGeom prst="rect">
            <a:avLst/>
          </a:prstGeom>
          <a:noFill/>
        </p:spPr>
        <p:txBody>
          <a:bodyPr wrap="square" lIns="0" rIns="0" tIns="0" bIns="0" anchor="t">
            <a:spAutoFit/>
          </a:bodyPr>
          <a:lstStyle/>
          <a:p>
            <a:pPr algn="ctr">
              <a:spcAft>
                <a:spcPts val="0"/>
              </a:spcAft>
            </a:pPr>
            <a:r>
              <a:rPr sz="1400" b="1">
                <a:solidFill>
                  <a:srgbClr val="0B1F3A"/>
                </a:solidFill>
                <a:latin typeface="Arial"/>
                <a:cs typeface="Arial"/>
              </a:rPr>
              <a:t>Dumbbell</a:t>
            </a:r>
          </a:p>
        </p:txBody>
      </p:sp>
      <p:sp>
        <p:nvSpPr>
          <p:cNvPr id="36" name="TextBox 35"/>
          <p:cNvSpPr txBox="1"/>
          <p:nvPr/>
        </p:nvSpPr>
        <p:spPr>
          <a:xfrm>
            <a:off x="548640" y="4663440"/>
            <a:ext cx="11091672" cy="1463040"/>
          </a:xfrm>
          <a:prstGeom prst="rect">
            <a:avLst/>
          </a:prstGeom>
          <a:noFill/>
        </p:spPr>
        <p:txBody>
          <a:bodyPr wrap="square" lIns="0" rIns="0" tIns="0" bIns="0" anchor="t">
            <a:spAutoFit/>
          </a:bodyPr>
          <a:lstStyle/>
          <a:p>
            <a:pPr algn="r" rtl="1">
              <a:spcAft>
                <a:spcPts val="800"/>
              </a:spcAft>
            </a:pPr>
            <a:r>
              <a:rPr sz="1800" b="1">
                <a:solidFill>
                  <a:srgbClr val="2A78D6"/>
                </a:solidFill>
                <a:latin typeface="Arial"/>
                <a:cs typeface="Arial"/>
              </a:rPr>
              <a:t>10 أنواع رسوم</a:t>
            </a:r>
            <a:r>
              <a:rPr sz="1800" b="0">
                <a:solidFill>
                  <a:srgbClr val="1B1F24"/>
                </a:solidFill>
                <a:latin typeface="Arial"/>
                <a:cs typeface="Arial"/>
              </a:rPr>
              <a:t> (المطلوب 5 على الأقل)</a:t>
            </a:r>
          </a:p>
          <a:p>
            <a:pPr algn="r" rtl="1">
              <a:spcAft>
                <a:spcPts val="0"/>
              </a:spcAft>
            </a:pPr>
            <a:r>
              <a:rPr sz="1800" b="1">
                <a:solidFill>
                  <a:srgbClr val="2A78D6"/>
                </a:solidFill>
                <a:latin typeface="Arial"/>
                <a:cs typeface="Arial"/>
              </a:rPr>
              <a:t>أكثر من 10 متغيرات</a:t>
            </a:r>
            <a:r>
              <a:rPr sz="1800" b="0">
                <a:solidFill>
                  <a:srgbClr val="1B1F24"/>
                </a:solidFill>
                <a:latin typeface="Arial"/>
                <a:cs typeface="Arial"/>
              </a:rPr>
              <a:t> اتدرست أحادي وثنائي ومتعدد (المطلوب 6 على الأقل)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1672" cy="320040"/>
          </a:xfrm>
          <a:prstGeom prst="rect">
            <a:avLst/>
          </a:prstGeom>
          <a:noFill/>
        </p:spPr>
        <p:txBody>
          <a:bodyPr wrap="square" lIns="0" rIns="0" tIns="0" bIns="0" anchor="t">
            <a:spAutoFit/>
          </a:bodyPr>
          <a:lstStyle/>
          <a:p>
            <a:pPr algn="r" rtl="1">
              <a:spcAft>
                <a:spcPts val="0"/>
              </a:spcAft>
            </a:pPr>
            <a:r>
              <a:rPr sz="1400" b="1">
                <a:solidFill>
                  <a:srgbClr val="2A78D6"/>
                </a:solidFill>
                <a:latin typeface="Arial"/>
                <a:cs typeface="Arial"/>
              </a:rPr>
              <a:t>الجزء السادس — النتائج</a:t>
            </a:r>
          </a:p>
        </p:txBody>
      </p:sp>
      <p:sp>
        <p:nvSpPr>
          <p:cNvPr id="3" name="TextBox 2"/>
          <p:cNvSpPr txBox="1"/>
          <p:nvPr/>
        </p:nvSpPr>
        <p:spPr>
          <a:xfrm>
            <a:off x="548640" y="685800"/>
            <a:ext cx="11091672" cy="731520"/>
          </a:xfrm>
          <a:prstGeom prst="rect">
            <a:avLst/>
          </a:prstGeom>
          <a:noFill/>
        </p:spPr>
        <p:txBody>
          <a:bodyPr wrap="square" lIns="0" rIns="0" tIns="0" bIns="0" anchor="t">
            <a:spAutoFit/>
          </a:bodyPr>
          <a:lstStyle/>
          <a:p>
            <a:pPr algn="r" rtl="1">
              <a:spcAft>
                <a:spcPts val="0"/>
              </a:spcAft>
            </a:pPr>
            <a:r>
              <a:rPr sz="3200" b="1">
                <a:solidFill>
                  <a:srgbClr val="0B1F3A"/>
                </a:solidFill>
                <a:latin typeface="Arial"/>
                <a:cs typeface="Arial"/>
              </a:rPr>
              <a:t>أهم النتائج</a:t>
            </a:r>
          </a:p>
        </p:txBody>
      </p:sp>
      <p:sp>
        <p:nvSpPr>
          <p:cNvPr id="4" name="TextBox 3"/>
          <p:cNvSpPr txBox="1"/>
          <p:nvPr/>
        </p:nvSpPr>
        <p:spPr>
          <a:xfrm>
            <a:off x="4325112" y="6400800"/>
            <a:ext cx="7315200" cy="274320"/>
          </a:xfrm>
          <a:prstGeom prst="rect">
            <a:avLst/>
          </a:prstGeom>
          <a:noFill/>
        </p:spPr>
        <p:txBody>
          <a:bodyPr wrap="square" lIns="0" rIns="0" tIns="0" bIns="0" anchor="t">
            <a:spAutoFit/>
          </a:bodyPr>
          <a:lstStyle/>
          <a:p>
            <a:pPr algn="r" rtl="1">
              <a:spcAft>
                <a:spcPts val="0"/>
              </a:spcAft>
            </a:pPr>
            <a:r>
              <a:rPr sz="1000" b="0">
                <a:solidFill>
                  <a:srgbClr val="5B636E"/>
                </a:solidFill>
                <a:latin typeface="Arial"/>
                <a:cs typeface="Arial"/>
              </a:rPr>
              <a:t>شرح كود مشروع رضا ركاب الطيران</a:t>
            </a:r>
          </a:p>
        </p:txBody>
      </p:sp>
      <p:sp>
        <p:nvSpPr>
          <p:cNvPr id="5" name="TextBox 4"/>
          <p:cNvSpPr txBox="1"/>
          <p:nvPr/>
        </p:nvSpPr>
        <p:spPr>
          <a:xfrm>
            <a:off x="548640" y="6400800"/>
            <a:ext cx="548640" cy="274320"/>
          </a:xfrm>
          <a:prstGeom prst="rect">
            <a:avLst/>
          </a:prstGeom>
          <a:noFill/>
        </p:spPr>
        <p:txBody>
          <a:bodyPr wrap="square" lIns="0" rIns="0" tIns="0" bIns="0" anchor="t">
            <a:spAutoFit/>
          </a:bodyPr>
          <a:lstStyle/>
          <a:p>
            <a:pPr algn="l">
              <a:spcAft>
                <a:spcPts val="0"/>
              </a:spcAft>
            </a:pPr>
            <a:r>
              <a:rPr sz="1000" b="0">
                <a:solidFill>
                  <a:srgbClr val="5B636E"/>
                </a:solidFill>
                <a:latin typeface="Arial"/>
                <a:cs typeface="Arial"/>
              </a:rPr>
              <a:t>12</a:t>
            </a:r>
          </a:p>
        </p:txBody>
      </p:sp>
      <p:sp>
        <p:nvSpPr>
          <p:cNvPr id="6" name="Rounded Rectangle 5"/>
          <p:cNvSpPr/>
          <p:nvPr/>
        </p:nvSpPr>
        <p:spPr>
          <a:xfrm>
            <a:off x="8092440" y="160020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1874519"/>
            <a:ext cx="2999232" cy="731520"/>
          </a:xfrm>
          <a:prstGeom prst="rect">
            <a:avLst/>
          </a:prstGeom>
          <a:noFill/>
        </p:spPr>
        <p:txBody>
          <a:bodyPr wrap="square" lIns="0" rIns="0" tIns="0" bIns="0" anchor="t">
            <a:spAutoFit/>
          </a:bodyPr>
          <a:lstStyle/>
          <a:p>
            <a:pPr algn="r" rtl="1">
              <a:spcAft>
                <a:spcPts val="0"/>
              </a:spcAft>
            </a:pPr>
            <a:r>
              <a:rPr sz="3200" b="1">
                <a:solidFill>
                  <a:srgbClr val="2A78D6"/>
                </a:solidFill>
                <a:latin typeface="Arial"/>
                <a:cs typeface="Arial"/>
              </a:rPr>
              <a:t>43.9%</a:t>
            </a:r>
          </a:p>
        </p:txBody>
      </p:sp>
      <p:sp>
        <p:nvSpPr>
          <p:cNvPr id="8" name="TextBox 7"/>
          <p:cNvSpPr txBox="1"/>
          <p:nvPr/>
        </p:nvSpPr>
        <p:spPr>
          <a:xfrm>
            <a:off x="8366760" y="2697480"/>
            <a:ext cx="2999232" cy="82296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بس من الركاب راضيين</a:t>
            </a:r>
          </a:p>
        </p:txBody>
      </p:sp>
      <p:sp>
        <p:nvSpPr>
          <p:cNvPr id="9" name="Rounded Rectangle 8"/>
          <p:cNvSpPr/>
          <p:nvPr/>
        </p:nvSpPr>
        <p:spPr>
          <a:xfrm>
            <a:off x="4325112" y="160020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1" y="1874519"/>
            <a:ext cx="2999232" cy="731520"/>
          </a:xfrm>
          <a:prstGeom prst="rect">
            <a:avLst/>
          </a:prstGeom>
          <a:noFill/>
        </p:spPr>
        <p:txBody>
          <a:bodyPr wrap="square" lIns="0" rIns="0" tIns="0" bIns="0" anchor="t">
            <a:spAutoFit/>
          </a:bodyPr>
          <a:lstStyle/>
          <a:p>
            <a:pPr algn="r" rtl="1">
              <a:spcAft>
                <a:spcPts val="0"/>
              </a:spcAft>
            </a:pPr>
            <a:r>
              <a:rPr sz="3200" b="1">
                <a:solidFill>
                  <a:srgbClr val="2A78D6"/>
                </a:solidFill>
                <a:latin typeface="Arial"/>
                <a:cs typeface="Arial"/>
              </a:rPr>
              <a:t>70% و 19%</a:t>
            </a:r>
          </a:p>
        </p:txBody>
      </p:sp>
      <p:sp>
        <p:nvSpPr>
          <p:cNvPr id="11" name="TextBox 10"/>
          <p:cNvSpPr txBox="1"/>
          <p:nvPr/>
        </p:nvSpPr>
        <p:spPr>
          <a:xfrm>
            <a:off x="4599431" y="2697480"/>
            <a:ext cx="2999232" cy="82296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رضا درجة البيزنس والسياحية</a:t>
            </a:r>
          </a:p>
        </p:txBody>
      </p:sp>
      <p:sp>
        <p:nvSpPr>
          <p:cNvPr id="12" name="Rounded Rectangle 11"/>
          <p:cNvSpPr/>
          <p:nvPr/>
        </p:nvSpPr>
        <p:spPr>
          <a:xfrm>
            <a:off x="557783" y="160020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3" y="1874519"/>
            <a:ext cx="2999232" cy="731520"/>
          </a:xfrm>
          <a:prstGeom prst="rect">
            <a:avLst/>
          </a:prstGeom>
          <a:noFill/>
        </p:spPr>
        <p:txBody>
          <a:bodyPr wrap="square" lIns="0" rIns="0" tIns="0" bIns="0" anchor="t">
            <a:spAutoFit/>
          </a:bodyPr>
          <a:lstStyle/>
          <a:p>
            <a:pPr algn="r" rtl="1">
              <a:spcAft>
                <a:spcPts val="0"/>
              </a:spcAft>
            </a:pPr>
            <a:r>
              <a:rPr sz="3200" b="1">
                <a:solidFill>
                  <a:srgbClr val="EB6834"/>
                </a:solidFill>
                <a:latin typeface="Arial"/>
                <a:cs typeface="Arial"/>
              </a:rPr>
              <a:t>10%</a:t>
            </a:r>
          </a:p>
        </p:txBody>
      </p:sp>
      <p:sp>
        <p:nvSpPr>
          <p:cNvPr id="14" name="TextBox 13"/>
          <p:cNvSpPr txBox="1"/>
          <p:nvPr/>
        </p:nvSpPr>
        <p:spPr>
          <a:xfrm>
            <a:off x="832103" y="2697480"/>
            <a:ext cx="2999232" cy="82296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رضا المسافرين لأسباب شخصية — في كل الدرجات</a:t>
            </a:r>
          </a:p>
        </p:txBody>
      </p:sp>
      <p:sp>
        <p:nvSpPr>
          <p:cNvPr id="15" name="Rounded Rectangle 14"/>
          <p:cNvSpPr/>
          <p:nvPr/>
        </p:nvSpPr>
        <p:spPr>
          <a:xfrm>
            <a:off x="8092440" y="393192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4206240"/>
            <a:ext cx="2999232" cy="731520"/>
          </a:xfrm>
          <a:prstGeom prst="rect">
            <a:avLst/>
          </a:prstGeom>
          <a:noFill/>
        </p:spPr>
        <p:txBody>
          <a:bodyPr wrap="square" lIns="0" rIns="0" tIns="0" bIns="0" anchor="t">
            <a:spAutoFit/>
          </a:bodyPr>
          <a:lstStyle/>
          <a:p>
            <a:pPr algn="r" rtl="1">
              <a:spcAft>
                <a:spcPts val="0"/>
              </a:spcAft>
            </a:pPr>
            <a:r>
              <a:rPr sz="3200" b="1">
                <a:solidFill>
                  <a:srgbClr val="2A78D6"/>
                </a:solidFill>
                <a:latin typeface="Arial"/>
                <a:cs typeface="Arial"/>
              </a:rPr>
              <a:t>+1.44</a:t>
            </a:r>
          </a:p>
        </p:txBody>
      </p:sp>
      <p:sp>
        <p:nvSpPr>
          <p:cNvPr id="17" name="TextBox 16"/>
          <p:cNvSpPr txBox="1"/>
          <p:nvPr/>
        </p:nvSpPr>
        <p:spPr>
          <a:xfrm>
            <a:off x="8366760" y="5029200"/>
            <a:ext cx="2999232" cy="82296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فجوة الصعود الإلكتروني: أقوى خدمة مؤثرة</a:t>
            </a:r>
          </a:p>
        </p:txBody>
      </p:sp>
      <p:sp>
        <p:nvSpPr>
          <p:cNvPr id="18" name="Rounded Rectangle 17"/>
          <p:cNvSpPr/>
          <p:nvPr/>
        </p:nvSpPr>
        <p:spPr>
          <a:xfrm>
            <a:off x="4325112" y="393192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9431" y="4206240"/>
            <a:ext cx="2999232" cy="731520"/>
          </a:xfrm>
          <a:prstGeom prst="rect">
            <a:avLst/>
          </a:prstGeom>
          <a:noFill/>
        </p:spPr>
        <p:txBody>
          <a:bodyPr wrap="square" lIns="0" rIns="0" tIns="0" bIns="0" anchor="t">
            <a:spAutoFit/>
          </a:bodyPr>
          <a:lstStyle/>
          <a:p>
            <a:pPr algn="r" rtl="1">
              <a:spcAft>
                <a:spcPts val="0"/>
              </a:spcAft>
            </a:pPr>
            <a:r>
              <a:rPr sz="3200" b="1">
                <a:solidFill>
                  <a:srgbClr val="EB6834"/>
                </a:solidFill>
                <a:latin typeface="Arial"/>
                <a:cs typeface="Arial"/>
              </a:rPr>
              <a:t>2.81 / 5</a:t>
            </a:r>
          </a:p>
        </p:txBody>
      </p:sp>
      <p:sp>
        <p:nvSpPr>
          <p:cNvPr id="20" name="TextBox 19"/>
          <p:cNvSpPr txBox="1"/>
          <p:nvPr/>
        </p:nvSpPr>
        <p:spPr>
          <a:xfrm>
            <a:off x="4599431" y="5029200"/>
            <a:ext cx="2999232" cy="82296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الواي فاي أقل خدمة متقيّمة</a:t>
            </a:r>
          </a:p>
        </p:txBody>
      </p:sp>
      <p:sp>
        <p:nvSpPr>
          <p:cNvPr id="21" name="Rounded Rectangle 20"/>
          <p:cNvSpPr/>
          <p:nvPr/>
        </p:nvSpPr>
        <p:spPr>
          <a:xfrm>
            <a:off x="557783" y="3931920"/>
            <a:ext cx="3547872" cy="2057400"/>
          </a:xfrm>
          <a:prstGeom prst="roundRect">
            <a:avLst>
              <a:gd name="adj" fmla="val 6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3" y="4206240"/>
            <a:ext cx="2999232" cy="731520"/>
          </a:xfrm>
          <a:prstGeom prst="rect">
            <a:avLst/>
          </a:prstGeom>
          <a:noFill/>
        </p:spPr>
        <p:txBody>
          <a:bodyPr wrap="square" lIns="0" rIns="0" tIns="0" bIns="0" anchor="t">
            <a:spAutoFit/>
          </a:bodyPr>
          <a:lstStyle/>
          <a:p>
            <a:pPr algn="r" rtl="1">
              <a:spcAft>
                <a:spcPts val="0"/>
              </a:spcAft>
            </a:pPr>
            <a:r>
              <a:rPr sz="3200" b="1">
                <a:solidFill>
                  <a:srgbClr val="EB6834"/>
                </a:solidFill>
                <a:latin typeface="Arial"/>
                <a:cs typeface="Arial"/>
              </a:rPr>
              <a:t>من 48% لـ 35%</a:t>
            </a:r>
          </a:p>
        </p:txBody>
      </p:sp>
      <p:sp>
        <p:nvSpPr>
          <p:cNvPr id="23" name="TextBox 22"/>
          <p:cNvSpPr txBox="1"/>
          <p:nvPr/>
        </p:nvSpPr>
        <p:spPr>
          <a:xfrm>
            <a:off x="832103" y="5029200"/>
            <a:ext cx="2999232" cy="822960"/>
          </a:xfrm>
          <a:prstGeom prst="rect">
            <a:avLst/>
          </a:prstGeom>
          <a:noFill/>
        </p:spPr>
        <p:txBody>
          <a:bodyPr wrap="square" lIns="0" rIns="0" tIns="0" bIns="0" anchor="t">
            <a:spAutoFit/>
          </a:bodyPr>
          <a:lstStyle/>
          <a:p>
            <a:pPr algn="r" rtl="1">
              <a:spcAft>
                <a:spcPts val="0"/>
              </a:spcAft>
            </a:pPr>
            <a:r>
              <a:rPr sz="1500" b="0">
                <a:solidFill>
                  <a:srgbClr val="1B1F24"/>
                </a:solidFill>
                <a:latin typeface="Arial"/>
                <a:cs typeface="Arial"/>
              </a:rPr>
              <a:t>الرضا من الوصول في الميعاد لتأخير أكتر من ساعة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548640" y="640080"/>
            <a:ext cx="11091672" cy="457200"/>
          </a:xfrm>
          <a:prstGeom prst="rect">
            <a:avLst/>
          </a:prstGeom>
          <a:noFill/>
        </p:spPr>
        <p:txBody>
          <a:bodyPr wrap="square" lIns="0" rIns="0" tIns="0" bIns="0" anchor="t">
            <a:spAutoFit/>
          </a:bodyPr>
          <a:lstStyle/>
          <a:p>
            <a:pPr algn="r" rtl="1">
              <a:spcAft>
                <a:spcPts val="0"/>
              </a:spcAft>
            </a:pPr>
            <a:r>
              <a:rPr sz="1800" b="1">
                <a:solidFill>
                  <a:srgbClr val="B8C7DB"/>
                </a:solidFill>
                <a:latin typeface="Arial"/>
                <a:cs typeface="Arial"/>
              </a:rPr>
              <a:t>الخلاصة</a:t>
            </a:r>
          </a:p>
        </p:txBody>
      </p:sp>
      <p:sp>
        <p:nvSpPr>
          <p:cNvPr id="3" name="TextBox 2"/>
          <p:cNvSpPr txBox="1"/>
          <p:nvPr/>
        </p:nvSpPr>
        <p:spPr>
          <a:xfrm>
            <a:off x="548640" y="1143000"/>
            <a:ext cx="11091672" cy="914400"/>
          </a:xfrm>
          <a:prstGeom prst="rect">
            <a:avLst/>
          </a:prstGeom>
          <a:noFill/>
        </p:spPr>
        <p:txBody>
          <a:bodyPr wrap="square" lIns="0" rIns="0" tIns="0" bIns="0" anchor="t">
            <a:spAutoFit/>
          </a:bodyPr>
          <a:lstStyle/>
          <a:p>
            <a:pPr algn="r" rtl="1">
              <a:spcAft>
                <a:spcPts val="0"/>
              </a:spcAft>
            </a:pPr>
            <a:r>
              <a:rPr sz="3400" b="1">
                <a:solidFill>
                  <a:srgbClr val="FFFFFF"/>
                </a:solidFill>
                <a:latin typeface="Arial"/>
                <a:cs typeface="Arial"/>
              </a:rPr>
              <a:t>الرضا بيتكسب في الكابينة وأونلاين — مش بالمسافة ولا بالنوع</a:t>
            </a:r>
          </a:p>
        </p:txBody>
      </p:sp>
      <p:sp>
        <p:nvSpPr>
          <p:cNvPr id="4" name="Rounded Rectangle 3"/>
          <p:cNvSpPr/>
          <p:nvPr/>
        </p:nvSpPr>
        <p:spPr>
          <a:xfrm>
            <a:off x="8183879" y="2743200"/>
            <a:ext cx="3474720" cy="2103120"/>
          </a:xfrm>
          <a:prstGeom prst="roundRect">
            <a:avLst>
              <a:gd name="adj" fmla="val 6000"/>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58200" y="3017520"/>
            <a:ext cx="2926080" cy="640080"/>
          </a:xfrm>
          <a:prstGeom prst="rect">
            <a:avLst/>
          </a:prstGeom>
          <a:noFill/>
        </p:spPr>
        <p:txBody>
          <a:bodyPr wrap="square" lIns="0" rIns="0" tIns="0" bIns="0" anchor="t">
            <a:spAutoFit/>
          </a:bodyPr>
          <a:lstStyle/>
          <a:p>
            <a:pPr algn="r">
              <a:spcAft>
                <a:spcPts val="0"/>
              </a:spcAft>
            </a:pPr>
            <a:r>
              <a:rPr sz="3400" b="1">
                <a:solidFill>
                  <a:srgbClr val="2A78D6"/>
                </a:solidFill>
                <a:latin typeface="Arial"/>
                <a:cs typeface="Arial"/>
              </a:rPr>
              <a:t>1</a:t>
            </a:r>
          </a:p>
        </p:txBody>
      </p:sp>
      <p:sp>
        <p:nvSpPr>
          <p:cNvPr id="6" name="TextBox 5"/>
          <p:cNvSpPr txBox="1"/>
          <p:nvPr/>
        </p:nvSpPr>
        <p:spPr>
          <a:xfrm>
            <a:off x="8458200" y="3703320"/>
            <a:ext cx="2926080" cy="457200"/>
          </a:xfrm>
          <a:prstGeom prst="rect">
            <a:avLst/>
          </a:prstGeom>
          <a:noFill/>
        </p:spPr>
        <p:txBody>
          <a:bodyPr wrap="square" lIns="0" rIns="0" tIns="0" bIns="0" anchor="t">
            <a:spAutoFit/>
          </a:bodyPr>
          <a:lstStyle/>
          <a:p>
            <a:pPr algn="r" rtl="1">
              <a:spcAft>
                <a:spcPts val="0"/>
              </a:spcAft>
            </a:pPr>
            <a:r>
              <a:rPr sz="1800" b="1">
                <a:solidFill>
                  <a:srgbClr val="FFFFFF"/>
                </a:solidFill>
                <a:latin typeface="Arial"/>
                <a:cs typeface="Arial"/>
              </a:rPr>
              <a:t>تحسين الرحلة الرقمية</a:t>
            </a:r>
          </a:p>
        </p:txBody>
      </p:sp>
      <p:sp>
        <p:nvSpPr>
          <p:cNvPr id="7" name="TextBox 6"/>
          <p:cNvSpPr txBox="1"/>
          <p:nvPr/>
        </p:nvSpPr>
        <p:spPr>
          <a:xfrm>
            <a:off x="8458200" y="4206240"/>
            <a:ext cx="2926080" cy="457200"/>
          </a:xfrm>
          <a:prstGeom prst="rect">
            <a:avLst/>
          </a:prstGeom>
          <a:noFill/>
        </p:spPr>
        <p:txBody>
          <a:bodyPr wrap="square" lIns="0" rIns="0" tIns="0" bIns="0" anchor="t">
            <a:spAutoFit/>
          </a:bodyPr>
          <a:lstStyle/>
          <a:p>
            <a:pPr algn="r" rtl="1">
              <a:spcAft>
                <a:spcPts val="0"/>
              </a:spcAft>
            </a:pPr>
            <a:r>
              <a:rPr sz="1400" b="0">
                <a:solidFill>
                  <a:srgbClr val="B8C7DB"/>
                </a:solidFill>
                <a:latin typeface="Arial"/>
                <a:cs typeface="Arial"/>
              </a:rPr>
              <a:t>واي فاي، صعود وحجز إلكتروني</a:t>
            </a:r>
          </a:p>
        </p:txBody>
      </p:sp>
      <p:sp>
        <p:nvSpPr>
          <p:cNvPr id="8" name="Rounded Rectangle 7"/>
          <p:cNvSpPr/>
          <p:nvPr/>
        </p:nvSpPr>
        <p:spPr>
          <a:xfrm>
            <a:off x="4434840" y="2743200"/>
            <a:ext cx="3474720" cy="2103120"/>
          </a:xfrm>
          <a:prstGeom prst="roundRect">
            <a:avLst>
              <a:gd name="adj" fmla="val 6000"/>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59" y="3017520"/>
            <a:ext cx="2926080" cy="640080"/>
          </a:xfrm>
          <a:prstGeom prst="rect">
            <a:avLst/>
          </a:prstGeom>
          <a:noFill/>
        </p:spPr>
        <p:txBody>
          <a:bodyPr wrap="square" lIns="0" rIns="0" tIns="0" bIns="0" anchor="t">
            <a:spAutoFit/>
          </a:bodyPr>
          <a:lstStyle/>
          <a:p>
            <a:pPr algn="r">
              <a:spcAft>
                <a:spcPts val="0"/>
              </a:spcAft>
            </a:pPr>
            <a:r>
              <a:rPr sz="3400" b="1">
                <a:solidFill>
                  <a:srgbClr val="2A78D6"/>
                </a:solidFill>
                <a:latin typeface="Arial"/>
                <a:cs typeface="Arial"/>
              </a:rPr>
              <a:t>2</a:t>
            </a:r>
          </a:p>
        </p:txBody>
      </p:sp>
      <p:sp>
        <p:nvSpPr>
          <p:cNvPr id="10" name="TextBox 9"/>
          <p:cNvSpPr txBox="1"/>
          <p:nvPr/>
        </p:nvSpPr>
        <p:spPr>
          <a:xfrm>
            <a:off x="4709159" y="3703320"/>
            <a:ext cx="2926080" cy="457200"/>
          </a:xfrm>
          <a:prstGeom prst="rect">
            <a:avLst/>
          </a:prstGeom>
          <a:noFill/>
        </p:spPr>
        <p:txBody>
          <a:bodyPr wrap="square" lIns="0" rIns="0" tIns="0" bIns="0" anchor="t">
            <a:spAutoFit/>
          </a:bodyPr>
          <a:lstStyle/>
          <a:p>
            <a:pPr algn="r" rtl="1">
              <a:spcAft>
                <a:spcPts val="0"/>
              </a:spcAft>
            </a:pPr>
            <a:r>
              <a:rPr sz="1800" b="1">
                <a:solidFill>
                  <a:srgbClr val="FFFFFF"/>
                </a:solidFill>
                <a:latin typeface="Arial"/>
                <a:cs typeface="Arial"/>
              </a:rPr>
              <a:t>تطوير الدرجة السياحية</a:t>
            </a:r>
          </a:p>
        </p:txBody>
      </p:sp>
      <p:sp>
        <p:nvSpPr>
          <p:cNvPr id="11" name="TextBox 10"/>
          <p:cNvSpPr txBox="1"/>
          <p:nvPr/>
        </p:nvSpPr>
        <p:spPr>
          <a:xfrm>
            <a:off x="4709159" y="4206240"/>
            <a:ext cx="2926080" cy="457200"/>
          </a:xfrm>
          <a:prstGeom prst="rect">
            <a:avLst/>
          </a:prstGeom>
          <a:noFill/>
        </p:spPr>
        <p:txBody>
          <a:bodyPr wrap="square" lIns="0" rIns="0" tIns="0" bIns="0" anchor="t">
            <a:spAutoFit/>
          </a:bodyPr>
          <a:lstStyle/>
          <a:p>
            <a:pPr algn="r" rtl="1">
              <a:spcAft>
                <a:spcPts val="0"/>
              </a:spcAft>
            </a:pPr>
            <a:r>
              <a:rPr sz="1400" b="0">
                <a:solidFill>
                  <a:srgbClr val="B8C7DB"/>
                </a:solidFill>
                <a:latin typeface="Arial"/>
                <a:cs typeface="Arial"/>
              </a:rPr>
              <a:t>المقاعد، الترفيه، المساحة</a:t>
            </a:r>
          </a:p>
        </p:txBody>
      </p:sp>
      <p:sp>
        <p:nvSpPr>
          <p:cNvPr id="12" name="Rounded Rectangle 11"/>
          <p:cNvSpPr/>
          <p:nvPr/>
        </p:nvSpPr>
        <p:spPr>
          <a:xfrm>
            <a:off x="685800" y="2743200"/>
            <a:ext cx="3474720" cy="2103120"/>
          </a:xfrm>
          <a:prstGeom prst="roundRect">
            <a:avLst>
              <a:gd name="adj" fmla="val 6000"/>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017520"/>
            <a:ext cx="2926080" cy="640080"/>
          </a:xfrm>
          <a:prstGeom prst="rect">
            <a:avLst/>
          </a:prstGeom>
          <a:noFill/>
        </p:spPr>
        <p:txBody>
          <a:bodyPr wrap="square" lIns="0" rIns="0" tIns="0" bIns="0" anchor="t">
            <a:spAutoFit/>
          </a:bodyPr>
          <a:lstStyle/>
          <a:p>
            <a:pPr algn="r">
              <a:spcAft>
                <a:spcPts val="0"/>
              </a:spcAft>
            </a:pPr>
            <a:r>
              <a:rPr sz="3400" b="1">
                <a:solidFill>
                  <a:srgbClr val="2A78D6"/>
                </a:solidFill>
                <a:latin typeface="Arial"/>
                <a:cs typeface="Arial"/>
              </a:rPr>
              <a:t>3</a:t>
            </a:r>
          </a:p>
        </p:txBody>
      </p:sp>
      <p:sp>
        <p:nvSpPr>
          <p:cNvPr id="14" name="TextBox 13"/>
          <p:cNvSpPr txBox="1"/>
          <p:nvPr/>
        </p:nvSpPr>
        <p:spPr>
          <a:xfrm>
            <a:off x="960120" y="3703320"/>
            <a:ext cx="2926080" cy="457200"/>
          </a:xfrm>
          <a:prstGeom prst="rect">
            <a:avLst/>
          </a:prstGeom>
          <a:noFill/>
        </p:spPr>
        <p:txBody>
          <a:bodyPr wrap="square" lIns="0" rIns="0" tIns="0" bIns="0" anchor="t">
            <a:spAutoFit/>
          </a:bodyPr>
          <a:lstStyle/>
          <a:p>
            <a:pPr algn="r" rtl="1">
              <a:spcAft>
                <a:spcPts val="0"/>
              </a:spcAft>
            </a:pPr>
            <a:r>
              <a:rPr sz="1800" b="1">
                <a:solidFill>
                  <a:srgbClr val="FFFFFF"/>
                </a:solidFill>
                <a:latin typeface="Arial"/>
                <a:cs typeface="Arial"/>
              </a:rPr>
              <a:t>عروض للمسافرين لأسباب شخصية</a:t>
            </a:r>
          </a:p>
        </p:txBody>
      </p:sp>
      <p:sp>
        <p:nvSpPr>
          <p:cNvPr id="15" name="TextBox 14"/>
          <p:cNvSpPr txBox="1"/>
          <p:nvPr/>
        </p:nvSpPr>
        <p:spPr>
          <a:xfrm>
            <a:off x="960120" y="4206240"/>
            <a:ext cx="2926080" cy="457200"/>
          </a:xfrm>
          <a:prstGeom prst="rect">
            <a:avLst/>
          </a:prstGeom>
          <a:noFill/>
        </p:spPr>
        <p:txBody>
          <a:bodyPr wrap="square" lIns="0" rIns="0" tIns="0" bIns="0" anchor="t">
            <a:spAutoFit/>
          </a:bodyPr>
          <a:lstStyle/>
          <a:p>
            <a:pPr algn="r" rtl="1">
              <a:spcAft>
                <a:spcPts val="0"/>
              </a:spcAft>
            </a:pPr>
            <a:r>
              <a:rPr sz="1400" b="0">
                <a:solidFill>
                  <a:srgbClr val="B8C7DB"/>
                </a:solidFill>
                <a:latin typeface="Arial"/>
                <a:cs typeface="Arial"/>
              </a:rPr>
              <a:t>أقل شريحة رضا</a:t>
            </a:r>
          </a:p>
        </p:txBody>
      </p:sp>
      <p:sp>
        <p:nvSpPr>
          <p:cNvPr id="16" name="TextBox 15"/>
          <p:cNvSpPr txBox="1"/>
          <p:nvPr/>
        </p:nvSpPr>
        <p:spPr>
          <a:xfrm>
            <a:off x="548640" y="5394960"/>
            <a:ext cx="11091672" cy="822960"/>
          </a:xfrm>
          <a:prstGeom prst="rect">
            <a:avLst/>
          </a:prstGeom>
          <a:noFill/>
        </p:spPr>
        <p:txBody>
          <a:bodyPr wrap="square" lIns="0" rIns="0" tIns="0" bIns="0" anchor="t">
            <a:spAutoFit/>
          </a:bodyPr>
          <a:lstStyle/>
          <a:p>
            <a:pPr algn="r" rtl="1">
              <a:spcAft>
                <a:spcPts val="0"/>
              </a:spcAft>
            </a:pPr>
            <a:r>
              <a:rPr sz="1600" b="0">
                <a:solidFill>
                  <a:srgbClr val="B8C7DB"/>
                </a:solidFill>
                <a:latin typeface="Arial"/>
                <a:cs typeface="Arial"/>
              </a:rPr>
              <a:t>البيانات اتنظفت بالكامل، واتحللت من زوايا كتير، وكل نتيجة اتأكدت باختبار إحصائي. والبيانات النظيفة هي اللي بيستخدمها الداشبورد التفاعلي على Streamlit.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Oval 1"/>
          <p:cNvSpPr/>
          <p:nvPr/>
        </p:nvSpPr>
        <p:spPr>
          <a:xfrm>
            <a:off x="-548640" y="1097280"/>
            <a:ext cx="4572000" cy="4572000"/>
          </a:xfrm>
          <a:prstGeom prst="ellipse">
            <a:avLst/>
          </a:prstGeom>
          <a:solidFill>
            <a:srgbClr val="1530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4023360"/>
            <a:ext cx="2011680" cy="20116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7680" y="2103120"/>
            <a:ext cx="7315200" cy="1097280"/>
          </a:xfrm>
          <a:prstGeom prst="rect">
            <a:avLst/>
          </a:prstGeom>
          <a:noFill/>
        </p:spPr>
        <p:txBody>
          <a:bodyPr wrap="square" lIns="0" rIns="0" tIns="0" bIns="0" anchor="t">
            <a:spAutoFit/>
          </a:bodyPr>
          <a:lstStyle/>
          <a:p>
            <a:pPr algn="r" rtl="1">
              <a:spcAft>
                <a:spcPts val="0"/>
              </a:spcAft>
            </a:pPr>
            <a:r>
              <a:rPr sz="5200" b="1">
                <a:solidFill>
                  <a:srgbClr val="FFFFFF"/>
                </a:solidFill>
                <a:latin typeface="Arial"/>
                <a:cs typeface="Arial"/>
              </a:rPr>
              <a:t>شكرًا لحسن الاستماع</a:t>
            </a:r>
          </a:p>
        </p:txBody>
      </p:sp>
      <p:sp>
        <p:nvSpPr>
          <p:cNvPr id="5" name="TextBox 4"/>
          <p:cNvSpPr txBox="1"/>
          <p:nvPr/>
        </p:nvSpPr>
        <p:spPr>
          <a:xfrm>
            <a:off x="4297680" y="3383280"/>
            <a:ext cx="7315200" cy="548640"/>
          </a:xfrm>
          <a:prstGeom prst="rect">
            <a:avLst/>
          </a:prstGeom>
          <a:noFill/>
        </p:spPr>
        <p:txBody>
          <a:bodyPr wrap="square" lIns="0" rIns="0" tIns="0" bIns="0" anchor="t">
            <a:spAutoFit/>
          </a:bodyPr>
          <a:lstStyle/>
          <a:p>
            <a:pPr algn="r" rtl="1">
              <a:spcAft>
                <a:spcPts val="0"/>
              </a:spcAft>
            </a:pPr>
            <a:r>
              <a:rPr sz="2200" b="0">
                <a:solidFill>
                  <a:srgbClr val="B8C7DB"/>
                </a:solidFill>
                <a:latin typeface="Arial"/>
                <a:cs typeface="Arial"/>
              </a:rPr>
              <a:t>الكود والبيانات والداشبورد متاحين على GitHub</a:t>
            </a:r>
          </a:p>
        </p:txBody>
      </p:sp>
      <p:sp>
        <p:nvSpPr>
          <p:cNvPr id="6" name="TextBox 5"/>
          <p:cNvSpPr txBox="1"/>
          <p:nvPr/>
        </p:nvSpPr>
        <p:spPr>
          <a:xfrm>
            <a:off x="4297680" y="4389120"/>
            <a:ext cx="7315200" cy="457200"/>
          </a:xfrm>
          <a:prstGeom prst="rect">
            <a:avLst/>
          </a:prstGeom>
          <a:noFill/>
        </p:spPr>
        <p:txBody>
          <a:bodyPr wrap="square" lIns="0" rIns="0" tIns="0" bIns="0" anchor="t">
            <a:spAutoFit/>
          </a:bodyPr>
          <a:lstStyle/>
          <a:p>
            <a:pPr algn="r">
              <a:spcAft>
                <a:spcPts val="0"/>
              </a:spcAft>
            </a:pPr>
            <a:r>
              <a:rPr sz="1800" b="0">
                <a:solidFill>
                  <a:srgbClr val="FFFFFF"/>
                </a:solidFill>
                <a:latin typeface="Arial"/>
                <a:cs typeface="Arial"/>
              </a:rPr>
              <a:t>github.com/hahmed1936/Mid-Project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