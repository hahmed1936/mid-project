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في هذا الفيديو سأشرح كود المشروع بالكامل، خلية بخلية، بنفس ترتيب النوتبوك: ماذا تفعل كل خلية، ولماذا كتبتها بهذه الطريقة.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النوتبوك مقسّم إلى ستة أقسام، وسأمر عليها بالترتيب.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الآن إلى قسم الإعداد: استيراد المكتبات، ضبط شكل الرسوم، وتثبيت الألوان والمسارات.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استيراد المكتبات. numpy و pandas للتعامل مع البيانات matplotlib و seaborn للرسوم، و scipy.stats للاختبارات الإحصائية إخفاء رسائل التحذير. والسبب: كل مكتبة لها دور محدد في المشروع إخفاء التحذيرات يجعل النوتبوك نظيفًا ومقروءًا.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ضبط الشكل والثوابت. ثيم whitegrid وحجم افتراضي للرسوم وعناوين عريضة، وإظهار كل الأعمدة ألوان ثابتة: أزرق = راضٍ، برتقالي = غير راضٍ مسارات الملفات في ثوابت DATA_PATH و CLEAN_DATA_PATH. والسبب: نفس اللون لنفس الفئة في كل الرسوم فلا يتلخبط القارئ الثوابت تمنع تكرار القيم وتسهّل التعديل من مكان واحد.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الآن إلى قسم جمع البيانات وتقييمها: تحميل الملف، ثم البحث عن كل مشاكل الجودة قبل لمس البيانات.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تحميل البيانات. قراءة ملف Data.csv في DataFrame اسمه raw_df طباعة عدد الصفوف والأعمدة وعرض أول 5 صفوف. والسبب: أول نظرة على البيانات والتأكد أن التحميل صحيح: 25,976 صفًا و 25 عمودًا.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معلومات الأعمدة. info() تعرض نوع كل عمود وعدد القيم غير الفارغة. والسبب: كشفت أن Arrival Delay فيه 83 قيمة ناقصة ومخزّن كرقم عشري float.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دالة تقرير الجودة. دالة quality_report ترجع جدولًا لكل عمود: النوع، عدد ونسبة القيم الناقصة، عدد القيم المختلفة، ومثال. والسبب: دالة نعيد استخدامها قبل التنظيف وبعده للمقارنة استخدام الدوال لتجنب التكرار من معايير التقييم.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فحص التكرار. عدد الصفوف المكررة، وعدد أرقام id المكررة التحقق هل عمود Unnamed: 0 مجرد ترقيم من 0 إلى n-1. والسبب: النتيجة: لا يوجد أي تكرار Unnamed: 0 ليس له معنى، لذلك سيُحذف في التنظيف.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فحص القيم النصية. value_counts لكل عمود نصي لعرض القيم الموجودة وعددها. والسبب: كشف التسميات غير المتسقة: disloyal Customer بحرف صغير، Business travel، والاختصار Eco.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الملخص الإحصائي. describe() تعطي المتوسط والانحراف وأقل وأكبر قيمة والربيعيات لكل عمود رقمي، و .T تقلب الجدول. والسبب: لاحظنا أن أقل تقييم = 0 رغم أن المقياس من 1 إلى 5 وأن أكبر تأخير 1,128 دقيقة.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التقييمات بصفر. تحديد أعمدة الخدمات الـ 14 بالـ slicing بين أول وآخر اسم عدّ الأصفار في كل خدمة وترتيبها. والسبب: الصفر يعني «لا ينطبق»؛ لو تُرك سيخفض المتوسط بشكل خاطئ أكثرها: ملاءمة المواعيد (1,381) والحجز أونلاين (1,195).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رسم القيم المتطرفة. حلقة for ترسم box plot لكل عمود من الأعمدة الرقمية الأربعة في شكل واحد. والسبب: الـ box plot أسرع طريقة لرؤية القيم المتطرفة بالعين حلقة واحدة بدل كتابة نفس الكود أربع مرات.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عدّ القيم المتطرفة. دالة تحسب حدود IQR: من Q1 − 1.5×IQR إلى Q3 + 1.5×IQR، وتعد القيم خارجها تطبيقها على الأعمدة الأربعة في Series واحدة. والسبب: نحوّل ما رأيناه في الرسم إلى أرقام: حوالي 3,500 قيمة متطرفة في التأخير و 584 في المسافة.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هل التأخيرات الكبيرة حقيقية؟. حساب معامل الارتباط بين تأخير الإقلاع وتأخير الوصول. والسبب: الارتباط 0.965: الاثنان يتحركان معًا، إذن القيم الكبيرة حقيقية وليست أخطاء إدخال وهذا سيبرر لاحقًا طريقة ملء القيم الناقصة.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الآن إلى قسم تنظيف البيانات: إصلاح كل مشكلة بطريقة Define → Code → Test وحفظ البيانات النظيفة.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نسخة للعمل عليها. إنشاء clean_df كنسخة من raw_df. والسبب: نحافظ على البيانات الأصلية كما هي للمقارنة والرجوع إليها.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حذف العمود بلا فائدة. حذف Unnamed: 0 ثم اختبار ذلك بـ assert وطباعة عدد الأعمدة. والسبب: Define → Code → Test: كل إصلاح يتبعه اختبار يضمن أنه نجح.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توحيد أسماء الأعمدة. دالة to_snake_case: حروف صغيرة، استبدال / و - بمسافة، حذف in minutes، ثم المسافات إلى _ تطبيقها على كل الأعمدة بـ list comprehension. والسبب: أسماء بدون مسافات أسهل في الكتابة وأقل أخطاء دالة واحدة بدل تعديل 24 اسمًا يدويًا.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قائمة الخدمات وأسماء الرسوم. حفظ أسماء أعمدة الخدمات الجديدة في service_columns دالة pretty_name تعيد الاسم إلى شكل مقروء مثل Seat Comfort. والسبب: القائمة تُستخدم في كل التحليل الرسوم تحتاج عناوين مفهومة وليس snake_case.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قاموس التسميات الموحدة. قاموس لكل عمود: القيمة القديمة ← القيمة الجديدة مثال: disloyal Customer ← Disloyal Customer و Eco ← Economy. والسبب: كل التعديلات في مكان واحد واضح وسهل المراجعة.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دالة توحيد التسميات. standardise_labels: لكل عمود تبحث عن قيم غير موجودة في القاموس، ولو وجدت ترفع خطأ، ثم تطبق map الاختبار يطبع القيم الفريدة بعد التعديل. والسبب: map تحوّل أي قيمة غير معرّفة إلى NaN بصمت؛ هذا الفحص يمنع فقدان بيانات دون أن ننتبه.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ملء التأخير الناقص. ملء القيم الناقصة في arrival_delay بقيمة departure_delay لنفس الراكب، ثم التحويل إلى int اختبار: عدد الناقص قبل وبعد، ونوع العمود. والسبب: الارتباط 0.96، فتأخير الإقلاع أدق تقدير من المتوسط أو الوسيط التأخير بالدقائق عدد صحيح.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الصفر = لا ينطبق. عمود جديد not_applicable_count يعد إجابات «لا ينطبق» لكل راكب replace(0, np.nan) في أعمدة الخدمات، ثم التأكد أن المدى أصبح من 1 إلى 5. والسبب: قيم NaN تُتجاهل تلقائيًا في حساب المتوسط ولم نفقد المعلومة لأننا عددناها أولًا.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إضافة أعمدة جديدة. pd.cut لتقسيم العمر إلى 5 فئات، والمسافة إلى 3، والتأخير إلى 4 متوسط تقييم الخدمات لكل راكب، و is_satisfied = 1 أو 0. والسبب: الفئات تسهّل مقارنة الشرائح مع is_satisfied تصبح نسبة الرضا = المتوسط mean مباشرة.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تحويل النصوص إلى Category. تحويل الأعمدة النصية إلى Categorical بترتيب محدد، والدرجة مرتبة: Economy ثم Economy Plus ثم Business قياس الذاكرة قبل وبعد. والسبب: الترتيب يظهر صحيحًا في الجداول والرسوم الذاكرة انخفضت من 6.9 إلى 4.6 ميجابايت.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الفحص النهائي. طباعة الأبعاد وتشغيل quality_report مرة أخرى على البيانات النظيفة. والسبب: التأكد أن الناقص الوحيد هو NaN المقصودة (لا ينطبق) النتيجة 25,976 صفًا و 30 عمودًا.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حفظ البيانات النظيفة. حفظ clean_df في Data_Cleaned.csv بدون عمود index. والسبب: لوحة Streamlit تقرأ هذا الملف، فيبقى التنظيف منفصلًا عن العرض.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الآن إلى قسم التحليل أحادي المتغير: دراسة كل متغير وحده: الرضا، الشرائح، العمر، المسافة، التأخير، الخدمات.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الرضا العام برسم Pie. جدول بعدد ونسبة كل فئة رضا رسم pie بالألوان الثابتة من القاموس. والسبب: يجيب السؤال الأول: 43.9% فقط راضون الـ pie مناسب لأن عندنا فئتين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شرائح الركاب برسم Bar. دالة plot_category_counts ترسم أعمدة لعمود فئوي ومكتوب على كل عمود العدد والنسبة حلقة ترسمها لأربعة أعمدة في شبكة 2×2. والسبب: دالة واحدة بدل تكرار نفس الكود أربع مرات الأرقام على الأعمدة تغني عن تخمين القيم.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العمر والمسافة برسم Histogram. دالة plot_numeric_distribution: histogram مع منحنى KDE وخطين للمتوسط والوسيط تطبيقها على العمر والمسافة، ثم جدول mean و median و std و skew. والسبب: الفرق بين المتوسط والوسيط يكشف الالتواء المسافة ملتوية لليمين: الوسيط 849 والمتوسط 1,194.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التأخير بمقياس لوغاريتمي. histogram لكل عمود تأخير مع محور y لوغاريتمي set_yscale("log"). والسبب: أغلب القيم صفر وقليل منها كبير جدًا؛ بدون log لن يظهر إلا عمود واحد.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نسبة الالتزام بالمواعيد. نسبة الرحلات بدون تأخير، وتوزيع فئات التأخير كنسب مئوية. والسبب: 56.3% من الرحلات تصل في موعدها، و 6.8% تتأخر أكثر من ساعة.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متوسط تقييم الخدمات. متوسط كل خدمة مرتب في أعمدة أفقية، البرتقالي للخدمات تحت المتوسط العام خط متقطع للمتوسط العام والقيمة مكتوبة على كل عمود. والسبب: يوضح أضعف الخدمات: الواي فاي 2.81 والحجز أونلاين 2.89.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توزيع التقييمات برسم Heatmap. لكل خدمة نسبة كل تقييم من 1 إلى 5 بـ apply و value_counts(normalize=True) عرضها كخريطة حرارية. والسبب: المتوسط وحده يخفي التوزيع؛ الخريطة توضح كم شخصًا أعطى 1 أو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الآن إلى قسم التحليل ثنائي ومتعدد المتغيرات: ربط المتغيرات بالرضا والإجابة على الأسئلة مع اختبارات إحصائية.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دوال الاختبارات الإحصائية. chi_square_test: جدول تقاطعي ثم chi2_contingency، وحساب Cramér's V لقوة العلاقة mann_whitney_test: يقارن عمودًا رقميًا بين الراضين وغير الراضين ويرجع الوسيطين و p-value. والسبب: كل استنتاج يحتاج دليلًا إحصائيًا Mann-Whitney لأن البيانات ملتوية وليست طبيعية، و V لأن p وحدها لا تقيس قوة العلاقة.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دوال نسبة الرضا والرسم المكدس. satisfaction_rate: groupby ثم متوسط is_satisfied × 100 مع عدد الركاب plot_satisfaction_split: أعمدة مكدسة 100% والنسب مكتوبة داخلها. والسبب: دوال تُستخدم في كل الأسئلة من الثاني إلى السادس بدل تكرار الكود.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الرضا حسب الشرائح. حلقة ترسم plot_satisfaction_split للنوع والولاء ونوع السفر والدرجة، مع مفتاح ألوان مشترك. والسبب: مقارنة مباشرة: البيزنس 70% مقابل الإيكونومي 19%، والنوع بلا فرق.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الاختبارات. تطبيق chi_square_test على 7 أعمدة في DataFrame واحد عمود significant عندما p &lt; 0.05، ثم الترتيب حسب Cramér's V. والسبب: يرتب العوامل حسب قوتها: الدرجة 0.50، نوع السفر 0.45 النوع غير معنوي (p = 0.24).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العمر والرضا برسم Violin. violin plot لتوزيع العمر لكل مجموعة رضا مع خطوط الربيعيات. والسبب: يوضح شكل التوزيع كاملًا وليس المتوسط فقط: الراضون أكبر سنًا.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نسبة الرضا عبر الأعمار. نسبة الرضا لكل سنة عمر مع متوسط متحرك 5 سنوات وخط للمتوسط العام جدول الفئات العمرية واختبار Mann-Whitney للعمر. والسبب: المتوسط المتحرك يزيل التذبذب الاختبار يؤكد الفرق: وسيط 43 مقابل 37 و p &lt; 0.001.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مقارنة الخدمات. متوسط كل خدمة لكل مجموعة رضا، وعمود gap للفرق ارتباط Spearman بين كل خدمة و is_satisfied. والسبب: Spearman مناسب للتقييمات الترتيبية أكبر فجوة: الصعود أونلاين +1.44.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رسم الفجوة Dumbbell. لكل خدمة نقطتان (برتقالي وأزرق) يربطهما خط، وقيمة الفجوة مكتوبة بجانبها. والسبب: رسم الـ dumbbell يوضح حجم الفجوة أفضل من أعمدة متجاورة.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أثر كل درجة تقييم. لأهم 4 خدمات: نسبة الرضا عند كل تقييم من 1 إلى 5 كخطوط. والسبب: يظهر القفزة عند تقييم 4 و 5 من قيّم الواي فاي بـ 5 راضٍ بنسبة 98.8%.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مصفوفة الارتباط. ارتباط Spearman بين كل الخدمات و is_satisfied قناع np.triu لإخفاء النصف المكرر، وألوان RdBu متباعدة حول الصفر. والسبب: يكشف الخدمات المرتبطة ببعضها، والخدمات الأقوى ارتباطًا بالرضا.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الرضا حسب التأخير. نسبة الرضا لكل فئة تأخير وعرضها كأعمدة والقيم مكتوبة عليها. والسبب: يجيب السؤال الرابع: من 47.9% في الموعد إلى 35.2% بعد أكثر من ساعة.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الإقلاع مقابل الوصول برسم Scatter. scatter لعينة 4,000 رحلة متأخرة بمقياس لوغاريتمي ملونة بالرضا اختبار Mann-Whitney لعمودي التأخير. والسبب: العينة تمنع تكدّس النقاط الفرق معنوي لكن ضعيف (V ≈ 0.10).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المسافة حسب الدرجة برسم Box. box plot لمسافة الرحلة لكل درجة، مقسمة حسب الرضا. والسبب: يظهر أن رحلات البيزنس أطول بكثير من الإيكونومي.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المسافة × الدرجة برسم Heatmap. pivot_table لنسبة الرضا لكل مزيج مسافة × درجة، معروضة كخريطة حرارية جدول الوسيط لكل درجة واختبار المسافة. والسبب: يكشف العامل الخفي: داخل الإيكونومي المسافة لا تؤثر تقريبًا (17–21%).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نوع السفر × الدرجة. جدولا pivot: واحد للنسبة وآخر لعدد الركاب، ودمجهما كنص على كل خلية في الخريطة. والسبب: كتابة n على كل خلية تمنع الاستنتاج من مجموعات صغيرة.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الولاء × نوع السفر. groupby على عمودين ثم unstack لرسم أعمدة مجمعة والقيم مكتوبة عليها. والسبب: يوضح أن الولاء لا يساعد المسافرين لأسباب شخصية: 10% فقط راضون.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نظرة متعددة المتغيرات. عينة 6,000 راكب وثلاثة رسوم scatter (رسم لكل درجة): العمر مقابل متوسط التقييم، ملونة بالرضا. والسبب: أربعة متغيرات في رسم واحد في كل درجة، الراضون أعلى في متوسط التقييم.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الآن إلى قسم الخلاصة: تلخيص قوة كل عامل في جدول ورسم ختامي.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جدول العوامل. DataFrame بالعوامل وقيمة Cramér's V لكل منها بإعادة استخدام chi_square_test تصنيف القوة بـ pd.cut: ضئيل، ضعيف، متوسط، قوي. والسبب: ملخص رقمي واحد لكل النتائج.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ما الذي يؤثر أكثر؟. أعمدة أفقية مرتبة لقوة كل عامل مع القيمة مكتوبة. والسبب: رسم ختامي يجيب على السؤال الأهم في نظرة واحدة.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هذا كل الكود. النوتبوك يعمل من البداية للنهاية بدون أخطاء، ويستخدم الدوال لتجنب التكرار، وكل خطوة موثقة. شكرًا لحسن الاستماع.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-1097280"/>
            <a:ext cx="5852160" cy="58521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566160"/>
            <a:ext cx="3108960" cy="310896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26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  <a:cs typeface="Arial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cs typeface="Arial"/>
              </a:rPr>
              <a:t>خلية كود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i="0">
                <a:solidFill>
                  <a:srgbClr val="B8C7DB"/>
                </a:solidFill>
                <a:latin typeface="Arial"/>
                <a:cs typeface="Arial"/>
              </a:rPr>
              <a:t>المشروع المرحلي  ·  شرح الكود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3736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Arial"/>
                <a:cs typeface="Arial"/>
              </a:rPr>
              <a:t>شرح الكود بالكامل
خلية بخلية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749039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0" i="0">
                <a:solidFill>
                  <a:srgbClr val="B8C7DB"/>
                </a:solidFill>
                <a:latin typeface="Arial"/>
                <a:cs typeface="Arial"/>
              </a:rPr>
              <a:t>ماذا يفعل كل جزء من الكود؟ ولماذا كُتب بهذه الطريقة؟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1206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  <a:cs typeface="Arial"/>
              </a:rPr>
              <a:t>هشام محمد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557784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B8C7DB"/>
                </a:solidFill>
                <a:latin typeface="Arial"/>
                <a:cs typeface="Arial"/>
              </a:rPr>
              <a:t>Epsilon AI  ·  برنامج علوم البيانات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المحتوى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خريطة النوتبوك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11140135" y="150876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10735" y="148132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0B1F3A"/>
                </a:solidFill>
                <a:latin typeface="Arial"/>
                <a:cs typeface="Arial"/>
              </a:rPr>
              <a:t>الإعداد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0735" y="1837943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استيراد المكتبات، ضبط شكل الرسوم، وتثبيت الألوان والمسارات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383" y="1527048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4263" y="1627631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Arial"/>
                <a:cs typeface="Arial"/>
              </a:rPr>
              <a:t>الخلايا من 1 إلى 1</a:t>
            </a:r>
          </a:p>
        </p:txBody>
      </p:sp>
      <p:sp>
        <p:nvSpPr>
          <p:cNvPr id="11" name="Oval 10"/>
          <p:cNvSpPr/>
          <p:nvPr/>
        </p:nvSpPr>
        <p:spPr>
          <a:xfrm>
            <a:off x="11140135" y="2295144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0735" y="226771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0B1F3A"/>
                </a:solidFill>
                <a:latin typeface="Arial"/>
                <a:cs typeface="Arial"/>
              </a:rPr>
              <a:t>جمع البيانات وتقييمها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0735" y="2624327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تحميل الملف، ثم البحث عن كل مشاكل الجودة قبل لمس البيانات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" y="2313432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4263" y="2414015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Arial"/>
                <a:cs typeface="Arial"/>
              </a:rPr>
              <a:t>الخلايا من 2 إلى 11</a:t>
            </a:r>
          </a:p>
        </p:txBody>
      </p:sp>
      <p:sp>
        <p:nvSpPr>
          <p:cNvPr id="16" name="Oval 15"/>
          <p:cNvSpPr/>
          <p:nvPr/>
        </p:nvSpPr>
        <p:spPr>
          <a:xfrm>
            <a:off x="11140135" y="3081528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0735" y="305409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0B1F3A"/>
                </a:solidFill>
                <a:latin typeface="Arial"/>
                <a:cs typeface="Arial"/>
              </a:rPr>
              <a:t>تنظيف البيانات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0735" y="341071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إصلاح كل مشكلة بطريقة Define → Code → Test وحفظ البيانات النظيفة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1383" y="3099816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" y="3200400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Arial"/>
                <a:cs typeface="Arial"/>
              </a:rPr>
              <a:t>الخلايا من 12 إلى 22</a:t>
            </a:r>
          </a:p>
        </p:txBody>
      </p:sp>
      <p:sp>
        <p:nvSpPr>
          <p:cNvPr id="21" name="Oval 20"/>
          <p:cNvSpPr/>
          <p:nvPr/>
        </p:nvSpPr>
        <p:spPr>
          <a:xfrm>
            <a:off x="11140135" y="3867912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0735" y="3840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0B1F3A"/>
                </a:solidFill>
                <a:latin typeface="Arial"/>
                <a:cs typeface="Arial"/>
              </a:rPr>
              <a:t>التحليل أحادي المتغير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0735" y="419709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دراسة كل متغير وحده: الرضا، الشرائح، العمر، المسافة، التأخير، الخدمات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1383" y="3886200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" y="3986784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Arial"/>
                <a:cs typeface="Arial"/>
              </a:rPr>
              <a:t>الخلايا من 23 إلى 29</a:t>
            </a:r>
          </a:p>
        </p:txBody>
      </p:sp>
      <p:sp>
        <p:nvSpPr>
          <p:cNvPr id="26" name="Oval 25"/>
          <p:cNvSpPr/>
          <p:nvPr/>
        </p:nvSpPr>
        <p:spPr>
          <a:xfrm>
            <a:off x="11140135" y="4654296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0735" y="462686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0B1F3A"/>
                </a:solidFill>
                <a:latin typeface="Arial"/>
                <a:cs typeface="Arial"/>
              </a:rPr>
              <a:t>التحليل ثنائي ومتعدد المتغيرات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0735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ربط المتغيرات بالرضا والإجابة على الأسئلة مع اختبارات إحصائية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1383" y="4672583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" y="4773168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Arial"/>
                <a:cs typeface="Arial"/>
              </a:rPr>
              <a:t>الخلايا من 30 إلى 41</a:t>
            </a:r>
          </a:p>
        </p:txBody>
      </p:sp>
      <p:sp>
        <p:nvSpPr>
          <p:cNvPr id="31" name="Oval 30"/>
          <p:cNvSpPr/>
          <p:nvPr/>
        </p:nvSpPr>
        <p:spPr>
          <a:xfrm>
            <a:off x="11140135" y="5440679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0735" y="5413247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 i="0">
                <a:solidFill>
                  <a:srgbClr val="0B1F3A"/>
                </a:solidFill>
                <a:latin typeface="Arial"/>
                <a:cs typeface="Arial"/>
              </a:rPr>
              <a:t>الخلاصة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0735" y="576986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0" i="0">
                <a:solidFill>
                  <a:srgbClr val="5B636E"/>
                </a:solidFill>
                <a:latin typeface="Arial"/>
                <a:cs typeface="Arial"/>
              </a:rPr>
              <a:t>تلخيص قوة كل عامل في جدول ورسم ختامي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1383" y="5458967"/>
            <a:ext cx="3776472" cy="56692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263" y="5559551"/>
            <a:ext cx="3410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i="0">
                <a:solidFill>
                  <a:srgbClr val="0B1F3A"/>
                </a:solidFill>
                <a:latin typeface="Arial"/>
                <a:cs typeface="Arial"/>
              </a:rPr>
              <a:t>الخلايا من 42 إلى 43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09904" y="1371600"/>
            <a:ext cx="4023360" cy="40233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09904" y="260604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0" b="1" i="0">
                <a:solidFill>
                  <a:srgbClr val="2A78D6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215" y="2377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قسم من النوتبوك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9215" y="283464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cs typeface="Arial"/>
              </a:rPr>
              <a:t>الإعداد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9215" y="39319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900" b="0" i="0">
                <a:solidFill>
                  <a:srgbClr val="B8C7DB"/>
                </a:solidFill>
                <a:latin typeface="Arial"/>
                <a:cs typeface="Arial"/>
              </a:rPr>
              <a:t>استيراد المكتبات، ضبط شكل الرسوم، وتثبيت الألوان والمسارات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الإعداد · الخلية 1 من 43 · الجزء 1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استيراد المكتبات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90779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63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Core data handling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import numpy as np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import pandas as pd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Visualisation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import matplotlib.pyplot as plt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import seaborn as sns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Statistics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from scipy import stats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import warnings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warnings.filterwarnings("ignore")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507992"/>
            <a:ext cx="5486400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645152"/>
            <a:ext cx="502920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numpy و pandas للتعامل مع البيانات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matplotlib و seaborn للرسوم، و scipy.stats للاختبارات الإحصائية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إخفاء رسائل التحذير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507992"/>
            <a:ext cx="5468112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645152"/>
            <a:ext cx="5010912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كل مكتبة لها دور محدد في المشروع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إخفاء التحذيرات يجعل النوتبوك نظيفًا ومقروءًا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الإعداد · الخلية 1 من 43 · الجزء 2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ضبط الشكل والثوابت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2918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Consistent, readable plot style for the whole notebook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sns.set_theme(style="whitegrid", context="notebook")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plt.rcParams["figure.figsize"] = (10, 5)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plt.rcParams["axes.titleweight"] = "bold"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pd.set_option("display.max_columns", None)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Fixed colours: the same category always gets the same colour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SATISFIED_COLOR = "#2a78d6"      # blue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DISSATISFIED_COLOR = "#eb6834"   # orange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SATISFACTION_PALETTE = {"Satisfied": SATISFIED_COLOR, "Neutral or Dissatisfied": DISSATISFIED_COLOR}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CATEGORY_COLORS = ["#2a78d6", "#eb6834", "#1baf7a", "#eda100", "#e87ba4", "#008300", "#4a3aa7", "#e34948"]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DATA_PATH = "Data.csv"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CLEAN_DATA_PATH = "Data_Cleaned.csv"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print("Libraries loaded successfully ✔")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892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0292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ثيم whitegrid وحجم افتراضي للرسوم وعناوين عريضة، وإظهار كل الأعمدة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ألوان ثابتة: أزرق = راضٍ، برتقالي = غير راضٍ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مسارات الملفات في ثوابت DATA_PATH و CLEAN_DATA_PATH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8920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029200"/>
            <a:ext cx="5010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نفس اللون لنفس الفئة في كل الرسوم فلا يتلخبط القارئ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الثوابت تمنع تكرار القيم وتسهّل التعديل من مكان واحد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09904" y="1371600"/>
            <a:ext cx="4023360" cy="40233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09904" y="260604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0" b="1" i="0">
                <a:solidFill>
                  <a:srgbClr val="2A78D6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215" y="2377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قسم من النوتبوك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9215" y="283464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cs typeface="Arial"/>
              </a:rPr>
              <a:t>جمع البيانات وتقييمها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9215" y="39319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900" b="0" i="0">
                <a:solidFill>
                  <a:srgbClr val="B8C7DB"/>
                </a:solidFill>
                <a:latin typeface="Arial"/>
                <a:cs typeface="Arial"/>
              </a:rPr>
              <a:t>تحميل الملف، ثم البحث عن كل مشاكل الجودة قبل لمس البيانات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2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تحميل البيانات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raw_df = pd.read_csv(DATA_PATH)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print(f"Rows: {raw_df.shape[0]:,} | Columns: {raw_df.shape[1]}")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raw_df.head()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8775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72491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قراءة ملف Data.csv في DataFrame اسمه raw_df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طباعة عدد الصفوف والأعمدة وعرض أول 5 صفوف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8775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72491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أول نظرة على البيانات والتأكد أن التحميل صحيح: 25,976 صفًا و 25 عمودًا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3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معلومات الأعمدة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raw_df.info()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146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65176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info() تعرض نوع كل عمود وعدد القيم غير الفارغة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1460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65176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كشفت أن Arrival Delay فيه 83 قيمة ناقصة ومخزّن كرقم عشري float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4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دالة تقرير الجودة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715768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def quality_report(df):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"""Return a per-column quality summary: dtype, missing values, unique values and a sample value."""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report = pd.DataFrame({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"dtype": df.dtypes.astype(str),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"missing": df.isna().sum(),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"missing_%": (df.isna().mean() * 100).round(2),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"unique": df.nunique(),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"sample": df.iloc[0],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})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return report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quality_report(raw_df)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315968"/>
            <a:ext cx="5486400" cy="1947671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453128"/>
            <a:ext cx="5029200" cy="1719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quality_report ترجع جدولًا لكل عمود: النوع، عدد ونسبة القيم الناقصة، عدد القيم المختلفة، ومثال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315968"/>
            <a:ext cx="5468112" cy="1947671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453128"/>
            <a:ext cx="5010912" cy="1719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نعيد استخدامها قبل التنظيف وبعده للمقارنة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استخدام الدوال لتجنب التكرار من معايير التقييم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5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فحص التكرار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print("Fully duplicated rows        :", raw_df.duplicated().sum())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print("Duplicated passenger ids     :", raw_df["id"].duplicated().sum())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print("Is 'Unnamed: 0' just 0..n-1? :", raw_df["Unnamed: 0"].equals(pd.Series(range(len(raw_df)))))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8775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72491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عدد الصفوف المكررة، وعدد أرقام id المكررة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التحقق هل عمود Unnamed: 0 مجرد ترقيم من 0 إلى n-1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8775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72491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النتيجة: لا يوجد أي تكرار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Unnamed: 0 ليس له معنى، لذلك سيُحذف في التنظيف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6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فحص القيم النصية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categorical_columns = ["Gender", "Customer Type", "Type of Travel", "Class", "satisfaction"]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column in categorical_columns: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print(f"{column}: {raw_df[column].value_counts().to_dict()}")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8775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72491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value_counts لكل عمود نصي لعرض القيم الموجودة وعددها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8775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72491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كشف التسميات غير المتسقة: disloyal Customer بحرف صغير، Business travel، والاختصار Eco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7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الملخص الإحصائي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raw_df.describe().T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146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65176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describe() تعطي المتوسط والانحراف وأقل وأكبر قيمة والربيعيات لكل عمود رقمي، و .T تقلب الجدول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1460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65176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لاحظنا أن أقل تقييم = 0 رغم أن المقياس من 1 إلى 5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وأن أكبر تأخير 1,128 دقيقة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8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التقييمات بصفر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755648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The 14 rating columns sit between 'Flight Distance' and 'Departure Delay in Minutes'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service_columns = list(raw_df.loc[:, "Inflight wifi service":"Cleanliness"].columns)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A rating of 0 is outside the 1-5 scale: in this survey it means "Not Applicable"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zero_ratings = (raw_df[service_columns] == 0).sum().sort_values(ascending=False)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print("Number of '0 = Not Applicable' ratings per service:")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zero_ratings[zero_ratings &gt; 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355848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493008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تحديد أعمدة الخدمات الـ 14 بالـ slicing بين أول وآخر اسم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عدّ الأصفار في كل خدمة وترتيبها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355848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493008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الصفر يعني «لا ينطبق»؛ لو تُرك سيخفض المتوسط بشكل خاطئ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أكثرها: ملاءمة المواعيد (1,381) والحجز أونلاين (1,195)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9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رسم القيم المتطرفة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33172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continuous_columns = ["Age", "Flight Distance", "Departure Delay in Minutes", "Arrival Delay in Minutes"]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4, figsize=(16, 4))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axis, column in zip(axes, continuous_columns):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sns.boxplot(y=raw_df[column], ax=axis, color=SATISFIED_COLOR, linewidth=1)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axis.set_title(column, fontsize=10)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axis.set_ylabel("")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fig.suptitle("Box plots of continuous columns (before cleaning)", fontweight="bold")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9319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06908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حلقة for ترسم box plot لكل عمود من الأعمدة الرقمية الأربعة في شكل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93192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06908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الـ box plot أسرع طريقة لرؤية القيم المتطرفة بالعين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حلقة واحدة بدل كتابة نفس الكود أربع مرات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10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عدّ القيم المتطرفة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94767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67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def count_iqr_outliers(series):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"""Count values lying outside 1.5 * IQR of a numeric series."""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q1, q3 = series.quantile([0.25, 0.75])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iqr = q3 - q1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return int(((series &lt; q1 - 1.5 * iqr) | (series &gt; q3 + 1.5 * iqr)).sum())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pd.Series({column: count_iqr_outliers(raw_df[column].dropna()) for column in continuous_columns},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name="IQR outliers")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54787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68503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تحسب حدود IQR: من Q1 − 1.5×IQR إلى Q3 + 1.5×IQR، وتعد القيم خارجها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تطبيقها على الأعمدة الأربعة في Series واحدة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54787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68503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نحوّل ما رأيناه في الرسم إلى أرقام: حوالي 3,500 قيمة متطرفة في التأخير و 584 في المسافة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جمع البيانات وتقييمها · الخلية 11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هل التأخيرات الكبيرة حقيقية؟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Are the delay outliers real? Departure and arrival delays should move together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delay_corr = raw_df["Departure Delay in Minutes"].corr(raw_df["Arrival Delay in Minutes"])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print(f"Correlation between departure and arrival delay: {delay_corr:.3f}")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8775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72491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حساب معامل الارتباط بين تأخير الإقلاع وتأخير الوصول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8775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72491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الارتباط 0.965: الاثنان يتحركان معًا، إذن القيم الكبيرة حقيقية وليست أخطاء إدخال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وهذا سيبرر لاحقًا طريقة ملء القيم الناقصة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09904" y="1371600"/>
            <a:ext cx="4023360" cy="40233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09904" y="260604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0" b="1" i="0">
                <a:solidFill>
                  <a:srgbClr val="2A78D6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215" y="2377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قسم من النوتبوك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9215" y="283464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cs typeface="Arial"/>
              </a:rPr>
              <a:t>تنظيف البيانات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9215" y="39319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900" b="0" i="0">
                <a:solidFill>
                  <a:srgbClr val="B8C7DB"/>
                </a:solidFill>
                <a:latin typeface="Arial"/>
                <a:cs typeface="Arial"/>
              </a:rPr>
              <a:t>إصلاح كل مشكلة بطريقة Define → Code → Test وحفظ البيانات النظيفة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12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نسخة للعمل عليها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 = raw_df.copy()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146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65176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إنشاء clean_df كنسخة من raw_df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1460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65176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نحافظ على البيانات الأصلية كما هي للمقارنة والرجوع إليها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13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حذف العمود بلا فائدة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 = clean_df.drop(columns=["Unnamed: 0"])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Test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assert "Unnamed: 0" not in clean_df.columns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print("Columns now:", clean_df.shape[1])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9718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10896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حذف Unnamed: 0 ثم اختبار ذلك بـ assert وطباعة عدد الأعمدة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97180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10896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Define → Code → Test: كل إصلاح يتبعه اختبار يضمن أنه نجح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14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توحيد أسماء الأعمدة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523744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249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def to_snake_case(name):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"""Convert a column name such as 'Departure/Arrival time convenient' to 'departure_arrival_time_convenient'."""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return (name.strip().lower()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.replace("/", " ").replace("-", " 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.replace(" in minutes", "")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.replace(" ", "_"))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clean_df.columns = [to_snake_case(column) for column in clean_df.columns]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Test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print(clean_df.columns.tolist())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123944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261104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to_snake_case: حروف صغيرة، استبدال / و - بمسافة، حذف in minutes، ثم المسافات إلى _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تطبيقها على كل الأعمدة بـ list comprehension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123944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261104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أسماء بدون مسافات أسهل في الكتابة وأقل أخطاء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واحدة بدل تعديل 24 اسمًا يدويًا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15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قائمة الخدمات وأسماء الرسوم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94767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67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Keep the cleaned names of the rating columns for later use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service_columns = list(clean_df.loc[:, "inflight_wifi_service":"cleanliness"].columns)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def pretty_name(column):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"""Turn a snake_case column back into a readable label for charts."""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return column.replace("_", " ").title()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print(len(service_columns), "service columns:", service_columns)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54787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68503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حفظ أسماء أعمدة الخدمات الجديدة في service_columns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pretty_name تعيد الاسم إلى شكل مقروء مثل Seat Comfort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54787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68503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القائمة تُستخدم في كل التحليل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الرسوم تحتاج عناوين مفهومة وليس snake_case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16 من 43 · الجزء 1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قاموس التسميات الموحدة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563624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label_mappings =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"customer_type": {"Loyal Customer": "Loyal Customer", "disloyal Customer": "Disloyal Customer"},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"type_of_travel": {"Business travel": "Business Travel", "Personal Travel": "Personal Travel"},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"class": {"Business": "Business", "Eco": "Economy", "Eco Plus": "Economy Plus"},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"satisfaction": {"satisfied": "Satisfied", "neutral or dissatisfied": "Neutral or Dissatisfied"},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163824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300984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قاموس لكل عمود: القيمة القديمة ← القيمة الجديدة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مثال: disloyal Customer ← Disloyal Customer و Eco ← Economy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163824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300984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كل التعديلات في مكان واحد واضح وسهل المراجعة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16 من 43 · الجزء 2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دالة توحيد التسميات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2918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def standardise_labels(df, mappings):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"""Replace labels column by column; raise an error if any label was not covered by the mapping."""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df = df.copy()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for column, mapping in mappings.items():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unmapped = set(df[column].unique()) - set(mapping)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if unmapped: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raise ValueError(f"Unmapped labels in {column}: {unmapped}")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df[column] = df[column].map(mapping)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return df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 = standardise_labels(clean_df, label_mappings)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Test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column in ["gender", "customer_type", "type_of_travel", "class", "satisfaction"]: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print(f"{column}: {sorted(clean_df[column].unique())}")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892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0292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standardise_labels: لكل عمود تبحث عن قيم غير موجودة في القاموس، ولو وجدت ترفع خطأ، ثم تطبق map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الاختبار يطبع القيم الفريدة بعد التعديل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8920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029200"/>
            <a:ext cx="5010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map تحوّل أي قيمة غير معرّفة إلى NaN بصمت؛ هذا الفحص يمنع فقدان بيانات دون أن ننتبه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17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ملء التأخير الناقص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563624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missing_before = clean_df["arrival_delay"].isna().sum()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clean_df["arrival_delay"] = clean_df["arrival_delay"].fillna(clean_df["departure_delay"]).astype(int)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Test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print(f"Missing arrival delays: {missing_before} → {clean_df['arrival_delay'].isna().sum()}")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print("dtype:", clean_df["arrival_delay"].dtype)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163824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300984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ملء القيم الناقصة في arrival_delay بقيمة departure_delay لنفس الراكب، ثم التحويل إلى int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اختبار: عدد الناقص قبل وبعد، ونوع العمود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163824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300984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الارتباط 0.96، فتأخير الإقلاع أدق تقدير من المتوسط أو الوسيط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التأخير بالدقائق عدد صحيح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18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الصفر = لا ينطبق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755648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clean_df["not_applicable_count"] = (clean_df[service_columns] == 0).sum(axis=1)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clean_df[service_columns] = clean_df[service_columns].replace(0, np.nan)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Test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print("Minimum rating now:", clean_df[service_columns].min().min())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print("Maximum rating now:", clean_df[service_columns].max().max())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print("Passengers with at least one N/A answer:", (clean_df["not_applicable_count"] &gt; 0).sum())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355848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493008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عمود جديد not_applicable_count يعد إجابات «لا ينطبق» لكل راكب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replace(0, np.nan) في أعمدة الخدمات، ثم التأكد أن المدى أصبح من 1 إلى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355848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493008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قيم NaN تُتجاهل تلقائيًا في حساب المتوسط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ولم نفقد المعلومة لأننا عددناها أولًا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19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إضافة أعمدة جديدة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4290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def add_features(df):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"""Add segment and summary columns used in the analysis and the dashboard."""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df = df.copy()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df["age_group"] = pd.cut(df["age"], bins=[0, 17, 29, 44, 59, 120],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labels=["Child (&lt;18)", "Young Adult (18-29)", "Adult (30-44)",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      "Middle-Aged (45-59)", "Senior (60+)"])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df["distance_group"] = pd.cut(df["flight_distance"], bins=[0, 800, 2000, np.inf],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   labels=["Short-haul (&lt;800 mi)", "Medium-haul (800-2000 mi)",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           "Long-haul (&gt;2000 mi)"])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df["delay_group"] = pd.cut(df["arrival_delay"], bins=[-1, 0, 15, 60, np.inf],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labels=["On time", "1-15 min", "16-60 min", "&gt; 60 min"])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df["average_service_rating"] = df[service_columns].mean(axis=1).round(2)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df["is_satisfied"] = (df["satisfaction"] == "Satisfied").astype(int)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return df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clean_df = add_features(clean_df)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8FD69B"/>
                </a:solidFill>
                <a:latin typeface="Courier New"/>
                <a:cs typeface="Courier New"/>
              </a:rPr>
              <a:t># Test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clean_df[["age", "age_group", "flight_distance", "distance_group",</a:t>
            </a:r>
          </a:p>
          <a:p>
            <a:pPr algn="l">
              <a:spcAft>
                <a:spcPts val="0"/>
              </a:spcAft>
            </a:pPr>
            <a:r>
              <a:rPr sz="1019" b="0" i="0">
                <a:solidFill>
                  <a:srgbClr val="E6EDF7"/>
                </a:solidFill>
                <a:latin typeface="Courier New"/>
                <a:cs typeface="Courier New"/>
              </a:rPr>
              <a:t>          "arrival_delay", "delay_group", "average_service_rating", "is_satisfied"]].head()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5029200"/>
            <a:ext cx="5486400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166360"/>
            <a:ext cx="50292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pd.cut لتقسيم العمر إلى 5 فئات، والمسافة إلى 3، والتأخير إلى 4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متوسط تقييم الخدمات لكل راكب، و is_satisfied = 1 أو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5029200"/>
            <a:ext cx="5468112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166360"/>
            <a:ext cx="501091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الفئات تسهّل مقارنة الشرائح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مع is_satisfied تصبح نسبة الرضا = المتوسط mean مباشرة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20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تحويل النصوص إلى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2918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category_orders =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"gender": ["Female", "Male"],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"customer_type": ["Loyal Customer", "Disloyal Customer"],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"type_of_travel": ["Business Travel", "Personal Travel"],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"class": ["Economy", "Economy Plus", "Business"],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"satisfaction": ["Neutral or Dissatisfied", "Satisfied"],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memory_before = clean_df.memory_usage(deep=True).sum() / 1024 ** 2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column, order in category_orders.items():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clean_df[column] = pd.Categorical(clean_df[column], categories=order, ordered=(column == "class"))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memory_after = clean_df.memory_usage(deep=True).sum() / 1024 ** 2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Test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print(clean_df[list(category_orders)].dtypes)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print(f"Memory: {memory_before:.2f} MB → {memory_after:.2f} MB")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892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0292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تحويل الأعمدة النصية إلى Categorical بترتيب محدد، والدرجة مرتبة: Economy ثم Economy Plus ثم Business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قياس الذاكرة قبل وبعد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8920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029200"/>
            <a:ext cx="5010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الترتيب يظهر صحيحًا في الجداول والرسوم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الذاكرة انخفضت من 6.9 إلى 4.6 ميجابايت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21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الفحص النهائي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print(f"Shape: {clean_df.shape}")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quality_report(clean_df)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146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65176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طباعة الأبعاد وتشغيل quality_report مرة أخرى على البيانات النظيفة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1460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65176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التأكد أن الناقص الوحيد هو NaN المقصودة (لا ينطبق)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النتيجة 25,976 صفًا و 30 عمودًا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تنظيف البيانات · الخلية 22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حفظ البيانات النظيفة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98755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Save the cleaned data — it is used by the Streamlit dashboard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clean_df.to_csv(CLEAN_DATA_PATH, index=False)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print(f"Cleaned data saved to {CLEAN_DATA_PATH}")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58775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72491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حفظ clean_df في Data_Cleaned.csv بدون عمود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58775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72491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لوحة Streamlit تقرأ هذا الملف، فيبقى التنظيف منفصلًا عن العرض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09904" y="1371600"/>
            <a:ext cx="4023360" cy="40233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09904" y="260604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0" b="1" i="0">
                <a:solidFill>
                  <a:srgbClr val="2A78D6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215" y="2377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قسم من النوتبوك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9215" y="283464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cs typeface="Arial"/>
              </a:rPr>
              <a:t>التحليل أحادي المتغير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9215" y="39319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900" b="0" i="0">
                <a:solidFill>
                  <a:srgbClr val="B8C7DB"/>
                </a:solidFill>
                <a:latin typeface="Arial"/>
                <a:cs typeface="Arial"/>
              </a:rPr>
              <a:t>دراسة كل متغير وحده: الرضا، الشرائح، العمر، المسافة، التأخير، الخدمات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أحادي المتغير · الخلية 23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الرضا العام برسم Pie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33172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satisfaction_counts = clean_df["satisfaction"].value_counts()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satisfaction_share = clean_df["satisfaction"].value_counts(normalize=True) * 100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display(pd.DataFrame({"passengers": satisfaction_counts, "share_%": satisfaction_share.round(1)}))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 = plt.subplots(figsize=(6, 6))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ax.pie(satisfaction_counts, labels=satisfaction_counts.index, autopct="%1.1f%%", startangle=90,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colors=[SATISFACTION_PALETTE[label] for label in satisfaction_counts.index],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wedgeprops={"edgecolor": "white", "linewidth": 2}, textprops={"fontsize": 11})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ax.set_title("Overall passenger satisfaction")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9319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06908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جدول بعدد ونسبة كل فئة رضا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رسم pie بالألوان الثابتة من القاموس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93192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06908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يجيب السؤال الأول: 43.9% فقط راضون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الـ pie مناسب لأن عندنا فئتين فقط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أحادي المتغير · الخلية 24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شرائح الركاب برسم 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4290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def plot_category_counts(df, column, ax):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"""Bar chart of a categorical column with the percentage written on each bar."""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counts = df[column].value_counts().reindex(df[column].cat.categories)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bars = ax.bar(counts.index.astype(str), counts.values,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              color=CATEGORY_COLORS[:len(counts)], edgecolor="white", linewidth=2)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for bar, value in zip(bars, counts.values):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    ax.annotate(f"{value:,}\n({value / len(df):.1%})", (bar.get_x() + bar.get_width() / 2, value),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ha="center", va="bottom", fontsize=9)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ax.set_title(pretty_name(column))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ax.set_ylabel("Passengers")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ax.set_ylim(0, counts.max() * 1.2)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profile_columns = ["gender", "customer_type", "type_of_travel", "class"]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plt.subplots(2, 2, figsize=(13, 9))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for column, ax in zip(profile_columns, axes.flat):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    plot_category_counts(clean_df, column, ax)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fig.suptitle("Who are the passengers?", fontsize=15, fontweight="bold")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5029200"/>
            <a:ext cx="5486400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166360"/>
            <a:ext cx="50292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plot_category_counts ترسم أعمدة لعمود فئوي ومكتوب على كل عمود العدد والنسبة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حلقة ترسمها لأربعة أعمدة في شبكة 2×2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5029200"/>
            <a:ext cx="5468112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166360"/>
            <a:ext cx="501091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واحدة بدل تكرار نفس الكود أربع مرات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الأرقام على الأعمدة تغني عن تخمين القيم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أحادي المتغير · الخلية 25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العمر والمسافة برسم Histogram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4290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def plot_numeric_distribution(df, column, ax, bins=40, color=SATISFIED_COLOR):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"""Histogram with KDE curve plus mean and median reference lines."""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sns.histplot(df[column], bins=bins, kde=True, color=color, edgecolor="white", ax=ax)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ax.axvline(df[column].mean(), color="#0b0b0b", linestyle="--", linewidth=1.5,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           label=f"Mean = {df[column].mean():,.0f}")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ax.axvline(df[column].median(), color="#52514e", linestyle=":", linewidth=2,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           label=f"Median = {df[column].median():,.0f}")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ax.set_title(f"Distribution of {pretty_name(column)}")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ax.set_xlabel(pretty_name(column))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ax.legend()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2, figsize=(15, 5))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plot_numeric_distribution(clean_df, "age", axes[0])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plot_numeric_distribution(clean_df, "flight_distance", axes[1], color=CATEGORY_COLORS[2])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clean_df[["age", "flight_distance"]].agg(["mean", "median", "std", "min", "max", "skew"]).round(2)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5029200"/>
            <a:ext cx="5486400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166360"/>
            <a:ext cx="50292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دالة plot_numeric_distribution: histogram مع منحنى KDE وخطين للمتوسط والوسيط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تطبيقها على العمر والمسافة، ثم جدول mean و median و std و skew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5029200"/>
            <a:ext cx="5468112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166360"/>
            <a:ext cx="501091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الفرق بين المتوسط والوسيط يكشف الالتواء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المسافة ملتوية لليمين: الوسيط 849 والمتوسط 1,194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أحادي المتغير · الخلية 26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التأخير بمقياس لوغاريتمي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139696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delay_columns = ["departure_delay", "arrival_delay"]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2, figsize=(15, 5))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ax, column, color in zip(axes, delay_columns, [CATEGORY_COLORS[1], CATEGORY_COLORS[6]]):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sns.histplot(clean_df[column], bins=60, color=color, edgecolor="white", ax=ax)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ax.set_yscale("log")   # log scale: most values are 0, a few are very large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ax.set_title(f"{pretty_name(column)} (log-scaled count)")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ax.set_xlabel("Minutes")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739896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877056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histogram لكل عمود تأخير مع محور y لوغاريتمي set_yscale("log")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739896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877056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أغلب القيم صفر وقليل منها كبير جدًا؛ بدون log لن يظهر إلا عمود واحد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أحادي المتغير · الخلية 27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نسبة الالتزام بالمواعيد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on_time_share = (clean_df[delay_columns] == 0).mean() * 100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print("Share of flights with 0 minutes of delay:")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print(on_time_share.round(1).to_string())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print("\nArrival delay groups (%):")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print((clean_df["delay_group"].value_counts(normalize=True).sort_index() * 100).round(1).to_string())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9718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10896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نسبة الرحلات بدون تأخير، وتوزيع فئات التأخير كنسب مئوية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97180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10896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56.3% من الرحلات تصل في موعدها، و 6.8% تتأخر أكثر من ساعة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أحادي المتغير · الخلية 28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متوسط تقييم الخدمات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2918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average_ratings = clean_df[service_columns].mean().sort_values()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fig, ax = plt.subplots(figsize=(10, 7))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bar_colors = [DISSATISFIED_COLOR if value &lt; average_ratings.mean() else SATISFIED_COLOR for value in average_ratings]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ax.barh([pretty_name(c) for c in average_ratings.index], average_ratings.values,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        color=bar_colors, edgecolor="white", linewidth=2)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for y, value in enumerate(average_ratings.values):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    ax.text(value + 0.03, y, f"{value:.2f}", va="center", fontsize=9)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ax.axvline(average_ratings.mean(), color="#52514e", linestyle="--", linewidth=1,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           label=f"Average of all services = {average_ratings.mean():.2f}")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ax.set_xlim(0, 5)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ax.set_xlabel("Average rating (1-5)")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ax.set_title("Average rating per service (orange = below the overall average)")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ax.legend(loc="lower right")</a:t>
            </a:r>
          </a:p>
          <a:p>
            <a:pPr algn="l">
              <a:spcAft>
                <a:spcPts val="0"/>
              </a:spcAft>
            </a:pPr>
            <a:r>
              <a:rPr sz="119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892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0292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متوسط كل خدمة مرتب في أعمدة أفقية، البرتقالي للخدمات تحت المتوسط العام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خط متقطع للمتوسط العام والقيمة مكتوبة على كل عمود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8920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029200"/>
            <a:ext cx="5010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يوضح أضعف الخدمات: الواي فاي 2.81 والحجز أونلاين 2.89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أحادي المتغير · الخلية 29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توزيع التقييمات برسم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523744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249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Share of each rating (1-5) per service — a heatmap of the full distributions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rating_distribution = (clean_df[service_columns]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.apply(lambda column: column.value_counts(normalize=True))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.T.mul(100).loc[average_ratings.index[::-1]])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rating_distribution.index = [pretty_name(c) for c in rating_distribution.index]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 = plt.subplots(figsize=(10, 7))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sns.heatmap(rating_distribution, annot=True, fmt=".0f", cmap="Blues", cbar_kws={"label": "% of passengers"}, ax=ax)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ax.set_xlabel("Rating")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ax.set_title("Distribution of ratings per service (%)")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123944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261104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لكل خدمة نسبة كل تقييم من 1 إلى 5 بـ apply و value_counts(normalize=True)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عرضها كخريطة حرارية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123944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261104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المتوسط وحده يخفي التوزيع؛ الخريطة توضح كم شخصًا أعطى 1 أو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09904" y="1371600"/>
            <a:ext cx="4023360" cy="40233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09904" y="260604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0" b="1" i="0">
                <a:solidFill>
                  <a:srgbClr val="2A78D6"/>
                </a:solidFill>
                <a:latin typeface="Arial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215" y="2377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قسم من النوتبوك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9215" y="283464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cs typeface="Arial"/>
              </a:rPr>
              <a:t>التحليل ثنائي ومتعدد المتغيرات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9215" y="39319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900" b="0" i="0">
                <a:solidFill>
                  <a:srgbClr val="B8C7DB"/>
                </a:solidFill>
                <a:latin typeface="Arial"/>
                <a:cs typeface="Arial"/>
              </a:rPr>
              <a:t>ربط المتغيرات بالرضا والإجابة على الأسئلة مع اختبارات إحصائية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30 من 43 · الجزء 1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دوال الاختبارات الإحصائية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099816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def chi_square_test(df, column, target="satisfaction"):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"""Chi-square test of independence + Cramér's V effect size between a categorical column and the target."""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table = pd.crosstab(df[column], df[target])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chi2, p_value, _, _ = stats.chi2_contingency(table)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cramers_v = np.sqrt(chi2 / (table.values.sum() * (min(table.shape) - 1)))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return {"variable": column, "chi2": round(chi2, 1), "p_value": p_value, "cramers_v": round(cramers_v, 3)}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def mann_whitney_test(df, column, target="satisfaction"):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"""Mann-Whitney U test comparing a numeric column between satisfied and dissatisfied passengers."""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satisfied = df.loc[df[target] == "Satisfied", column].dropna()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dissatisfied = df.loc[df[target] == "Neutral or Dissatisfied", column].dropna()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u_stat, p_value = stats.mannwhitneyu(satisfied, dissatisfied)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return {"variable": column, "median_satisfied": satisfied.median(),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"median_dissatisfied": dissatisfied.median(), "p_value": p_value}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700016"/>
            <a:ext cx="5486400" cy="1563623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837176"/>
            <a:ext cx="5029200" cy="1335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chi_square_test: جدول تقاطعي ثم chi2_contingency، وحساب Cramér's V لقوة العلاقة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mann_whitney_test: يقارن عمودًا رقميًا بين الراضين وغير الراضين ويرجع الوسيطين و p-value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700016"/>
            <a:ext cx="5468112" cy="1563623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837176"/>
            <a:ext cx="5010912" cy="1335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كل استنتاج يحتاج دليلًا إحصائيًا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Mann-Whitney لأن البيانات ملتوية وليست طبيعية، و V لأن p وحدها لا تقيس قوة العلاقة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30 من 43 · الجزء 2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دوال نسبة الرضا والرسم المكدس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4290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154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def satisfaction_rate(df, columns):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"""Satisfaction rate (%) and passenger count for every group of the given column(s)."""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return (df.groupby(columns, observed=True)["is_satisfied"]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          .agg(satisfaction_rate="mean", passengers="count")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          .assign(satisfaction_rate=lambda t: (t["satisfaction_rate"] * 100).round(1)))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def plot_satisfaction_split(df, column, ax):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"""100 % stacked bar: share of satisfied vs dissatisfied passengers in each group of a column."""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shares = pd.crosstab(df[column], df["satisfaction"], normalize="index") * 100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shares = shares[["Satisfied", "Neutral or Dissatisfied"]]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shares.plot(kind="bar", stacked=True, ax=ax, width=0.7, edgecolor="white", linewidth=2,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            color=[SATISFIED_COLOR, DISSATISFIED_COLOR], legend=False)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for container in ax.containers: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    ax.bar_label(container, fmt="%.0f%%", label_type="center", color="white", fontsize=9, fontweight="bold")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ax.set_title(f"Satisfaction by {pretty_name(column)}")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ax.set_xlabel("")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ax.set_ylabel("% of passengers")</a:t>
            </a:r>
          </a:p>
          <a:p>
            <a:pPr algn="l">
              <a:spcAft>
                <a:spcPts val="0"/>
              </a:spcAft>
            </a:pPr>
            <a:r>
              <a:rPr sz="1130" b="0" i="0">
                <a:solidFill>
                  <a:srgbClr val="E6EDF7"/>
                </a:solidFill>
                <a:latin typeface="Courier New"/>
                <a:cs typeface="Courier New"/>
              </a:rPr>
              <a:t>    ax.tick_params(axis="x", rotation=0)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5029200"/>
            <a:ext cx="5486400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166360"/>
            <a:ext cx="502920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satisfaction_rate: groupby ثم متوسط is_satisfied × 100 مع عدد الركاب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plot_satisfaction_split: أعمدة مكدسة 100% والنسب مكتوبة داخلها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5029200"/>
            <a:ext cx="5468112" cy="1234439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166360"/>
            <a:ext cx="5010912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دوال تُستخدم في كل الأسئلة من الثاني إلى السادس بدل تكرار الكود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31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الرضا حسب الشرائح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139696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segment_columns = ["gender", "customer_type", "type_of_travel", "class"]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plt.subplots(2, 2, figsize=(14, 10))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column, ax in zip(segment_columns, axes.flat):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plot_satisfaction_split(clean_df, column, 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handles, labels = axes[0, 0].get_legend_handles_labels()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fig.legend(handles, labels, loc="upper center", ncol=2, bbox_to_anchor=(0.5, 1.02), frameon=False)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fig.suptitle("Satisfaction by passenger segment", fontsize=15, fontweight="bold", y=1.05)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739896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877056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حلقة ترسم plot_satisfaction_split للنوع والولاء ونوع السفر والدرجة، مع مفتاح ألوان مشترك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739896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877056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مقارنة مباشرة: البيزنس 70% مقابل الإيكونومي 19%، والنوع بلا فرق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32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جدول الاختبارات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179576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segment_tests = pd.DataFrame([chi_square_test(clean_df, column)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for column in segment_columns + ["age_group", "distance_group", "delay_group"]])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segment_tests["significant"] = segment_tests["p_value"] &lt; 0.05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segment_tests.sort_values("cramers_v", ascending=False)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779776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916936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تطبيق chi_square_test على 7 أعمدة في DataFrame واحد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عمود significant عندما p &lt; 0.05، ثم الترتيب حسب Cramér's 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779776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2916936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يرتب العوامل حسب قوتها: الدرجة 0.50، نوع السفر 0.45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النوع غير معنوي (p = 0.24)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33 من 43 · الجزء 1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العمر والرضا برسم Violin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563624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2, figsize=(16, 5))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sns.violinplot(data=clean_df, x="satisfaction", y="age", hue="satisfaction", palette=SATISFACTION_PALETTE,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inner="quartile", ax=axes[0], legend=False)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axes[0].set_title("Age distribution by satisfaction")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axes[0].set_xlabel("")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163824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300984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violin plot لتوزيع العمر لكل مجموعة رضا مع خطوط الربيعيات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163824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300984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يوضح شكل التوزيع كاملًا وليس المتوسط فقط: الراضون أكبر سنًا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33 من 43 · الجزء 2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نسبة الرضا عبر الأعمار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2918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age_rate = clean_df.groupby("age")["is_satisfied"].mean().mul(100)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axes[1].plot(age_rate.index, age_rate.values, color="#c3c2b7", linewidth=1, label="Per year of age")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axes[1].plot(age_rate.index, age_rate.rolling(5, center=True).mean(), color=SATISFIED_COLOR, linewidth=2.5,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label="5-year moving average")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axes[1].axhline(clean_df["is_satisfied"].mean() * 100, color="#52514e", linestyle="--", linewidth=1,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label="Overall satisfaction rate")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axes[1].set_title("Satisfaction rate by age")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axes[1].set_xlabel("Age")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axes[1].set_ylabel("Satisfied (%)")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axes[1].legend()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display(satisfaction_rate(clean_df, "age_group"))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mann_whitney_test(clean_df, "age")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892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0292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نسبة الرضا لكل سنة عمر مع متوسط متحرك 5 سنوات وخط للمتوسط العام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جدول الفئات العمرية واختبار Mann-Whitney للعمر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8920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029200"/>
            <a:ext cx="5010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المتوسط المتحرك يزيل التذبذب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الاختبار يؤكد الفرق: وسيط 43 مقابل 37 و p &lt; 0.001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34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مقارنة الخدمات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E6EDF7"/>
                </a:solidFill>
                <a:latin typeface="Courier New"/>
                <a:cs typeface="Courier New"/>
              </a:rPr>
              <a:t>service_means = clean_df.groupby("satisfaction", observed=True)[service_columns].mean().T</a:t>
            </a:r>
          </a:p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E6EDF7"/>
                </a:solidFill>
                <a:latin typeface="Courier New"/>
                <a:cs typeface="Courier New"/>
              </a:rPr>
              <a:t>service_means["gap"] = service_means["Satisfied"] - service_means["Neutral or Dissatisfied"]</a:t>
            </a:r>
          </a:p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E6EDF7"/>
                </a:solidFill>
                <a:latin typeface="Courier New"/>
                <a:cs typeface="Courier New"/>
              </a:rPr>
              <a:t>service_means["spearman_r"] = [clean_df[c].corr(clean_df["is_satisfied"], method="spearman") for c in service_columns]</a:t>
            </a:r>
          </a:p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E6EDF7"/>
                </a:solidFill>
                <a:latin typeface="Courier New"/>
                <a:cs typeface="Courier New"/>
              </a:rPr>
              <a:t>service_means = service_means.sort_values("gap")</a:t>
            </a:r>
          </a:p>
          <a:p>
            <a:pPr algn="l">
              <a:spcAft>
                <a:spcPts val="0"/>
              </a:spcAft>
            </a:pPr>
            <a:r>
              <a:rPr sz="1180" b="0" i="0">
                <a:solidFill>
                  <a:srgbClr val="E6EDF7"/>
                </a:solidFill>
                <a:latin typeface="Courier New"/>
                <a:cs typeface="Courier New"/>
              </a:rPr>
              <a:t>service_means.round(2)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29718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10896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متوسط كل خدمة لكل مجموعة رضا، وعمود gap للفرق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ارتباط Spearman بين كل خدمة و is_satisfied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297180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10896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Spearman مناسب للتقييمات الترتيبية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أكبر فجوة: الصعود أونلاين +1.44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35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رسم الفجوة Dumbbell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29184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fig, ax = plt.subplots(figsize=(11, 7))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y_positions = np.arange(len(service_means))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ax.hlines(y_positions, service_means["Neutral or Dissatisfied"], service_means["Satisfied"], color="#c3c2b7", linewidth=2)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ax.scatter(service_means["Neutral or Dissatisfied"], y_positions, color=DISSATISFIED_COLOR, s=90,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           label="Neutral or Dissatisfied", zorder=3, edgecolor="white", linewidth=2)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ax.scatter(service_means["Satisfied"], y_positions, color=SATISFIED_COLOR, s=90,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           label="Satisfied", zorder=3, edgecolor="white", linewidth=2)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for y, gap in zip(y_positions, service_means["gap"]):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    ax.text(4.45, y, f"gap {gap:+.2f}", va="center", fontsize=9, color="#52514e")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ax.set_yticks(y_positions, [pretty_name(c) for c in service_means.index])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ax.set_xlim(2, 4.8)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ax.set_xlabel("Average rating (1-5)")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ax.set_title("Rating gap between satisfied and dissatisfied passengers")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ax.legend(loc="lower left")</a:t>
            </a:r>
          </a:p>
          <a:p>
            <a:pPr algn="l">
              <a:spcAft>
                <a:spcPts val="0"/>
              </a:spcAft>
            </a:pPr>
            <a:r>
              <a:rPr sz="114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89204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502920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لكل خدمة نقطتان (برتقالي وأزرق) يربطهما خط، وقيمة الفجوة مكتوبة بجانبها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892040"/>
            <a:ext cx="5468112" cy="13716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5029200"/>
            <a:ext cx="50109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رسم الـ dumbbell يوضح حجم الفجوة أفضل من أعمدة متجاورة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36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أثر كل درجة تقييم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90779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63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Satisfaction rate for every rating level of the 4 services with the largest gap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top_services = service_means.index[::-1][:4]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 = plt.subplots(figsize=(10, 5))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color, column in zip(CATEGORY_COLORS, top_services):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rate_by_rating = clean_df.groupby(column)["is_satisfied"].mean() * 100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ax.plot(rate_by_rating.index, rate_by_rating.values, marker="o", markersize=8, linewidth=2,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color=color, label=pretty_name(column))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ax.set_xticks([1, 2, 3, 4, 5])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ax.set_xlabel("Rating given by the passenger")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ax.set_ylabel("Satisfied (%)")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ax.set_title("Satisfaction rate climbs sharply once a key service is rated 4 or 5")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ax.legend()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507992"/>
            <a:ext cx="5486400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645152"/>
            <a:ext cx="502920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لأهم 4 خدمات: نسبة الرضا عند كل تقييم من 1 إلى 5 كخطوط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507992"/>
            <a:ext cx="5468112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645152"/>
            <a:ext cx="5010912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يظهر القفزة عند تقييم 4 و 5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من قيّم الواي فاي بـ 5 راضٍ بنسبة 98.8%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37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مصفوفة الارتباط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331720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Correlation between all service ratings (and the satisfied flag)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correlation_matrix = clean_df[service_columns + ["is_satisfied"]].corr(method="spearman")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correlation_matrix.index = correlation_matrix.columns = [pretty_name(c) for c in correlation_matrix.columns]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mask = np.triu(np.ones_like(correlation_matrix, dtype=bool))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 = plt.subplots(figsize=(13, 10))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sns.heatmap(correlation_matrix, mask=mask, annot=True, fmt=".2f", cmap="RdBu_r", center=0, vmin=-1, vmax=1,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linewidths=0.5, cbar_kws={"label": "Spearman correlation"}, annot_kws={"size": 8}, ax=ax)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ax.set_title("Correlation between service ratings and satisfaction")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93192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069080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ارتباط Spearman بين كل الخدمات و is_satisfied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قناع np.triu لإخفاء النصف المكرر، وألوان RdBu متباعدة حول الصفر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931920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069080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يكشف الخدمات المرتبطة ببعضها، والخدمات الأقوى ارتباطًا بالرضا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38 من 43 · الجزء 1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الرضا حسب التأخير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715768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delay_rates = satisfaction_rate(clean_df, "delay_group")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display(delay_rates)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2, figsize=(16, 5))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axes[0].bar(delay_rates.index.astype(str), delay_rates["satisfaction_rate"],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color=SATISFIED_COLOR, edgecolor="white", linewidth=2)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x, value in enumerate(delay_rates["satisfaction_rate"]):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axes[0].text(x, value + 0.8, f"{value:.1f}%", ha="center", fontsize=10)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axes[0].set_ylim(0, 60)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axes[0].set_title("Satisfaction rate by arrival delay")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axes[0].set_xlabel("Arrival delay")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axes[0].set_ylabel("Satisfied (%)")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315968"/>
            <a:ext cx="5486400" cy="1947671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453128"/>
            <a:ext cx="5029200" cy="1719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نسبة الرضا لكل فئة تأخير وعرضها كأعمدة والقيم مكتوبة عليها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315968"/>
            <a:ext cx="5468112" cy="1947671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453128"/>
            <a:ext cx="5010912" cy="1719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يجيب السؤال الرابع: من 47.9% في الموعد إلى 35.2% بعد أكثر من ساعة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38 من 43 · الجزء 2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الإقلاع مقابل الوصول برسم Scatter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3099816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Scatter of departure vs arrival delay on a random sample, coloured by satisfaction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delay_sample = clean_df[clean_df["departure_delay"] &gt; 0].sample(4000, random_state=42)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sns.scatterplot(data=delay_sample, x="departure_delay", y="arrival_delay", hue="satisfaction",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palette=SATISFACTION_PALETTE, alpha=0.5, s=18, ax=axes[1])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axes[1].set_xscale("log")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axes[1].set_yscale("symlog")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axes[1].set_ylim(bottom=0)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axes[1].set_title("Departure vs arrival delay (delayed flights, sample of 4,000)")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axes[1].set_xlabel("Departure delay (min, log scale)")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axes[1].set_ylabel("Arrival delay (min, log scale)")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pd.DataFrame([mann_whitney_test(clean_df, column) for column in ["departure_delay", "arrival_delay"]])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700016"/>
            <a:ext cx="5486400" cy="1563623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837176"/>
            <a:ext cx="5029200" cy="1335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scatter لعينة 4,000 رحلة متأخرة بمقياس لوغاريتمي ملونة بالرضا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اختبار Mann-Whitney لعمودي التأخير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700016"/>
            <a:ext cx="5468112" cy="1563623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837176"/>
            <a:ext cx="5010912" cy="1335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العينة تمنع تكدّس النقاط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الفرق معنوي لكن ضعيف (V ≈ 0.10)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39 من 43 · الجزء 1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المسافة حسب الدرجة برسم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755648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2, figsize=(16, 5))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sns.boxplot(data=clean_df, x="class", y="flight_distance", hue="satisfaction", palette=SATISFACTION_PALETTE,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linewidth=1, fliersize=1, ax=axes[0])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axes[0].set_title("Flight distance by class and satisfaction")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axes[0].set_xlabel("")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axes[0].set_ylabel("Flight distance (miles)")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axes[0].legend(title="")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355848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493008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box plot لمسافة الرحلة لكل درجة، مقسمة حسب الرضا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355848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493008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يظهر أن رحلات البيزنس أطول بكثير من الإيكونومي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39 من 43 · الجزء 2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المسافة × الدرجة برسم Heatmap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90779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63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distance_class_rate = clean_df.pivot_table(index="distance_group", columns="class", values="is_satisfied",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            aggfunc="mean", observed=True) * 100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sns.heatmap(distance_class_rate, annot=True, fmt=".1f", cmap="Blues", vmin=0, vmax=100,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cbar_kws={"label": "Satisfied (%)"}, ax=axes[1])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axes[1].set_title("Satisfaction rate (%) by distance and class")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axes[1].set_xlabel("")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axes[1].set_ylabel("")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display(satisfaction_rate(clean_df, "distance_group"))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display(clean_df.groupby("class", observed=True)["flight_distance"].median().rename("median_distance"))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mann_whitney_test(clean_df, "flight_distance")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507992"/>
            <a:ext cx="5486400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645152"/>
            <a:ext cx="502920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pivot_table لنسبة الرضا لكل مزيج مسافة × درجة، معروضة كخريطة حرارية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جدول الوسيط لكل درجة واختبار المسافة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507992"/>
            <a:ext cx="5468112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645152"/>
            <a:ext cx="5010912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يكشف العامل الخفي: داخل الإيكونومي المسافة لا تؤثر تقريبًا (17–21%)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40 من 43 · الجزء 1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نوع السفر × الدرجة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715768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441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travel_class_rate = clean_df.pivot_table(index="type_of_travel", columns="class", values="is_satisfied",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          aggfunc="mean", observed=True) * 100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travel_class_count = clean_df.pivot_table(index="type_of_travel", columns="class", values="id",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           aggfunc="count", observed=True)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heatmap_labels = travel_class_rate.round(1).astype(str) + "%\n(n=" + travel_class_count.map("{:,}".format) + ")"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2, figsize=(16, 5))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sns.heatmap(travel_class_rate, annot=heatmap_labels, fmt="", cmap="Blues", vmin=0, vmax=100,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cbar_kws={"label": "Satisfied (%)"}, ax=axes[0])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axes[0].set_title("Satisfaction rate by travel type and class")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axes[0].set_xlabel("")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axes[0].set_ylabel("")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315968"/>
            <a:ext cx="5486400" cy="1947671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453128"/>
            <a:ext cx="5029200" cy="1719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جدولا pivot: واحد للنسبة وآخر لعدد الركاب، ودمجهما كنص على كل خلية في الخريطة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315968"/>
            <a:ext cx="5468112" cy="1947671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453128"/>
            <a:ext cx="5010912" cy="1719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كتابة n على كل خلية تمنع الاستنتاج من مجموعات صغيرة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40 من 43 · الجزء 2 من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الولاء × نوع السفر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90779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63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loyalty_travel_rate = (clean_df.groupby(["customer_type", "type_of_travel"], observed=True)["is_satisfied"]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.mean().mul(100).unstack())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loyalty_travel_rate.plot(kind="bar", ax=axes[1], color=[CATEGORY_COLORS[0], CATEGORY_COLORS[1]],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edgecolor="white", linewidth=2, width=0.7)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container in axes[1].containers: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axes[1].bar_label(container, fmt="%.1f%%", fontsize=9)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axes[1].set_title("Satisfaction rate by loyalty and travel type")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axes[1].set_xlabel("")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axes[1].set_ylabel("Satisfied (%)")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axes[1].tick_params(axis="x", rotation=0)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axes[1].legend(title="Type of travel")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507992"/>
            <a:ext cx="5486400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645152"/>
            <a:ext cx="502920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groupby على عمودين ثم unstack لرسم أعمدة مجمعة والقيم مكتوبة عليها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507992"/>
            <a:ext cx="5468112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645152"/>
            <a:ext cx="5010912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يوضح أن الولاء لا يساعد المسافرين لأسباب شخصية: 10% فقط راضون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التحليل ثنائي ومتعدد المتغيرات · الخلية 41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نظرة متعددة المتغيرات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290779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2633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D69B"/>
                </a:solidFill>
                <a:latin typeface="Courier New"/>
                <a:cs typeface="Courier New"/>
              </a:rPr>
              <a:t># Multivariate view: average service rating vs age, split by class and satisfaction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axes = plt.subplots(1, 3, figsize=(18, 5), sharey=True)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multivariate_sample = clean_df.sample(6000, random_state=1)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ax, travel_class in zip(axes, category_orders["class"]):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subset = multivariate_sample[multivariate_sample["class"] == travel_class]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sns.scatterplot(data=subset, x="age", y="average_service_rating", hue="satisfaction",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palette=SATISFACTION_PALETTE, alpha=0.5, s=15, ax=ax, legend=(travel_class == "Business"))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ax.set_title(f"{travel_class} class")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ax.set_xlabel("Age")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axes[0].set_ylabel("Average service rating")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plt.suptitle("Average service rating vs age, by class and satisfaction (sample of 6,000)", fontweight="bold")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plt.tight_layout()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4507992"/>
            <a:ext cx="5486400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4645152"/>
            <a:ext cx="5029200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عينة 6,000 راكب وثلاثة رسوم scatter (رسم لكل درجة): العمر مقابل متوسط التقييم، ملونة بالرضا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4507992"/>
            <a:ext cx="5468112" cy="1755648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4645152"/>
            <a:ext cx="5010912" cy="1527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أربعة متغيرات في رسم واحد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في كل درجة، الراضون أعلى في متوسط التقييم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609904" y="1371600"/>
            <a:ext cx="4023360" cy="4023360"/>
          </a:xfrm>
          <a:prstGeom prst="ellipse">
            <a:avLst/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609904" y="260604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600" b="1" i="0">
                <a:solidFill>
                  <a:srgbClr val="2A78D6"/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9215" y="237744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قسم من النوتبوك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9215" y="2834640"/>
            <a:ext cx="7680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  <a:cs typeface="Arial"/>
              </a:rPr>
              <a:t>الخلاصة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9215" y="393192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900" b="0" i="0">
                <a:solidFill>
                  <a:srgbClr val="B8C7DB"/>
                </a:solidFill>
                <a:latin typeface="Arial"/>
                <a:cs typeface="Arial"/>
              </a:rPr>
              <a:t>تلخيص قوة كل عامل في جدول ورسم ختامي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الخلاصة · الخلية 42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جدول العوامل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94767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67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key_insights = pd.DataFrame({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"Factor": ["Class", "Type of travel", "Age group", "Customer type", "Arrival delay", "Gender"],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"Strength (Cramér's V)": [chi_square_test(clean_df, c)["cramers_v"] for c in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["class", "type_of_travel", "age_group", "customer_type", "delay_group", "gender"]],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})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key_insights["Effect"] = pd.cut(key_insights["Strength (Cramér's V)"], bins=[0, 0.1, 0.3, 0.5, 1],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                            labels=["Negligible", "Weak", "Moderate", "Strong"], right=False)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key_insights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54787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68503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DataFrame بالعوامل وقيمة Cramér's V لكل منها بإعادة استخدام chi_square_test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تصنيف القوة بـ pd.cut: ضئيل، ضعيف، متوسط، قوي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54787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68503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ملخص رقمي واحد لكل النتائج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8815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Arial"/>
                <a:cs typeface="Arial"/>
              </a:rPr>
              <a:t>الخلاصة · الخلية 43 من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8815" y="621792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000" b="1" i="0">
                <a:solidFill>
                  <a:srgbClr val="0B1F3A"/>
                </a:solidFill>
                <a:latin typeface="Arial"/>
                <a:cs typeface="Arial"/>
              </a:rPr>
              <a:t>ما الذي يؤثر أكثر؟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7855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شرح كود مشروع رضا ركاب الطيران — خلية بخلية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095" y="6400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B636E"/>
                </a:solidFill>
                <a:latin typeface="Arial"/>
                <a:cs typeface="Arial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" y="1371600"/>
            <a:ext cx="11091672" cy="1947672"/>
          </a:xfrm>
          <a:prstGeom prst="roundRect">
            <a:avLst>
              <a:gd name="adj" fmla="val 8000"/>
            </a:avLst>
          </a:prstGeom>
          <a:solidFill>
            <a:srgbClr val="141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983" y="1536192"/>
            <a:ext cx="10634472" cy="167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fig, ax = plt.subplots(figsize=(9, 4.5))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ordered = key_insights.sort_values("Strength (Cramér's V)")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ax.barh(ordered["Factor"], ordered["Strength (Cramér's V)"], color=SATISFIED_COLOR, edgecolor="white", linewidth=2)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for y, value in enumerate(ordered["Strength (Cramér's V)"]):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    ax.text(value + 0.005, y, f"{value:.2f}", va="center", fontsize=10)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ax.set_xlabel("Cramér's V (strength of association with satisfaction)")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ax.set_title("What drives satisfaction the most?")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6EDF7"/>
                </a:solidFill>
                <a:latin typeface="Courier New"/>
                <a:cs typeface="Courier New"/>
              </a:rP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6655" y="3547872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3685032"/>
            <a:ext cx="502920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2A78D6"/>
                </a:solidFill>
                <a:latin typeface="Arial"/>
                <a:cs typeface="Arial"/>
              </a:rPr>
              <a:t>ماذا يفعل الكود؟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أعمدة أفقية مرتبة لقوة كل عامل مع القيمة مكتوبة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1383" y="3547872"/>
            <a:ext cx="5468112" cy="210312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" y="3685032"/>
            <a:ext cx="5010912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600" b="1" i="0">
                <a:solidFill>
                  <a:srgbClr val="EB6834"/>
                </a:solidFill>
                <a:latin typeface="Arial"/>
                <a:cs typeface="Arial"/>
              </a:rPr>
              <a:t>لماذا؟</a:t>
            </a:r>
          </a:p>
          <a:p>
            <a:pPr algn="r" rtl="1">
              <a:spcAft>
                <a:spcPts val="400"/>
              </a:spcAft>
            </a:pPr>
            <a:r>
              <a:rPr sz="1400" b="0" i="0">
                <a:solidFill>
                  <a:srgbClr val="1B1F24"/>
                </a:solidFill>
                <a:latin typeface="Arial"/>
                <a:cs typeface="Arial"/>
              </a:rPr>
              <a:t>•  رسم ختامي يجيب على السؤال الأهم في نظرة واحدة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255" y="9144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700" b="1" i="0">
                <a:solidFill>
                  <a:srgbClr val="B8C7DB"/>
                </a:solidFill>
                <a:latin typeface="Arial"/>
                <a:cs typeface="Arial"/>
              </a:rPr>
              <a:t>الملخص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255" y="13716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cs typeface="Arial"/>
              </a:rPr>
              <a:t>كود منظم، موثق، وقابل لإعادة التشغيل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76895" y="27432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51215" y="30175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cs typeface="Arial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51215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i="0">
                <a:solidFill>
                  <a:srgbClr val="B8C7DB"/>
                </a:solidFill>
                <a:latin typeface="Arial"/>
                <a:cs typeface="Arial"/>
              </a:rPr>
              <a:t>خلية كود تعمل بدون أخطاء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295" y="27432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3615" y="30175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cs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3615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i="0">
                <a:solidFill>
                  <a:srgbClr val="B8C7DB"/>
                </a:solidFill>
                <a:latin typeface="Arial"/>
                <a:cs typeface="Arial"/>
              </a:rPr>
              <a:t>دالة لتجنب تكرار الكود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695" y="274320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15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6015" y="301752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015" y="3931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i="0">
                <a:solidFill>
                  <a:srgbClr val="B8C7DB"/>
                </a:solidFill>
                <a:latin typeface="Arial"/>
                <a:cs typeface="Arial"/>
              </a:rPr>
              <a:t>أنواع رسوم مختلفة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" y="53035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Arial"/>
                <a:cs typeface="Arial"/>
              </a:rPr>
              <a:t>شكرًا لحسن الاستماع — الكود والبيانات على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